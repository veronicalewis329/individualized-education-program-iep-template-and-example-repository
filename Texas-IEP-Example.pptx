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858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858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858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858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858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8300" y="9613900"/>
            <a:ext cx="1626870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329476" y="9613900"/>
            <a:ext cx="1111884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858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7962" y="1398587"/>
          <a:ext cx="7334250" cy="466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1754"/>
                <a:gridCol w="314325"/>
                <a:gridCol w="942975"/>
                <a:gridCol w="361950"/>
                <a:gridCol w="771525"/>
                <a:gridCol w="417195"/>
                <a:gridCol w="644525"/>
              </a:tblGrid>
              <a:tr h="22860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15">
                          <a:latin typeface="Arial MT"/>
                          <a:cs typeface="Arial MT"/>
                        </a:rPr>
                        <a:t>Student: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Bruce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Banner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20">
                          <a:latin typeface="Arial MT"/>
                          <a:cs typeface="Arial MT"/>
                        </a:rPr>
                        <a:t>Sex: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Male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DOB: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5/20/15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573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15">
                          <a:latin typeface="Arial MT"/>
                          <a:cs typeface="Arial MT"/>
                        </a:rPr>
                        <a:t>Age: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6.11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Attending School:</a:t>
                      </a:r>
                      <a:r>
                        <a:rPr dirty="0" sz="9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Central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Elementary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School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5">
                          <a:latin typeface="Arial MT"/>
                          <a:cs typeface="Arial MT"/>
                        </a:rPr>
                        <a:t>Grade: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4769"/>
                </a:tc>
                <a:tc>
                  <a:txBody>
                    <a:bodyPr/>
                    <a:lstStyle/>
                    <a:p>
                      <a:pPr algn="ctr" marR="361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K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4769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6908800" y="1851025"/>
            <a:ext cx="581025" cy="9525"/>
          </a:xfrm>
          <a:custGeom>
            <a:avLst/>
            <a:gdLst/>
            <a:ahLst/>
            <a:cxnLst/>
            <a:rect l="l" t="t" r="r" b="b"/>
            <a:pathLst>
              <a:path w="581025" h="9525">
                <a:moveTo>
                  <a:pt x="581025" y="0"/>
                </a:moveTo>
                <a:lnTo>
                  <a:pt x="0" y="0"/>
                </a:lnTo>
                <a:lnTo>
                  <a:pt x="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8525" y="2079625"/>
            <a:ext cx="1724025" cy="9525"/>
          </a:xfrm>
          <a:custGeom>
            <a:avLst/>
            <a:gdLst/>
            <a:ahLst/>
            <a:cxnLst/>
            <a:rect l="l" t="t" r="r" b="b"/>
            <a:pathLst>
              <a:path w="1724025" h="9525">
                <a:moveTo>
                  <a:pt x="1724025" y="0"/>
                </a:moveTo>
                <a:lnTo>
                  <a:pt x="0" y="0"/>
                </a:lnTo>
                <a:lnTo>
                  <a:pt x="0" y="9525"/>
                </a:lnTo>
                <a:lnTo>
                  <a:pt x="1724025" y="9525"/>
                </a:lnTo>
                <a:lnTo>
                  <a:pt x="17240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17875" y="2079625"/>
            <a:ext cx="1752600" cy="9525"/>
          </a:xfrm>
          <a:custGeom>
            <a:avLst/>
            <a:gdLst/>
            <a:ahLst/>
            <a:cxnLst/>
            <a:rect l="l" t="t" r="r" b="b"/>
            <a:pathLst>
              <a:path w="1752600" h="9525">
                <a:moveTo>
                  <a:pt x="1752600" y="0"/>
                </a:moveTo>
                <a:lnTo>
                  <a:pt x="0" y="0"/>
                </a:lnTo>
                <a:lnTo>
                  <a:pt x="0" y="9525"/>
                </a:lnTo>
                <a:lnTo>
                  <a:pt x="1752600" y="9525"/>
                </a:lnTo>
                <a:lnTo>
                  <a:pt x="1752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765800" y="2079625"/>
            <a:ext cx="1724025" cy="9525"/>
          </a:xfrm>
          <a:custGeom>
            <a:avLst/>
            <a:gdLst/>
            <a:ahLst/>
            <a:cxnLst/>
            <a:rect l="l" t="t" r="r" b="b"/>
            <a:pathLst>
              <a:path w="1724025" h="9525">
                <a:moveTo>
                  <a:pt x="1724025" y="0"/>
                </a:moveTo>
                <a:lnTo>
                  <a:pt x="0" y="0"/>
                </a:lnTo>
                <a:lnTo>
                  <a:pt x="0" y="9525"/>
                </a:lnTo>
                <a:lnTo>
                  <a:pt x="1724025" y="9525"/>
                </a:lnTo>
                <a:lnTo>
                  <a:pt x="17240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03275" y="2308225"/>
            <a:ext cx="4029075" cy="9525"/>
          </a:xfrm>
          <a:custGeom>
            <a:avLst/>
            <a:gdLst/>
            <a:ahLst/>
            <a:cxnLst/>
            <a:rect l="l" t="t" r="r" b="b"/>
            <a:pathLst>
              <a:path w="4029075" h="9525">
                <a:moveTo>
                  <a:pt x="4029075" y="0"/>
                </a:moveTo>
                <a:lnTo>
                  <a:pt x="0" y="0"/>
                </a:lnTo>
                <a:lnTo>
                  <a:pt x="0" y="9525"/>
                </a:lnTo>
                <a:lnTo>
                  <a:pt x="4029075" y="9525"/>
                </a:lnTo>
                <a:lnTo>
                  <a:pt x="40290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27200" y="2536825"/>
            <a:ext cx="5762625" cy="9525"/>
          </a:xfrm>
          <a:custGeom>
            <a:avLst/>
            <a:gdLst/>
            <a:ahLst/>
            <a:cxnLst/>
            <a:rect l="l" t="t" r="r" b="b"/>
            <a:pathLst>
              <a:path w="5762625" h="9525">
                <a:moveTo>
                  <a:pt x="5762625" y="0"/>
                </a:moveTo>
                <a:lnTo>
                  <a:pt x="0" y="0"/>
                </a:lnTo>
                <a:lnTo>
                  <a:pt x="0" y="9525"/>
                </a:lnTo>
                <a:lnTo>
                  <a:pt x="5762625" y="9525"/>
                </a:lnTo>
                <a:lnTo>
                  <a:pt x="57626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12850" y="2765425"/>
            <a:ext cx="4067175" cy="9525"/>
          </a:xfrm>
          <a:custGeom>
            <a:avLst/>
            <a:gdLst/>
            <a:ahLst/>
            <a:cxnLst/>
            <a:rect l="l" t="t" r="r" b="b"/>
            <a:pathLst>
              <a:path w="4067175" h="9525">
                <a:moveTo>
                  <a:pt x="4067175" y="0"/>
                </a:moveTo>
                <a:lnTo>
                  <a:pt x="0" y="0"/>
                </a:lnTo>
                <a:lnTo>
                  <a:pt x="0" y="9525"/>
                </a:lnTo>
                <a:lnTo>
                  <a:pt x="4067175" y="9525"/>
                </a:lnTo>
                <a:lnTo>
                  <a:pt x="4067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27700" y="2765425"/>
            <a:ext cx="1762125" cy="9525"/>
          </a:xfrm>
          <a:custGeom>
            <a:avLst/>
            <a:gdLst/>
            <a:ahLst/>
            <a:cxnLst/>
            <a:rect l="l" t="t" r="r" b="b"/>
            <a:pathLst>
              <a:path w="1762125" h="9525">
                <a:moveTo>
                  <a:pt x="1762125" y="0"/>
                </a:moveTo>
                <a:lnTo>
                  <a:pt x="0" y="0"/>
                </a:lnTo>
                <a:lnTo>
                  <a:pt x="0" y="9525"/>
                </a:lnTo>
                <a:lnTo>
                  <a:pt x="1762125" y="9525"/>
                </a:lnTo>
                <a:lnTo>
                  <a:pt x="17621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12850" y="2974975"/>
            <a:ext cx="6276975" cy="9525"/>
          </a:xfrm>
          <a:custGeom>
            <a:avLst/>
            <a:gdLst/>
            <a:ahLst/>
            <a:cxnLst/>
            <a:rect l="l" t="t" r="r" b="b"/>
            <a:pathLst>
              <a:path w="6276975" h="9525">
                <a:moveTo>
                  <a:pt x="6276975" y="0"/>
                </a:moveTo>
                <a:lnTo>
                  <a:pt x="0" y="0"/>
                </a:lnTo>
                <a:lnTo>
                  <a:pt x="0" y="9525"/>
                </a:lnTo>
                <a:lnTo>
                  <a:pt x="6276975" y="9525"/>
                </a:lnTo>
                <a:lnTo>
                  <a:pt x="62769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3200" y="1393824"/>
            <a:ext cx="7343775" cy="1647825"/>
          </a:xfrm>
          <a:custGeom>
            <a:avLst/>
            <a:gdLst/>
            <a:ahLst/>
            <a:cxnLst/>
            <a:rect l="l" t="t" r="r" b="b"/>
            <a:pathLst>
              <a:path w="7343775" h="1647825">
                <a:moveTo>
                  <a:pt x="7343775" y="0"/>
                </a:moveTo>
                <a:lnTo>
                  <a:pt x="7334250" y="0"/>
                </a:lnTo>
                <a:lnTo>
                  <a:pt x="7334250" y="1638300"/>
                </a:lnTo>
                <a:lnTo>
                  <a:pt x="9525" y="1638300"/>
                </a:lnTo>
                <a:lnTo>
                  <a:pt x="9525" y="0"/>
                </a:lnTo>
                <a:lnTo>
                  <a:pt x="0" y="0"/>
                </a:lnTo>
                <a:lnTo>
                  <a:pt x="0" y="1638300"/>
                </a:lnTo>
                <a:lnTo>
                  <a:pt x="0" y="1647825"/>
                </a:lnTo>
                <a:lnTo>
                  <a:pt x="9525" y="1647825"/>
                </a:lnTo>
                <a:lnTo>
                  <a:pt x="7334250" y="1647825"/>
                </a:lnTo>
                <a:lnTo>
                  <a:pt x="7343775" y="1647825"/>
                </a:lnTo>
                <a:lnTo>
                  <a:pt x="7343775" y="1638300"/>
                </a:lnTo>
                <a:lnTo>
                  <a:pt x="7343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84700" y="3632200"/>
            <a:ext cx="2962275" cy="9525"/>
          </a:xfrm>
          <a:custGeom>
            <a:avLst/>
            <a:gdLst/>
            <a:ahLst/>
            <a:cxnLst/>
            <a:rect l="l" t="t" r="r" b="b"/>
            <a:pathLst>
              <a:path w="2962275" h="9525">
                <a:moveTo>
                  <a:pt x="2962275" y="0"/>
                </a:moveTo>
                <a:lnTo>
                  <a:pt x="0" y="0"/>
                </a:lnTo>
                <a:lnTo>
                  <a:pt x="0" y="9525"/>
                </a:lnTo>
                <a:lnTo>
                  <a:pt x="2962275" y="9525"/>
                </a:lnTo>
                <a:lnTo>
                  <a:pt x="29622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46550" y="4498975"/>
            <a:ext cx="3400425" cy="9525"/>
          </a:xfrm>
          <a:custGeom>
            <a:avLst/>
            <a:gdLst/>
            <a:ahLst/>
            <a:cxnLst/>
            <a:rect l="l" t="t" r="r" b="b"/>
            <a:pathLst>
              <a:path w="3400425" h="9525">
                <a:moveTo>
                  <a:pt x="3400425" y="0"/>
                </a:moveTo>
                <a:lnTo>
                  <a:pt x="0" y="0"/>
                </a:lnTo>
                <a:lnTo>
                  <a:pt x="0" y="9525"/>
                </a:lnTo>
                <a:lnTo>
                  <a:pt x="3400425" y="9525"/>
                </a:lnTo>
                <a:lnTo>
                  <a:pt x="34004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03200" y="5556250"/>
          <a:ext cx="7348855" cy="1057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3500"/>
                <a:gridCol w="1095375"/>
                <a:gridCol w="1095375"/>
              </a:tblGrid>
              <a:tr h="161925">
                <a:tc rowSpan="2">
                  <a:txBody>
                    <a:bodyPr/>
                    <a:lstStyle/>
                    <a:p>
                      <a:pPr marL="1509395" marR="1494155" indent="371475">
                        <a:lnSpc>
                          <a:spcPct val="109400"/>
                        </a:lnSpc>
                        <a:spcBef>
                          <a:spcPts val="120"/>
                        </a:spcBef>
                      </a:pPr>
                      <a:r>
                        <a:rPr dirty="0" sz="800" spc="20" b="1">
                          <a:latin typeface="Arial"/>
                          <a:cs typeface="Arial"/>
                        </a:rPr>
                        <a:t>Written</a:t>
                      </a:r>
                      <a:r>
                        <a:rPr dirty="0" sz="800" spc="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0" b="1">
                          <a:latin typeface="Arial"/>
                          <a:cs typeface="Arial"/>
                        </a:rPr>
                        <a:t>Evaluation</a:t>
                      </a:r>
                      <a:r>
                        <a:rPr dirty="0" sz="800" spc="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0" b="1">
                          <a:latin typeface="Arial"/>
                          <a:cs typeface="Arial"/>
                        </a:rPr>
                        <a:t>Reports </a:t>
                      </a:r>
                      <a:r>
                        <a:rPr dirty="0" sz="800" spc="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0" b="1">
                          <a:latin typeface="Arial"/>
                          <a:cs typeface="Arial"/>
                        </a:rPr>
                        <a:t>Related Service/Other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0" b="1">
                          <a:latin typeface="Arial"/>
                          <a:cs typeface="Arial"/>
                        </a:rPr>
                        <a:t>Evaluation Reports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426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10" b="1">
                          <a:latin typeface="Arial"/>
                          <a:cs typeface="Arial"/>
                        </a:rPr>
                        <a:t>Date</a:t>
                      </a:r>
                      <a:r>
                        <a:rPr dirty="0" sz="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5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5" b="1">
                          <a:latin typeface="Arial"/>
                          <a:cs typeface="Arial"/>
                        </a:rPr>
                        <a:t>Evaluation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19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2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5" b="1">
                          <a:latin typeface="Arial"/>
                          <a:cs typeface="Arial"/>
                        </a:rPr>
                        <a:t>Initial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Re-Eval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-5">
                          <a:latin typeface="Arial MT"/>
                          <a:cs typeface="Arial MT"/>
                        </a:rPr>
                        <a:t>Initial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Full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Individual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Evaluation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10/29/20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10/29/23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Speech/Language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10/29/20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10/29/23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5">
                          <a:latin typeface="Arial MT"/>
                          <a:cs typeface="Arial MT"/>
                        </a:rPr>
                        <a:t>Psychological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Autism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10/29/23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Occupational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Therapy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10/29/23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190500" y="266700"/>
            <a:ext cx="1349375" cy="7359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950" spc="10">
                <a:latin typeface="Arial MT"/>
                <a:cs typeface="Arial MT"/>
              </a:rPr>
              <a:t>ARD</a:t>
            </a:r>
            <a:r>
              <a:rPr dirty="0" sz="950" spc="-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Type:</a:t>
            </a:r>
            <a:endParaRPr sz="9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  <a:tabLst>
                <a:tab pos="208915" algn="l"/>
                <a:tab pos="1323340" algn="l"/>
              </a:tabLst>
            </a:pPr>
            <a:r>
              <a:rPr dirty="0" u="sng" sz="9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50" spc="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Annual</a:t>
            </a:r>
            <a:r>
              <a:rPr dirty="0" u="sng" sz="950" spc="-2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950" spc="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ARD</a:t>
            </a:r>
            <a:r>
              <a:rPr dirty="0" u="sng" sz="950" spc="-2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950" spc="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IEP	</a:t>
            </a:r>
            <a:endParaRPr sz="9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dirty="0" sz="950" spc="5">
                <a:latin typeface="Arial MT"/>
                <a:cs typeface="Arial MT"/>
              </a:rPr>
              <a:t>Date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of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Meeting:</a:t>
            </a:r>
            <a:endParaRPr sz="9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  <a:tabLst>
                <a:tab pos="456565" algn="l"/>
                <a:tab pos="1323340" algn="l"/>
              </a:tabLst>
            </a:pPr>
            <a:r>
              <a:rPr dirty="0" u="sng" sz="9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50" spc="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5/15/22	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4337" y="284162"/>
            <a:ext cx="4410075" cy="7239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 marL="1576070" marR="1560195">
              <a:lnSpc>
                <a:spcPct val="118400"/>
              </a:lnSpc>
            </a:pPr>
            <a:r>
              <a:rPr dirty="0" sz="950" spc="10" b="1">
                <a:latin typeface="Arial"/>
                <a:cs typeface="Arial"/>
              </a:rPr>
              <a:t>Texas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School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District </a:t>
            </a:r>
            <a:r>
              <a:rPr dirty="0" sz="950" spc="-25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1111 N. Main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dirty="0" sz="950" spc="15" b="1">
                <a:latin typeface="Arial"/>
                <a:cs typeface="Arial"/>
              </a:rPr>
              <a:t>Springfield,</a:t>
            </a:r>
            <a:r>
              <a:rPr dirty="0" sz="95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TX</a:t>
            </a:r>
            <a:r>
              <a:rPr dirty="0" sz="95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65804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dirty="0" sz="950" spc="-15" b="1">
                <a:latin typeface="Arial"/>
                <a:cs typeface="Arial"/>
              </a:rPr>
              <a:t>417-555-5555</a:t>
            </a:r>
            <a:endParaRPr sz="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15100" y="266700"/>
            <a:ext cx="1044575" cy="3263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60325">
              <a:lnSpc>
                <a:spcPct val="100000"/>
              </a:lnSpc>
              <a:spcBef>
                <a:spcPts val="125"/>
              </a:spcBef>
            </a:pPr>
            <a:r>
              <a:rPr dirty="0" sz="950" spc="10">
                <a:latin typeface="Arial MT"/>
                <a:cs typeface="Arial MT"/>
              </a:rPr>
              <a:t>Date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Last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FIE: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288290" algn="l"/>
                <a:tab pos="1031240" algn="l"/>
              </a:tabLst>
            </a:pPr>
            <a:r>
              <a:rPr dirty="0" u="sng" sz="9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5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10/29/20	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7750" y="1076325"/>
            <a:ext cx="56673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latin typeface="Arial"/>
                <a:cs typeface="Arial"/>
              </a:rPr>
              <a:t>ADMISSION,</a:t>
            </a:r>
            <a:r>
              <a:rPr dirty="0" sz="1350" spc="-20" b="1">
                <a:latin typeface="Arial"/>
                <a:cs typeface="Arial"/>
              </a:rPr>
              <a:t> </a:t>
            </a:r>
            <a:r>
              <a:rPr dirty="0" sz="1350" b="1">
                <a:latin typeface="Arial"/>
                <a:cs typeface="Arial"/>
              </a:rPr>
              <a:t>REVIEW,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b="1">
                <a:latin typeface="Arial"/>
                <a:cs typeface="Arial"/>
              </a:rPr>
              <a:t>AND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b="1">
                <a:latin typeface="Arial"/>
                <a:cs typeface="Arial"/>
              </a:rPr>
              <a:t>DISMISSAL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b="1">
                <a:latin typeface="Arial"/>
                <a:cs typeface="Arial"/>
              </a:rPr>
              <a:t>(ARD)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b="1">
                <a:latin typeface="Arial"/>
                <a:cs typeface="Arial"/>
              </a:rPr>
              <a:t>COMMITTEE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b="1">
                <a:latin typeface="Arial"/>
                <a:cs typeface="Arial"/>
              </a:rPr>
              <a:t>MEETING</a:t>
            </a:r>
            <a:endParaRPr sz="13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7175" y="1905000"/>
            <a:ext cx="101346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">
                <a:latin typeface="Arial MT"/>
                <a:cs typeface="Arial MT"/>
              </a:rPr>
              <a:t>Student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ID: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-15">
                <a:latin typeface="Arial MT"/>
                <a:cs typeface="Arial MT"/>
              </a:rPr>
              <a:t>10051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19375" y="1905000"/>
            <a:ext cx="133794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>
                <a:latin typeface="Arial MT"/>
                <a:cs typeface="Arial MT"/>
              </a:rPr>
              <a:t>State/UID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#: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574611602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05400" y="1905000"/>
            <a:ext cx="66484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>
                <a:latin typeface="Arial MT"/>
                <a:cs typeface="Arial MT"/>
              </a:rPr>
              <a:t>Medicaid</a:t>
            </a:r>
            <a:r>
              <a:rPr dirty="0" sz="950" spc="-4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#: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7175" y="2053589"/>
            <a:ext cx="2444750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7900"/>
              </a:lnSpc>
              <a:spcBef>
                <a:spcPts val="95"/>
              </a:spcBef>
            </a:pPr>
            <a:r>
              <a:rPr dirty="0" sz="950" spc="20">
                <a:latin typeface="Arial MT"/>
                <a:cs typeface="Arial MT"/>
              </a:rPr>
              <a:t>Ethnicity:</a:t>
            </a:r>
            <a:r>
              <a:rPr dirty="0" sz="950" spc="3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Black or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African American 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Category(ies)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5">
                <a:latin typeface="Arial MT"/>
                <a:cs typeface="Arial MT"/>
              </a:rPr>
              <a:t> Disability:</a:t>
            </a:r>
            <a:r>
              <a:rPr dirty="0" sz="950" spc="3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Autism</a:t>
            </a:r>
            <a:r>
              <a:rPr dirty="0" sz="950" spc="15">
                <a:latin typeface="Arial MT"/>
                <a:cs typeface="Arial MT"/>
              </a:rPr>
              <a:t> (Primary)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7175" y="2590800"/>
            <a:ext cx="272034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Arial MT"/>
                <a:cs typeface="Arial MT"/>
              </a:rPr>
              <a:t>Parent/Guardian:</a:t>
            </a:r>
            <a:r>
              <a:rPr dirty="0" sz="950" spc="4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Jim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Janice Banner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(Parent)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14950" y="2590800"/>
            <a:ext cx="119443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">
                <a:latin typeface="Arial MT"/>
                <a:cs typeface="Arial MT"/>
              </a:rPr>
              <a:t>Phone: </a:t>
            </a:r>
            <a:r>
              <a:rPr dirty="0" sz="950" spc="-15">
                <a:latin typeface="Arial MT"/>
                <a:cs typeface="Arial MT"/>
              </a:rPr>
              <a:t>555-222-4569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5325" y="2800350"/>
            <a:ext cx="228092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5">
                <a:latin typeface="Arial MT"/>
                <a:cs typeface="Arial MT"/>
              </a:rPr>
              <a:t>Address:</a:t>
            </a:r>
            <a:r>
              <a:rPr dirty="0" sz="950" spc="4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235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2nd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Ave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,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 spc="-5">
                <a:latin typeface="Arial MT"/>
                <a:cs typeface="Arial MT"/>
              </a:rPr>
              <a:t>Central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TX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 spc="-5">
                <a:latin typeface="Arial MT"/>
                <a:cs typeface="Arial MT"/>
              </a:rPr>
              <a:t>44445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25" y="3146425"/>
            <a:ext cx="123825" cy="123825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381000" y="3133725"/>
            <a:ext cx="24765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30">
                <a:latin typeface="Arial MT"/>
                <a:cs typeface="Arial MT"/>
              </a:rPr>
              <a:t>Yes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7550" y="3146425"/>
            <a:ext cx="123825" cy="12382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885825" y="3133725"/>
            <a:ext cx="6576695" cy="49784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317500" marR="5080" indent="-304800">
              <a:lnSpc>
                <a:spcPct val="105300"/>
              </a:lnSpc>
              <a:spcBef>
                <a:spcPts val="65"/>
              </a:spcBef>
              <a:tabLst>
                <a:tab pos="316865" algn="l"/>
              </a:tabLst>
            </a:pPr>
            <a:r>
              <a:rPr dirty="0" sz="950" spc="-10">
                <a:latin typeface="Arial MT"/>
                <a:cs typeface="Arial MT"/>
              </a:rPr>
              <a:t>No	</a:t>
            </a:r>
            <a:r>
              <a:rPr dirty="0" sz="950" spc="10">
                <a:latin typeface="Arial MT"/>
                <a:cs typeface="Arial MT"/>
              </a:rPr>
              <a:t>An</a:t>
            </a:r>
            <a:r>
              <a:rPr dirty="0" sz="950" spc="5">
                <a:latin typeface="Arial MT"/>
                <a:cs typeface="Arial MT"/>
              </a:rPr>
              <a:t> interpreter</a:t>
            </a:r>
            <a:r>
              <a:rPr dirty="0" sz="950" spc="10">
                <a:latin typeface="Arial MT"/>
                <a:cs typeface="Arial MT"/>
              </a:rPr>
              <a:t> was </a:t>
            </a:r>
            <a:r>
              <a:rPr dirty="0" sz="950" spc="5">
                <a:latin typeface="Arial MT"/>
                <a:cs typeface="Arial MT"/>
              </a:rPr>
              <a:t>needed</a:t>
            </a:r>
            <a:r>
              <a:rPr dirty="0" sz="950" spc="10">
                <a:latin typeface="Arial MT"/>
                <a:cs typeface="Arial MT"/>
              </a:rPr>
              <a:t> and </a:t>
            </a:r>
            <a:r>
              <a:rPr dirty="0" sz="950" spc="5">
                <a:latin typeface="Arial MT"/>
                <a:cs typeface="Arial MT"/>
              </a:rPr>
              <a:t>used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 assist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10">
                <a:latin typeface="Arial MT"/>
                <a:cs typeface="Arial MT"/>
              </a:rPr>
              <a:t> conducting </a:t>
            </a:r>
            <a:r>
              <a:rPr dirty="0" sz="950" spc="5">
                <a:latin typeface="Arial MT"/>
                <a:cs typeface="Arial MT"/>
              </a:rPr>
              <a:t>the </a:t>
            </a:r>
            <a:r>
              <a:rPr dirty="0" sz="950" spc="10">
                <a:latin typeface="Arial MT"/>
                <a:cs typeface="Arial MT"/>
              </a:rPr>
              <a:t>meeting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for parents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with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deafness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or</a:t>
            </a:r>
            <a:r>
              <a:rPr dirty="0" sz="950" spc="10">
                <a:latin typeface="Arial MT"/>
                <a:cs typeface="Arial MT"/>
              </a:rPr>
              <a:t> whose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native 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language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is </a:t>
            </a:r>
            <a:r>
              <a:rPr dirty="0" sz="950" spc="10">
                <a:latin typeface="Arial MT"/>
                <a:cs typeface="Arial MT"/>
              </a:rPr>
              <a:t>other</a:t>
            </a:r>
            <a:r>
              <a:rPr dirty="0" sz="950" spc="5">
                <a:latin typeface="Arial MT"/>
                <a:cs typeface="Arial MT"/>
              </a:rPr>
              <a:t> than </a:t>
            </a:r>
            <a:r>
              <a:rPr dirty="0" sz="950" spc="10">
                <a:latin typeface="Arial MT"/>
                <a:cs typeface="Arial MT"/>
              </a:rPr>
              <a:t>English.</a:t>
            </a:r>
            <a:endParaRPr sz="950">
              <a:latin typeface="Arial MT"/>
              <a:cs typeface="Arial MT"/>
            </a:endParaRPr>
          </a:p>
          <a:p>
            <a:pPr marL="317500">
              <a:lnSpc>
                <a:spcPct val="100000"/>
              </a:lnSpc>
              <a:spcBef>
                <a:spcPts val="209"/>
              </a:spcBef>
            </a:pPr>
            <a:r>
              <a:rPr dirty="0" sz="950">
                <a:latin typeface="Arial MT"/>
                <a:cs typeface="Arial MT"/>
              </a:rPr>
              <a:t>If</a:t>
            </a:r>
            <a:r>
              <a:rPr dirty="0" sz="950" spc="5">
                <a:latin typeface="Arial MT"/>
                <a:cs typeface="Arial MT"/>
              </a:rPr>
              <a:t> Yes, </a:t>
            </a:r>
            <a:r>
              <a:rPr dirty="0" sz="950" spc="10">
                <a:latin typeface="Arial MT"/>
                <a:cs typeface="Arial MT"/>
              </a:rPr>
              <a:t>specify</a:t>
            </a:r>
            <a:r>
              <a:rPr dirty="0" sz="950" spc="5">
                <a:latin typeface="Arial MT"/>
                <a:cs typeface="Arial MT"/>
              </a:rPr>
              <a:t> the </a:t>
            </a:r>
            <a:r>
              <a:rPr dirty="0" sz="950" spc="10">
                <a:latin typeface="Arial MT"/>
                <a:cs typeface="Arial MT"/>
              </a:rPr>
              <a:t>language or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other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mode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 communication: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25" y="3746500"/>
            <a:ext cx="123825" cy="123825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81000" y="3733800"/>
            <a:ext cx="24765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30">
                <a:latin typeface="Arial MT"/>
                <a:cs typeface="Arial MT"/>
              </a:rPr>
              <a:t>Yes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7550" y="3746500"/>
            <a:ext cx="123825" cy="123825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885825" y="3733800"/>
            <a:ext cx="17208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35">
                <a:latin typeface="Arial MT"/>
                <a:cs typeface="Arial MT"/>
              </a:rPr>
              <a:t>No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700" y="3746500"/>
            <a:ext cx="123825" cy="123825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1323975" y="3733800"/>
            <a:ext cx="6072505" cy="32639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374650" marR="5080" indent="-361950">
              <a:lnSpc>
                <a:spcPct val="105300"/>
              </a:lnSpc>
              <a:spcBef>
                <a:spcPts val="65"/>
              </a:spcBef>
              <a:tabLst>
                <a:tab pos="374015" algn="l"/>
              </a:tabLst>
            </a:pPr>
            <a:r>
              <a:rPr dirty="0" sz="950" spc="20">
                <a:latin typeface="Arial MT"/>
                <a:cs typeface="Arial MT"/>
              </a:rPr>
              <a:t>N/A	</a:t>
            </a:r>
            <a:r>
              <a:rPr dirty="0" sz="950" spc="10">
                <a:latin typeface="Arial MT"/>
                <a:cs typeface="Arial MT"/>
              </a:rPr>
              <a:t>The </a:t>
            </a:r>
            <a:r>
              <a:rPr dirty="0" sz="950" spc="5">
                <a:latin typeface="Arial MT"/>
                <a:cs typeface="Arial MT"/>
              </a:rPr>
              <a:t>non-English speaking parent </a:t>
            </a:r>
            <a:r>
              <a:rPr dirty="0" sz="950" spc="10">
                <a:latin typeface="Arial MT"/>
                <a:cs typeface="Arial MT"/>
              </a:rPr>
              <a:t>has been </a:t>
            </a:r>
            <a:r>
              <a:rPr dirty="0" sz="950" spc="5">
                <a:latin typeface="Arial MT"/>
                <a:cs typeface="Arial MT"/>
              </a:rPr>
              <a:t>provided with </a:t>
            </a:r>
            <a:r>
              <a:rPr dirty="0" sz="950" spc="10">
                <a:latin typeface="Arial MT"/>
                <a:cs typeface="Arial MT"/>
              </a:rPr>
              <a:t>a </a:t>
            </a:r>
            <a:r>
              <a:rPr dirty="0" sz="950" spc="5">
                <a:latin typeface="Arial MT"/>
                <a:cs typeface="Arial MT"/>
              </a:rPr>
              <a:t>written or oral copy of the student's ARD/IEP 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translated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into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parent's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native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language.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25" y="4165600"/>
            <a:ext cx="123825" cy="123825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381000" y="4152900"/>
            <a:ext cx="24765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30">
                <a:latin typeface="Arial MT"/>
                <a:cs typeface="Arial MT"/>
              </a:rPr>
              <a:t>Yes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39" name="object 3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7550" y="4165600"/>
            <a:ext cx="123825" cy="123825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885825" y="4152900"/>
            <a:ext cx="17208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35">
                <a:latin typeface="Arial MT"/>
                <a:cs typeface="Arial MT"/>
              </a:rPr>
              <a:t>No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700" y="4165600"/>
            <a:ext cx="123825" cy="123825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323975" y="4130040"/>
            <a:ext cx="6061710" cy="36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4650" marR="5080" indent="-361950">
              <a:lnSpc>
                <a:spcPct val="118400"/>
              </a:lnSpc>
              <a:spcBef>
                <a:spcPts val="95"/>
              </a:spcBef>
              <a:tabLst>
                <a:tab pos="374015" algn="l"/>
              </a:tabLst>
            </a:pPr>
            <a:r>
              <a:rPr dirty="0" sz="950" spc="20">
                <a:latin typeface="Arial MT"/>
                <a:cs typeface="Arial MT"/>
              </a:rPr>
              <a:t>N/A	</a:t>
            </a:r>
            <a:r>
              <a:rPr dirty="0" sz="950" spc="5">
                <a:latin typeface="Arial MT"/>
                <a:cs typeface="Arial MT"/>
              </a:rPr>
              <a:t>Parent gave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permission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have</a:t>
            </a:r>
            <a:r>
              <a:rPr dirty="0" sz="950" spc="10">
                <a:latin typeface="Arial MT"/>
                <a:cs typeface="Arial MT"/>
              </a:rPr>
              <a:t> ARD</a:t>
            </a:r>
            <a:r>
              <a:rPr dirty="0" sz="950" spc="5">
                <a:latin typeface="Arial MT"/>
                <a:cs typeface="Arial MT"/>
              </a:rPr>
              <a:t> meeting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without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his/her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attendance.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(See attached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Notice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of</a:t>
            </a:r>
            <a:r>
              <a:rPr dirty="0" sz="950" spc="10">
                <a:latin typeface="Arial MT"/>
                <a:cs typeface="Arial MT"/>
              </a:rPr>
              <a:t> ARD) 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Permission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was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given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writing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or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by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phone: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1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207962" y="4618037"/>
            <a:ext cx="7334250" cy="219075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200" b="1">
                <a:latin typeface="Arial"/>
                <a:cs typeface="Arial"/>
              </a:rPr>
              <a:t>DETERMINATION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ELIGIBILITY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&amp;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NEED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SPECIAL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EDUCATION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RELATED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00025" y="4876800"/>
            <a:ext cx="35026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following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evaluation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reports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were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reviewed: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07962" y="5151437"/>
            <a:ext cx="7334250" cy="3524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35"/>
              </a:spcBef>
            </a:pPr>
            <a:r>
              <a:rPr dirty="0" sz="950" spc="10" b="1">
                <a:latin typeface="Arial"/>
                <a:cs typeface="Arial"/>
              </a:rPr>
              <a:t>Transfer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Student</a:t>
            </a:r>
            <a:endParaRPr sz="950">
              <a:latin typeface="Arial"/>
              <a:cs typeface="Arial"/>
            </a:endParaRPr>
          </a:p>
          <a:p>
            <a:pPr marL="299720" indent="-105410">
              <a:lnSpc>
                <a:spcPct val="100000"/>
              </a:lnSpc>
              <a:spcBef>
                <a:spcPts val="210"/>
              </a:spcBef>
              <a:buChar char="•"/>
              <a:tabLst>
                <a:tab pos="300355" algn="l"/>
              </a:tabLst>
            </a:pPr>
            <a:r>
              <a:rPr dirty="0" sz="950" spc="10">
                <a:latin typeface="Arial MT"/>
                <a:cs typeface="Arial MT"/>
              </a:rPr>
              <a:t>ARD/IEP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dated: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10/29/2020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09550" y="6661052"/>
            <a:ext cx="7195184" cy="169545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200" spc="-10" b="1">
                <a:latin typeface="Arial"/>
                <a:cs typeface="Arial"/>
              </a:rPr>
              <a:t>Eligibility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Determination: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5300"/>
              </a:lnSpc>
              <a:spcBef>
                <a:spcPts val="250"/>
              </a:spcBef>
            </a:pPr>
            <a:r>
              <a:rPr dirty="0" sz="950" spc="15" i="1">
                <a:latin typeface="Arial"/>
                <a:cs typeface="Arial"/>
              </a:rPr>
              <a:t>A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child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5" i="1">
                <a:latin typeface="Arial"/>
                <a:cs typeface="Arial"/>
              </a:rPr>
              <a:t>may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not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5" i="1">
                <a:latin typeface="Arial"/>
                <a:cs typeface="Arial"/>
              </a:rPr>
              <a:t>be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5" i="1">
                <a:latin typeface="Arial"/>
                <a:cs typeface="Arial"/>
              </a:rPr>
              <a:t>determined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eligible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5" i="1">
                <a:latin typeface="Arial"/>
                <a:cs typeface="Arial"/>
              </a:rPr>
              <a:t>if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the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5" i="1">
                <a:latin typeface="Arial"/>
                <a:cs typeface="Arial"/>
              </a:rPr>
              <a:t>determinant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factor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5" i="1">
                <a:latin typeface="Arial"/>
                <a:cs typeface="Arial"/>
              </a:rPr>
              <a:t>for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that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eligibility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5" i="1">
                <a:latin typeface="Arial"/>
                <a:cs typeface="Arial"/>
              </a:rPr>
              <a:t>determination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is: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lack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of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5" i="1">
                <a:latin typeface="Arial"/>
                <a:cs typeface="Arial"/>
              </a:rPr>
              <a:t>appropriate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instruction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in </a:t>
            </a:r>
            <a:r>
              <a:rPr dirty="0" sz="950" spc="-24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reading, including essential</a:t>
            </a:r>
            <a:r>
              <a:rPr dirty="0" sz="950" spc="1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components of reading</a:t>
            </a:r>
            <a:r>
              <a:rPr dirty="0" sz="950" spc="1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instruction, lack</a:t>
            </a:r>
            <a:r>
              <a:rPr dirty="0" sz="950" spc="1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of appropriate instruction</a:t>
            </a:r>
            <a:r>
              <a:rPr dirty="0" sz="950" spc="15" i="1">
                <a:latin typeface="Arial"/>
                <a:cs typeface="Arial"/>
              </a:rPr>
              <a:t> </a:t>
            </a:r>
            <a:r>
              <a:rPr dirty="0" sz="950" spc="5" i="1">
                <a:latin typeface="Arial"/>
                <a:cs typeface="Arial"/>
              </a:rPr>
              <a:t>in</a:t>
            </a:r>
            <a:r>
              <a:rPr dirty="0" sz="950" spc="10" i="1">
                <a:latin typeface="Arial"/>
                <a:cs typeface="Arial"/>
              </a:rPr>
              <a:t> math,</a:t>
            </a:r>
            <a:r>
              <a:rPr dirty="0" sz="950" spc="1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and/or limited English </a:t>
            </a:r>
            <a:r>
              <a:rPr dirty="0" sz="950" spc="1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proficiency.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950" spc="20" b="1">
                <a:latin typeface="Arial"/>
                <a:cs typeface="Arial"/>
              </a:rPr>
              <a:t>Based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on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review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of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data,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the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ARD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committee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has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determined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that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this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student:</a:t>
            </a:r>
            <a:endParaRPr sz="950">
              <a:latin typeface="Arial"/>
              <a:cs typeface="Arial"/>
            </a:endParaRPr>
          </a:p>
          <a:p>
            <a:pPr marL="298450" marR="299085" indent="-104775">
              <a:lnSpc>
                <a:spcPct val="105300"/>
              </a:lnSpc>
              <a:spcBef>
                <a:spcPts val="150"/>
              </a:spcBef>
              <a:buChar char="•"/>
              <a:tabLst>
                <a:tab pos="298450" algn="l"/>
              </a:tabLst>
            </a:pPr>
            <a:r>
              <a:rPr dirty="0" sz="950" spc="15">
                <a:latin typeface="Arial MT"/>
                <a:cs typeface="Arial MT"/>
              </a:rPr>
              <a:t>Meets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or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continues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meet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eligibility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criteria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for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category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disability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consistent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with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Part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B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IDEA.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Indicate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primary, </a:t>
            </a:r>
            <a:r>
              <a:rPr dirty="0" sz="950" spc="-24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secondary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tertiary,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other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appropriate</a:t>
            </a:r>
            <a:r>
              <a:rPr dirty="0" sz="950" spc="5">
                <a:latin typeface="Arial MT"/>
                <a:cs typeface="Arial MT"/>
              </a:rPr>
              <a:t> disabilities:</a:t>
            </a:r>
            <a:endParaRPr sz="950">
              <a:latin typeface="Arial MT"/>
              <a:cs typeface="Arial MT"/>
            </a:endParaRPr>
          </a:p>
          <a:p>
            <a:pPr marL="307975">
              <a:lnSpc>
                <a:spcPct val="100000"/>
              </a:lnSpc>
              <a:spcBef>
                <a:spcPts val="660"/>
              </a:spcBef>
            </a:pPr>
            <a:r>
              <a:rPr dirty="0" sz="950" spc="20" b="1">
                <a:latin typeface="Arial"/>
                <a:cs typeface="Arial"/>
              </a:rPr>
              <a:t>Primary: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spc="30">
                <a:latin typeface="Arial MT"/>
                <a:cs typeface="Arial MT"/>
              </a:rPr>
              <a:t>Autism</a:t>
            </a:r>
            <a:endParaRPr sz="950">
              <a:latin typeface="Arial MT"/>
              <a:cs typeface="Arial MT"/>
            </a:endParaRPr>
          </a:p>
          <a:p>
            <a:pPr marL="298450" indent="-104775">
              <a:lnSpc>
                <a:spcPct val="100000"/>
              </a:lnSpc>
              <a:spcBef>
                <a:spcPts val="284"/>
              </a:spcBef>
              <a:buChar char="•"/>
              <a:tabLst>
                <a:tab pos="298450" algn="l"/>
              </a:tabLst>
            </a:pPr>
            <a:r>
              <a:rPr dirty="0" sz="950" spc="10">
                <a:latin typeface="Arial MT"/>
                <a:cs typeface="Arial MT"/>
              </a:rPr>
              <a:t>Needs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or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continues</a:t>
            </a:r>
            <a:r>
              <a:rPr dirty="0" sz="950" spc="5">
                <a:latin typeface="Arial MT"/>
                <a:cs typeface="Arial MT"/>
              </a:rPr>
              <a:t> to</a:t>
            </a:r>
            <a:r>
              <a:rPr dirty="0" sz="950" spc="10">
                <a:latin typeface="Arial MT"/>
                <a:cs typeface="Arial MT"/>
              </a:rPr>
              <a:t> need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special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education and/or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related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services.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3200" y="2327275"/>
          <a:ext cx="7348855" cy="6624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67125"/>
                <a:gridCol w="3667125"/>
              </a:tblGrid>
              <a:tr h="1809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Strengths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 b="1">
                          <a:latin typeface="Arial"/>
                          <a:cs typeface="Arial"/>
                        </a:rPr>
                        <a:t>Needs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 gridSpan="2"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25" b="1">
                          <a:latin typeface="Arial"/>
                          <a:cs typeface="Arial"/>
                        </a:rPr>
                        <a:t>Academic</a:t>
                      </a:r>
                      <a:r>
                        <a:rPr dirty="0" sz="9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9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Skill</a:t>
                      </a:r>
                      <a:r>
                        <a:rPr dirty="0" sz="95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Area:</a:t>
                      </a:r>
                      <a:r>
                        <a:rPr dirty="0" sz="950" spc="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Fluency</a:t>
                      </a:r>
                      <a:r>
                        <a:rPr dirty="0" sz="9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Communication</a:t>
                      </a:r>
                      <a:r>
                        <a:rPr dirty="0" sz="9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Skills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00175">
                <a:tc>
                  <a:txBody>
                    <a:bodyPr/>
                    <a:lstStyle/>
                    <a:p>
                      <a:pPr marL="13970" marR="27940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Bruce is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able to follow the daily routine with a visual schedule with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prompting.</a:t>
                      </a:r>
                      <a:r>
                        <a:rPr dirty="0" sz="9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He</a:t>
                      </a:r>
                      <a:r>
                        <a:rPr dirty="0" sz="9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9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sit</a:t>
                      </a:r>
                      <a:r>
                        <a:rPr dirty="0" sz="9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9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5</a:t>
                      </a:r>
                      <a:r>
                        <a:rPr dirty="0" sz="9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minutes</a:t>
                      </a:r>
                      <a:r>
                        <a:rPr dirty="0" sz="9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when</a:t>
                      </a:r>
                      <a:r>
                        <a:rPr dirty="0" sz="9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9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activity</a:t>
                      </a:r>
                      <a:r>
                        <a:rPr dirty="0" sz="9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his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liking.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He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able to count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independently to 15 and to 20 with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minimal assistance. He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will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engage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in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eye contact, smiling, and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laughing.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He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vocalizes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6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of the shapes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on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the core board and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recites</a:t>
                      </a:r>
                      <a:r>
                        <a:rPr dirty="0" sz="9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his</a:t>
                      </a:r>
                      <a:r>
                        <a:rPr dirty="0" sz="9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ABC's</a:t>
                      </a:r>
                      <a:r>
                        <a:rPr dirty="0" sz="9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correctly.</a:t>
                      </a:r>
                      <a:r>
                        <a:rPr dirty="0" sz="9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Bruce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able</a:t>
                      </a:r>
                      <a:r>
                        <a:rPr dirty="0" sz="9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use</a:t>
                      </a:r>
                      <a:r>
                        <a:rPr dirty="0" sz="9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pictures</a:t>
                      </a:r>
                      <a:r>
                        <a:rPr dirty="0" sz="9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exchange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for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preferred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activities/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items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a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structured setting.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21945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Bruce squeals or yells to protest when he doesn't want to do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something or he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trying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 communicate a want or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need.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13970" marR="19050">
                        <a:lnSpc>
                          <a:spcPct val="105300"/>
                        </a:lnSpc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Bruce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reportedly has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difficulty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with non-routine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transitions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which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may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trigger protesting using high pitch screaming and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hitting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whoever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may be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in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area. Bruce would benefit from learning to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express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his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wants and needs using words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consistently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the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academic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setting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pictures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signs and participate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in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social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interaction.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He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would also benefit from increasing functional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use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of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25">
                          <a:latin typeface="Arial MT"/>
                          <a:cs typeface="Arial MT"/>
                        </a:rPr>
                        <a:t>objects.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 gridSpan="2"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25" b="1">
                          <a:latin typeface="Arial"/>
                          <a:cs typeface="Arial"/>
                        </a:rPr>
                        <a:t>Academic</a:t>
                      </a:r>
                      <a:r>
                        <a:rPr dirty="0" sz="9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9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Skill</a:t>
                      </a:r>
                      <a:r>
                        <a:rPr dirty="0" sz="9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Area:</a:t>
                      </a:r>
                      <a:r>
                        <a:rPr dirty="0" sz="95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Behavior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5775">
                <a:tc>
                  <a:txBody>
                    <a:bodyPr/>
                    <a:lstStyle/>
                    <a:p>
                      <a:pPr marL="13970" marR="74295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Bruce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able to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request his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wants and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needs using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gestures and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sometimes words.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Bruce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likes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be around his peers, however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does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exhibit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true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play scheme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peers.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454659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Bruce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needs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to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consistently express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his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needs and wants </a:t>
                      </a:r>
                      <a:r>
                        <a:rPr dirty="0" sz="950" spc="-2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appropriately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instead of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hitting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when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upset or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frustrated.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 gridSpan="2"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25" b="1">
                          <a:latin typeface="Arial"/>
                          <a:cs typeface="Arial"/>
                        </a:rPr>
                        <a:t>Academic</a:t>
                      </a:r>
                      <a:r>
                        <a:rPr dirty="0" sz="9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9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Skill</a:t>
                      </a:r>
                      <a:r>
                        <a:rPr dirty="0" sz="9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Area: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Math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95375">
                <a:tc>
                  <a:txBody>
                    <a:bodyPr/>
                    <a:lstStyle/>
                    <a:p>
                      <a:pPr marL="13970" marR="74295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Bruce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identifies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numbers 1-10 and rote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counts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20 with minimal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assistance. He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able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complete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AB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pattern.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He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able to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recognize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the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days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week as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well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as what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today,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yesterday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and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tomorrow with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minimal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assistance.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He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able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receptively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identify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a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circle,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heart,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triangle,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square,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hexagon, and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star as well as the colors pink, orange, blue, green, yellow, red,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black,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brown,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purple.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169545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Bruce needs visual aids to assist with counting larger numbers,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and patterns.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He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also needs prompting and redirection to stay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focused on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task.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He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also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needs to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identify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 diamond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shape.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 gridSpan="2"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25" b="1">
                          <a:latin typeface="Arial"/>
                          <a:cs typeface="Arial"/>
                        </a:rPr>
                        <a:t>Academic</a:t>
                      </a:r>
                      <a:r>
                        <a:rPr dirty="0" sz="95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95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Skill</a:t>
                      </a:r>
                      <a:r>
                        <a:rPr dirty="0" sz="95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Area: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Written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Language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42975">
                <a:tc>
                  <a:txBody>
                    <a:bodyPr/>
                    <a:lstStyle/>
                    <a:p>
                      <a:pPr marL="13970" marR="27305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Bruce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able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identify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all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26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letters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alphabet: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Bruce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does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exhibit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some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fine motor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skills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which include feeding himself and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cleaning up his area after snack.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He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able to trace his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name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vocalize the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letters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as he traces.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He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very close to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being able to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write the N, O, and L independently.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He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needs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some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assistance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with</a:t>
                      </a:r>
                      <a:r>
                        <a:rPr dirty="0" sz="9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9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E.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Bruce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needs assistance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writing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tasks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general.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 gridSpan="2"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25" b="1">
                          <a:latin typeface="Arial"/>
                          <a:cs typeface="Arial"/>
                        </a:rPr>
                        <a:t>Academic</a:t>
                      </a:r>
                      <a:r>
                        <a:rPr dirty="0" sz="9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95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Skill</a:t>
                      </a:r>
                      <a:r>
                        <a:rPr dirty="0" sz="95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Area:</a:t>
                      </a:r>
                      <a:r>
                        <a:rPr dirty="0" sz="950" spc="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Motor</a:t>
                      </a:r>
                      <a:r>
                        <a:rPr dirty="0" sz="9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Skills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42975">
                <a:tc>
                  <a:txBody>
                    <a:bodyPr/>
                    <a:lstStyle/>
                    <a:p>
                      <a:pPr marL="13970" marR="93980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11.5.20: Bruce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high energy and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exploratory, Bruce can imitate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vertical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line,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Bruce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can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put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together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simple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puzzles,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Bruce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can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count #1-10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(+), Bruce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able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match &amp;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label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3+ colors,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shapes,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letters,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numbers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93980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Bruce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doesn't always want to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listen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or read a story that everyone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else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reading.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For him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 transition to another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story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difficult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and sometimes causes him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become agitated.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Bruce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needs to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learn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 transition within the classroom and begin to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listen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to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stories read aloud so that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he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able to increase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comprehension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vocabulary.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 gridSpan="2"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25" b="1">
                          <a:latin typeface="Arial"/>
                          <a:cs typeface="Arial"/>
                        </a:rPr>
                        <a:t>Academic</a:t>
                      </a:r>
                      <a:r>
                        <a:rPr dirty="0" sz="9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9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Skill</a:t>
                      </a:r>
                      <a:r>
                        <a:rPr dirty="0" sz="9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Area:</a:t>
                      </a:r>
                      <a:r>
                        <a:rPr dirty="0" sz="950" spc="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Science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1010">
                <a:tc>
                  <a:txBody>
                    <a:bodyPr/>
                    <a:lstStyle/>
                    <a:p>
                      <a:pPr marL="13970" marR="123189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Bruce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is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able follow directions when the class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doing a project.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He needs extra assistance,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but is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able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participate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in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process.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He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enjoys investigating something new.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970" marR="313690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Bruce needs to learn to increase his attention to a project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for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more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than 5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minutes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so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that he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able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enjoy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the whole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experience.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07962" y="207962"/>
            <a:ext cx="7334250" cy="219075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200" b="1">
                <a:latin typeface="Arial"/>
                <a:cs typeface="Arial"/>
              </a:rPr>
              <a:t>PRESENT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LEVELS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ACADEMIC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ACHIEVEMENT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FUNCTIONAL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5" b="1">
                <a:latin typeface="Arial"/>
                <a:cs typeface="Arial"/>
              </a:rPr>
              <a:t>PERFORMANCE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025" y="476250"/>
            <a:ext cx="143383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Arial"/>
                <a:cs typeface="Arial"/>
              </a:rPr>
              <a:t>Sources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of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Information:</a:t>
            </a:r>
            <a:endParaRPr sz="9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669925"/>
            <a:ext cx="123825" cy="123825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04825" y="681654"/>
          <a:ext cx="7000875" cy="652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6445"/>
                <a:gridCol w="2162810"/>
                <a:gridCol w="2802254"/>
              </a:tblGrid>
              <a:tr h="154892">
                <a:tc>
                  <a:txBody>
                    <a:bodyPr/>
                    <a:lstStyle/>
                    <a:p>
                      <a:pPr marL="31750">
                        <a:lnSpc>
                          <a:spcPts val="1075"/>
                        </a:lnSpc>
                      </a:pPr>
                      <a:r>
                        <a:rPr dirty="0" sz="950" spc="-5">
                          <a:latin typeface="Arial MT"/>
                          <a:cs typeface="Arial MT"/>
                        </a:rPr>
                        <a:t>Charting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ts val="1075"/>
                        </a:lnSpc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Current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Goals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Objectives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ts val="107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Teacher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Observation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Student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Performance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950" spc="20">
                          <a:latin typeface="Arial MT"/>
                          <a:cs typeface="Arial MT"/>
                        </a:rPr>
                        <a:t>Checklists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Parent</a:t>
                      </a:r>
                      <a:r>
                        <a:rPr dirty="0" sz="95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Information/Report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Other: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950" spc="20">
                          <a:latin typeface="Arial MT"/>
                          <a:cs typeface="Arial MT"/>
                        </a:rPr>
                        <a:t>Classroom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Based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Assessments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950" spc="-5">
                          <a:latin typeface="Arial MT"/>
                          <a:cs typeface="Arial MT"/>
                        </a:rPr>
                        <a:t>Referral</a:t>
                      </a:r>
                      <a:r>
                        <a:rPr dirty="0" sz="95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Data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Other: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</a:tr>
              <a:tr h="154892">
                <a:tc>
                  <a:txBody>
                    <a:bodyPr/>
                    <a:lstStyle/>
                    <a:p>
                      <a:pPr marL="31750">
                        <a:lnSpc>
                          <a:spcPts val="1055"/>
                        </a:lnSpc>
                        <a:spcBef>
                          <a:spcPts val="6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Criterion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References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Testing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ts val="1055"/>
                        </a:lnSpc>
                        <a:spcBef>
                          <a:spcPts val="60"/>
                        </a:spcBef>
                      </a:pPr>
                      <a:r>
                        <a:rPr dirty="0" sz="950" spc="20">
                          <a:latin typeface="Arial MT"/>
                          <a:cs typeface="Arial MT"/>
                        </a:rPr>
                        <a:t>Results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State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Assessment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ts val="1055"/>
                        </a:lnSpc>
                        <a:spcBef>
                          <a:spcPts val="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Other: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2550" y="669925"/>
            <a:ext cx="123825" cy="1238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9975" y="669925"/>
            <a:ext cx="123825" cy="1238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841375"/>
            <a:ext cx="123825" cy="1238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2550" y="841375"/>
            <a:ext cx="123825" cy="1238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9975" y="841375"/>
            <a:ext cx="123825" cy="12382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1012825"/>
            <a:ext cx="123825" cy="12382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2550" y="1012825"/>
            <a:ext cx="123825" cy="12382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9975" y="1012825"/>
            <a:ext cx="123825" cy="1238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1184275"/>
            <a:ext cx="123825" cy="12382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2550" y="1184275"/>
            <a:ext cx="123825" cy="12382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9975" y="1184275"/>
            <a:ext cx="123825" cy="12382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1593850"/>
            <a:ext cx="123825" cy="12382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4625" y="1593850"/>
            <a:ext cx="123825" cy="12382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114800" y="1558289"/>
            <a:ext cx="863600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27050">
              <a:lnSpc>
                <a:spcPct val="118400"/>
              </a:lnSpc>
              <a:spcBef>
                <a:spcPts val="95"/>
              </a:spcBef>
            </a:pPr>
            <a:r>
              <a:rPr dirty="0" sz="950" spc="15">
                <a:latin typeface="Arial MT"/>
                <a:cs typeface="Arial MT"/>
              </a:rPr>
              <a:t>Math:  </a:t>
            </a:r>
            <a:r>
              <a:rPr dirty="0" sz="950" spc="30">
                <a:latin typeface="Arial MT"/>
                <a:cs typeface="Arial MT"/>
              </a:rPr>
              <a:t>ELA: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950" spc="15">
                <a:latin typeface="Arial MT"/>
                <a:cs typeface="Arial MT"/>
              </a:rPr>
              <a:t>Social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 spc="20">
                <a:latin typeface="Arial MT"/>
                <a:cs typeface="Arial MT"/>
              </a:rPr>
              <a:t>Studies: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1765300"/>
            <a:ext cx="123825" cy="12382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4625" y="1765300"/>
            <a:ext cx="123825" cy="12382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1936750"/>
            <a:ext cx="123825" cy="12382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4625" y="1936750"/>
            <a:ext cx="123825" cy="12382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2108200"/>
            <a:ext cx="123825" cy="12382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200025" y="1367789"/>
            <a:ext cx="1710055" cy="90170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950" b="1">
                <a:latin typeface="Arial"/>
                <a:cs typeface="Arial"/>
              </a:rPr>
              <a:t>Current</a:t>
            </a:r>
            <a:r>
              <a:rPr dirty="0" sz="950" spc="-5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Assessment</a:t>
            </a:r>
            <a:r>
              <a:rPr dirty="0" sz="950" spc="-50" b="1">
                <a:latin typeface="Arial"/>
                <a:cs typeface="Arial"/>
              </a:rPr>
              <a:t> </a:t>
            </a:r>
            <a:r>
              <a:rPr dirty="0" sz="950" spc="-5" b="1">
                <a:latin typeface="Arial"/>
                <a:cs typeface="Arial"/>
              </a:rPr>
              <a:t>Results:</a:t>
            </a:r>
            <a:endParaRPr sz="950">
              <a:latin typeface="Arial"/>
              <a:cs typeface="Arial"/>
            </a:endParaRPr>
          </a:p>
          <a:p>
            <a:pPr marL="336550">
              <a:lnSpc>
                <a:spcPct val="100000"/>
              </a:lnSpc>
              <a:spcBef>
                <a:spcPts val="285"/>
              </a:spcBef>
            </a:pPr>
            <a:r>
              <a:rPr dirty="0" sz="950" spc="-5">
                <a:latin typeface="Arial MT"/>
                <a:cs typeface="Arial MT"/>
              </a:rPr>
              <a:t>Reading:</a:t>
            </a:r>
            <a:endParaRPr sz="950">
              <a:latin typeface="Arial MT"/>
              <a:cs typeface="Arial MT"/>
            </a:endParaRPr>
          </a:p>
          <a:p>
            <a:pPr marL="336550" marR="356235">
              <a:lnSpc>
                <a:spcPct val="118400"/>
              </a:lnSpc>
            </a:pPr>
            <a:r>
              <a:rPr dirty="0" sz="950" spc="5">
                <a:latin typeface="Arial MT"/>
                <a:cs typeface="Arial MT"/>
              </a:rPr>
              <a:t>Written Language: </a:t>
            </a:r>
            <a:r>
              <a:rPr dirty="0" sz="950" spc="-254">
                <a:latin typeface="Arial MT"/>
                <a:cs typeface="Arial MT"/>
              </a:rPr>
              <a:t> </a:t>
            </a:r>
            <a:r>
              <a:rPr dirty="0" sz="950" spc="20">
                <a:latin typeface="Arial MT"/>
                <a:cs typeface="Arial MT"/>
              </a:rPr>
              <a:t>Science:</a:t>
            </a:r>
            <a:endParaRPr sz="950">
              <a:latin typeface="Arial MT"/>
              <a:cs typeface="Arial MT"/>
            </a:endParaRPr>
          </a:p>
          <a:p>
            <a:pPr marL="336550">
              <a:lnSpc>
                <a:spcPct val="100000"/>
              </a:lnSpc>
              <a:spcBef>
                <a:spcPts val="210"/>
              </a:spcBef>
            </a:pPr>
            <a:r>
              <a:rPr dirty="0" sz="950" spc="5">
                <a:latin typeface="Arial MT"/>
                <a:cs typeface="Arial MT"/>
              </a:rPr>
              <a:t>Other: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1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3200" y="203200"/>
          <a:ext cx="7348855" cy="1171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67125"/>
                <a:gridCol w="3667125"/>
              </a:tblGrid>
              <a:tr h="1857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Strengths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 b="1">
                          <a:latin typeface="Arial"/>
                          <a:cs typeface="Arial"/>
                        </a:rPr>
                        <a:t>Needs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737">
                <a:tc gridSpan="2"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950" spc="25" b="1">
                          <a:latin typeface="Arial"/>
                          <a:cs typeface="Arial"/>
                        </a:rPr>
                        <a:t>Academic</a:t>
                      </a:r>
                      <a:r>
                        <a:rPr dirty="0" sz="9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9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Skill</a:t>
                      </a:r>
                      <a:r>
                        <a:rPr dirty="0" sz="95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Area: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Social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Studies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22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90575">
                <a:tc>
                  <a:txBody>
                    <a:bodyPr/>
                    <a:lstStyle/>
                    <a:p>
                      <a:pPr marL="13970" marR="85090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5">
                          <a:latin typeface="Arial MT"/>
                          <a:cs typeface="Arial MT"/>
                        </a:rPr>
                        <a:t>Bruce recognizes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students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his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class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teachers that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work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him.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assistance,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Bruce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able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stand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pledges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the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morning. Bruce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is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able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recognize important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places here at Central such as the cafeteria, the gym, and the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office.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66675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Bruce needs to be able to recognize authority figures besides the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teachers</a:t>
                      </a:r>
                      <a:r>
                        <a:rPr dirty="0" sz="9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his</a:t>
                      </a:r>
                      <a:r>
                        <a:rPr dirty="0" sz="9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class.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813050" y="4527549"/>
            <a:ext cx="4733925" cy="9525"/>
          </a:xfrm>
          <a:custGeom>
            <a:avLst/>
            <a:gdLst/>
            <a:ahLst/>
            <a:cxnLst/>
            <a:rect l="l" t="t" r="r" b="b"/>
            <a:pathLst>
              <a:path w="4733925" h="9525">
                <a:moveTo>
                  <a:pt x="4733925" y="0"/>
                </a:moveTo>
                <a:lnTo>
                  <a:pt x="0" y="0"/>
                </a:lnTo>
                <a:lnTo>
                  <a:pt x="0" y="9525"/>
                </a:lnTo>
                <a:lnTo>
                  <a:pt x="4733925" y="9525"/>
                </a:lnTo>
                <a:lnTo>
                  <a:pt x="47339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7962" y="1474787"/>
            <a:ext cx="7334250" cy="1809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35"/>
              </a:spcBef>
            </a:pPr>
            <a:r>
              <a:rPr dirty="0" sz="950" spc="25" b="1">
                <a:latin typeface="Arial"/>
                <a:cs typeface="Arial"/>
              </a:rPr>
              <a:t>Health</a:t>
            </a:r>
            <a:r>
              <a:rPr dirty="0" sz="950" spc="10" b="1">
                <a:latin typeface="Arial"/>
                <a:cs typeface="Arial"/>
              </a:rPr>
              <a:t> </a:t>
            </a:r>
            <a:r>
              <a:rPr dirty="0" sz="950" spc="25" b="1">
                <a:latin typeface="Arial"/>
                <a:cs typeface="Arial"/>
              </a:rPr>
              <a:t>Related</a:t>
            </a:r>
            <a:r>
              <a:rPr dirty="0" sz="950" spc="1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Information: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962" y="1655762"/>
            <a:ext cx="7334250" cy="1809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35"/>
              </a:spcBef>
            </a:pPr>
            <a:r>
              <a:rPr dirty="0" sz="950" spc="15">
                <a:latin typeface="Arial MT"/>
                <a:cs typeface="Arial MT"/>
              </a:rPr>
              <a:t>Bruce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has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eczema.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962" y="1941512"/>
            <a:ext cx="7334250" cy="3333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13970" marR="257175">
              <a:lnSpc>
                <a:spcPct val="105300"/>
              </a:lnSpc>
              <a:spcBef>
                <a:spcPts val="75"/>
              </a:spcBef>
            </a:pPr>
            <a:r>
              <a:rPr dirty="0" sz="950" spc="15" b="1">
                <a:latin typeface="Arial"/>
                <a:cs typeface="Arial"/>
              </a:rPr>
              <a:t>Opportunities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the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student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has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had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to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participate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in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general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education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routines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and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activities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and/or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community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based </a:t>
            </a:r>
            <a:r>
              <a:rPr dirty="0" sz="950" spc="-24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activities: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962" y="2274887"/>
            <a:ext cx="7334250" cy="3333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13970" marR="37465">
              <a:lnSpc>
                <a:spcPct val="105300"/>
              </a:lnSpc>
              <a:spcBef>
                <a:spcPts val="75"/>
              </a:spcBef>
            </a:pPr>
            <a:r>
              <a:rPr dirty="0" sz="950" spc="10">
                <a:latin typeface="Arial MT"/>
                <a:cs typeface="Arial MT"/>
              </a:rPr>
              <a:t>Bruce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is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being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removed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from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general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education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classroom</a:t>
            </a:r>
            <a:r>
              <a:rPr dirty="0" sz="950" spc="10">
                <a:latin typeface="Arial MT"/>
                <a:cs typeface="Arial MT"/>
              </a:rPr>
              <a:t> and home </a:t>
            </a:r>
            <a:r>
              <a:rPr dirty="0" sz="950" spc="5">
                <a:latin typeface="Arial MT"/>
                <a:cs typeface="Arial MT"/>
              </a:rPr>
              <a:t>campus,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however,</a:t>
            </a:r>
            <a:r>
              <a:rPr dirty="0" sz="950" spc="10">
                <a:latin typeface="Arial MT"/>
                <a:cs typeface="Arial MT"/>
              </a:rPr>
              <a:t> he </a:t>
            </a:r>
            <a:r>
              <a:rPr dirty="0" sz="950">
                <a:latin typeface="Arial MT"/>
                <a:cs typeface="Arial MT"/>
              </a:rPr>
              <a:t>will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have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opportunity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participate 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all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age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appropriate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non-academic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extracurricular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activities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with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non-disabled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peers.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7962" y="2713037"/>
            <a:ext cx="7334250" cy="1809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35"/>
              </a:spcBef>
            </a:pPr>
            <a:r>
              <a:rPr dirty="0" sz="950" spc="10" b="1">
                <a:latin typeface="Arial"/>
                <a:cs typeface="Arial"/>
              </a:rPr>
              <a:t>Other information concerning this student: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7962" y="2894012"/>
            <a:ext cx="7334250" cy="1809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35"/>
              </a:spcBef>
            </a:pPr>
            <a:r>
              <a:rPr dirty="0" sz="950" spc="5">
                <a:latin typeface="Arial MT"/>
                <a:cs typeface="Arial MT"/>
              </a:rPr>
              <a:t>Parent information: Parents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gave permission to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have the </a:t>
            </a:r>
            <a:r>
              <a:rPr dirty="0" sz="950" spc="10">
                <a:latin typeface="Arial MT"/>
                <a:cs typeface="Arial MT"/>
              </a:rPr>
              <a:t>ARD </a:t>
            </a:r>
            <a:r>
              <a:rPr dirty="0" sz="950" spc="5">
                <a:latin typeface="Arial MT"/>
                <a:cs typeface="Arial MT"/>
              </a:rPr>
              <a:t>without them.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7962" y="3189287"/>
            <a:ext cx="7334250" cy="219075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200" b="1">
                <a:latin typeface="Arial"/>
                <a:cs typeface="Arial"/>
              </a:rPr>
              <a:t>SPECIAL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5" b="1">
                <a:latin typeface="Arial"/>
                <a:cs typeface="Arial"/>
              </a:rPr>
              <a:t>CONSIDERATIONS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4925" y="3470275"/>
            <a:ext cx="123825" cy="12382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00025" y="3457575"/>
            <a:ext cx="466471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533650" algn="l"/>
              </a:tabLst>
            </a:pPr>
            <a:r>
              <a:rPr dirty="0" sz="950" spc="15" b="1">
                <a:latin typeface="Arial"/>
                <a:cs typeface="Arial"/>
              </a:rPr>
              <a:t>Extended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School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Year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Services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(ESY)	</a:t>
            </a:r>
            <a:r>
              <a:rPr dirty="0" sz="950" spc="15">
                <a:latin typeface="Arial MT"/>
                <a:cs typeface="Arial MT"/>
              </a:rPr>
              <a:t>ESY</a:t>
            </a:r>
            <a:r>
              <a:rPr dirty="0" sz="950" spc="10">
                <a:latin typeface="Arial MT"/>
                <a:cs typeface="Arial MT"/>
              </a:rPr>
              <a:t> will </a:t>
            </a:r>
            <a:r>
              <a:rPr dirty="0" sz="950" spc="15">
                <a:latin typeface="Arial MT"/>
                <a:cs typeface="Arial MT"/>
              </a:rPr>
              <a:t>be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considered</a:t>
            </a:r>
            <a:r>
              <a:rPr dirty="0" sz="950" spc="10">
                <a:latin typeface="Arial MT"/>
                <a:cs typeface="Arial MT"/>
              </a:rPr>
              <a:t> at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 later </a:t>
            </a:r>
            <a:r>
              <a:rPr dirty="0" sz="950" spc="15">
                <a:latin typeface="Arial MT"/>
                <a:cs typeface="Arial MT"/>
              </a:rPr>
              <a:t>date.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3641725"/>
            <a:ext cx="123825" cy="12382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425" y="3641725"/>
            <a:ext cx="123825" cy="12382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23875" y="3629025"/>
            <a:ext cx="63881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78790" algn="l"/>
              </a:tabLst>
            </a:pPr>
            <a:r>
              <a:rPr dirty="0" sz="950" spc="35">
                <a:latin typeface="Arial MT"/>
                <a:cs typeface="Arial MT"/>
              </a:rPr>
              <a:t>Ye</a:t>
            </a:r>
            <a:r>
              <a:rPr dirty="0" sz="950" spc="10">
                <a:latin typeface="Arial MT"/>
                <a:cs typeface="Arial MT"/>
              </a:rPr>
              <a:t>s</a:t>
            </a:r>
            <a:r>
              <a:rPr dirty="0" sz="950">
                <a:latin typeface="Arial MT"/>
                <a:cs typeface="Arial MT"/>
              </a:rPr>
              <a:t>	</a:t>
            </a:r>
            <a:r>
              <a:rPr dirty="0" sz="950" spc="-35">
                <a:latin typeface="Arial MT"/>
                <a:cs typeface="Arial MT"/>
              </a:rPr>
              <a:t>No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725" y="3813175"/>
            <a:ext cx="123825" cy="12382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343025" y="3606165"/>
            <a:ext cx="4435475" cy="36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4625" marR="5080" indent="-161925">
              <a:lnSpc>
                <a:spcPct val="118400"/>
              </a:lnSpc>
              <a:spcBef>
                <a:spcPts val="95"/>
              </a:spcBef>
            </a:pPr>
            <a:r>
              <a:rPr dirty="0" sz="950" spc="5">
                <a:latin typeface="Arial MT"/>
                <a:cs typeface="Arial MT"/>
              </a:rPr>
              <a:t>Regression</a:t>
            </a:r>
            <a:r>
              <a:rPr dirty="0" sz="950" spc="10">
                <a:latin typeface="Arial MT"/>
                <a:cs typeface="Arial MT"/>
              </a:rPr>
              <a:t> and recoupment </a:t>
            </a:r>
            <a:r>
              <a:rPr dirty="0" sz="950" spc="5">
                <a:latin typeface="Arial MT"/>
                <a:cs typeface="Arial MT"/>
              </a:rPr>
              <a:t>difficulty</a:t>
            </a:r>
            <a:r>
              <a:rPr dirty="0" sz="950" spc="10">
                <a:latin typeface="Arial MT"/>
                <a:cs typeface="Arial MT"/>
              </a:rPr>
              <a:t> was noted. </a:t>
            </a:r>
            <a:r>
              <a:rPr dirty="0" sz="950">
                <a:latin typeface="Arial MT"/>
                <a:cs typeface="Arial MT"/>
              </a:rPr>
              <a:t>If</a:t>
            </a:r>
            <a:r>
              <a:rPr dirty="0" sz="950" spc="10">
                <a:latin typeface="Arial MT"/>
                <a:cs typeface="Arial MT"/>
              </a:rPr>
              <a:t> yes, refer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20" i="1">
                <a:latin typeface="Arial"/>
                <a:cs typeface="Arial"/>
              </a:rPr>
              <a:t>ARD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5" i="1">
                <a:latin typeface="Arial"/>
                <a:cs typeface="Arial"/>
              </a:rPr>
              <a:t>Supp: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20" i="1">
                <a:latin typeface="Arial"/>
                <a:cs typeface="Arial"/>
              </a:rPr>
              <a:t>ESY </a:t>
            </a:r>
            <a:r>
              <a:rPr dirty="0" sz="950" spc="-250" i="1">
                <a:latin typeface="Arial"/>
                <a:cs typeface="Arial"/>
              </a:rPr>
              <a:t> </a:t>
            </a:r>
            <a:r>
              <a:rPr dirty="0" sz="950" spc="20" i="1">
                <a:latin typeface="Arial"/>
                <a:cs typeface="Arial"/>
              </a:rPr>
              <a:t>ARD </a:t>
            </a:r>
            <a:r>
              <a:rPr dirty="0" sz="950" spc="15" i="1">
                <a:latin typeface="Arial"/>
                <a:cs typeface="Arial"/>
              </a:rPr>
              <a:t>Supp:</a:t>
            </a:r>
            <a:r>
              <a:rPr dirty="0" sz="950" spc="20" i="1">
                <a:latin typeface="Arial"/>
                <a:cs typeface="Arial"/>
              </a:rPr>
              <a:t> ESY</a:t>
            </a:r>
            <a:r>
              <a:rPr dirty="0" sz="950" spc="10" i="1">
                <a:latin typeface="Arial"/>
                <a:cs typeface="Arial"/>
              </a:rPr>
              <a:t> </a:t>
            </a:r>
            <a:r>
              <a:rPr dirty="0" sz="950" spc="5">
                <a:latin typeface="Arial MT"/>
                <a:cs typeface="Arial MT"/>
              </a:rPr>
              <a:t>was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reviewed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and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remains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appropriate.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0025" y="4010025"/>
            <a:ext cx="234823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Arial"/>
                <a:cs typeface="Arial"/>
              </a:rPr>
              <a:t>Language needs</a:t>
            </a:r>
            <a:r>
              <a:rPr dirty="0" sz="950" spc="1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for</a:t>
            </a:r>
            <a:r>
              <a:rPr dirty="0" sz="950" spc="1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LEP/ELL</a:t>
            </a:r>
            <a:r>
              <a:rPr dirty="0" sz="950" spc="1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students:</a:t>
            </a:r>
            <a:endParaRPr sz="95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4194175"/>
            <a:ext cx="123825" cy="12382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425" y="4194175"/>
            <a:ext cx="123825" cy="12382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23875" y="4181475"/>
            <a:ext cx="63881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78790" algn="l"/>
              </a:tabLst>
            </a:pPr>
            <a:r>
              <a:rPr dirty="0" sz="950" spc="35">
                <a:latin typeface="Arial MT"/>
                <a:cs typeface="Arial MT"/>
              </a:rPr>
              <a:t>Ye</a:t>
            </a:r>
            <a:r>
              <a:rPr dirty="0" sz="950" spc="10">
                <a:latin typeface="Arial MT"/>
                <a:cs typeface="Arial MT"/>
              </a:rPr>
              <a:t>s</a:t>
            </a:r>
            <a:r>
              <a:rPr dirty="0" sz="950">
                <a:latin typeface="Arial MT"/>
                <a:cs typeface="Arial MT"/>
              </a:rPr>
              <a:t>	</a:t>
            </a:r>
            <a:r>
              <a:rPr dirty="0" sz="950" spc="-35">
                <a:latin typeface="Arial MT"/>
                <a:cs typeface="Arial MT"/>
              </a:rPr>
              <a:t>No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43025" y="4158615"/>
            <a:ext cx="5251450" cy="36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400"/>
              </a:lnSpc>
              <a:spcBef>
                <a:spcPts val="95"/>
              </a:spcBef>
            </a:pPr>
            <a:r>
              <a:rPr dirty="0" sz="950" spc="5">
                <a:latin typeface="Arial MT"/>
                <a:cs typeface="Arial MT"/>
              </a:rPr>
              <a:t>Student is</a:t>
            </a:r>
            <a:r>
              <a:rPr dirty="0" sz="950" spc="10">
                <a:latin typeface="Arial MT"/>
                <a:cs typeface="Arial MT"/>
              </a:rPr>
              <a:t> an</a:t>
            </a:r>
            <a:r>
              <a:rPr dirty="0" sz="950" spc="5">
                <a:latin typeface="Arial MT"/>
                <a:cs typeface="Arial MT"/>
              </a:rPr>
              <a:t> English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language learner.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If</a:t>
            </a:r>
            <a:r>
              <a:rPr dirty="0" sz="950" spc="5">
                <a:latin typeface="Arial MT"/>
                <a:cs typeface="Arial MT"/>
              </a:rPr>
              <a:t> yes,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review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 spc="40">
                <a:latin typeface="Arial MT"/>
                <a:cs typeface="Arial MT"/>
              </a:rPr>
              <a:t> </a:t>
            </a:r>
            <a:r>
              <a:rPr dirty="0" sz="950" spc="10" i="1">
                <a:latin typeface="Arial"/>
                <a:cs typeface="Arial"/>
              </a:rPr>
              <a:t>ARD </a:t>
            </a:r>
            <a:r>
              <a:rPr dirty="0" sz="950" spc="5" i="1">
                <a:latin typeface="Arial"/>
                <a:cs typeface="Arial"/>
              </a:rPr>
              <a:t>Supp:</a:t>
            </a:r>
            <a:r>
              <a:rPr dirty="0" sz="950" spc="1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ARD/LPAC Collaboration</a:t>
            </a:r>
            <a:r>
              <a:rPr dirty="0" sz="950" spc="10">
                <a:latin typeface="Arial MT"/>
                <a:cs typeface="Arial MT"/>
              </a:rPr>
              <a:t>. </a:t>
            </a:r>
            <a:r>
              <a:rPr dirty="0" sz="950" spc="-24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Dominant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Language</a:t>
            </a:r>
            <a:r>
              <a:rPr dirty="0" sz="950">
                <a:latin typeface="Arial MT"/>
                <a:cs typeface="Arial MT"/>
              </a:rPr>
              <a:t> is: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43025" y="4524375"/>
            <a:ext cx="147193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>
                <a:latin typeface="Arial MT"/>
                <a:cs typeface="Arial MT"/>
              </a:rPr>
              <a:t>Recommend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following: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2575" y="4556125"/>
            <a:ext cx="123825" cy="12382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2952750" y="4520565"/>
            <a:ext cx="1387475" cy="53975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950" spc="10">
                <a:latin typeface="Arial MT"/>
                <a:cs typeface="Arial MT"/>
              </a:rPr>
              <a:t>Bilingual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classes</a:t>
            </a:r>
            <a:endParaRPr sz="950">
              <a:latin typeface="Arial MT"/>
              <a:cs typeface="Arial MT"/>
            </a:endParaRPr>
          </a:p>
          <a:p>
            <a:pPr marL="12700" marR="5080">
              <a:lnSpc>
                <a:spcPct val="118400"/>
              </a:lnSpc>
              <a:tabLst>
                <a:tab pos="1374140" algn="l"/>
              </a:tabLst>
            </a:pPr>
            <a:r>
              <a:rPr dirty="0" sz="950" spc="15">
                <a:latin typeface="Arial MT"/>
                <a:cs typeface="Arial MT"/>
              </a:rPr>
              <a:t>ESL supports/strategies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Other: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u="sng" sz="9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950">
              <a:latin typeface="Times New Roman"/>
              <a:cs typeface="Times New Roman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2575" y="4727575"/>
            <a:ext cx="123825" cy="12382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2575" y="4899025"/>
            <a:ext cx="123825" cy="123825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00025" y="5105400"/>
            <a:ext cx="141732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5" b="1">
                <a:latin typeface="Arial"/>
                <a:cs typeface="Arial"/>
              </a:rPr>
              <a:t>Communication</a:t>
            </a:r>
            <a:r>
              <a:rPr dirty="0" sz="95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needs:</a:t>
            </a:r>
            <a:endParaRPr sz="95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5289550"/>
            <a:ext cx="123825" cy="12382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425" y="5289550"/>
            <a:ext cx="123825" cy="123825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523875" y="5276850"/>
            <a:ext cx="63881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78790" algn="l"/>
              </a:tabLst>
            </a:pPr>
            <a:r>
              <a:rPr dirty="0" sz="950" spc="35">
                <a:latin typeface="Arial MT"/>
                <a:cs typeface="Arial MT"/>
              </a:rPr>
              <a:t>Ye</a:t>
            </a:r>
            <a:r>
              <a:rPr dirty="0" sz="950" spc="10">
                <a:latin typeface="Arial MT"/>
                <a:cs typeface="Arial MT"/>
              </a:rPr>
              <a:t>s</a:t>
            </a:r>
            <a:r>
              <a:rPr dirty="0" sz="950">
                <a:latin typeface="Arial MT"/>
                <a:cs typeface="Arial MT"/>
              </a:rPr>
              <a:t>	</a:t>
            </a:r>
            <a:r>
              <a:rPr dirty="0" sz="950" spc="-35">
                <a:latin typeface="Arial MT"/>
                <a:cs typeface="Arial MT"/>
              </a:rPr>
              <a:t>No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43025" y="5253990"/>
            <a:ext cx="6138545" cy="5207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170"/>
              </a:spcBef>
            </a:pPr>
            <a:r>
              <a:rPr dirty="0" sz="950" spc="5">
                <a:latin typeface="Arial MT"/>
                <a:cs typeface="Arial MT"/>
              </a:rPr>
              <a:t>Student</a:t>
            </a:r>
            <a:r>
              <a:rPr dirty="0" sz="950" spc="10">
                <a:latin typeface="Arial MT"/>
                <a:cs typeface="Arial MT"/>
              </a:rPr>
              <a:t> has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communication needs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which </a:t>
            </a:r>
            <a:r>
              <a:rPr dirty="0" sz="950" spc="15">
                <a:latin typeface="Arial MT"/>
                <a:cs typeface="Arial MT"/>
              </a:rPr>
              <a:t>may </a:t>
            </a:r>
            <a:r>
              <a:rPr dirty="0" sz="950" spc="10">
                <a:latin typeface="Arial MT"/>
                <a:cs typeface="Arial MT"/>
              </a:rPr>
              <a:t>impact his/her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involvement or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progress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 spc="10">
                <a:latin typeface="Arial MT"/>
                <a:cs typeface="Arial MT"/>
              </a:rPr>
              <a:t> general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curriculum.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If</a:t>
            </a:r>
            <a:r>
              <a:rPr dirty="0" sz="950" spc="10">
                <a:latin typeface="Arial MT"/>
                <a:cs typeface="Arial MT"/>
              </a:rPr>
              <a:t> yes,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specify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concerns: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Currently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meets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eligibility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student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with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speech impairment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receives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direct 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therapy.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0025" y="5810250"/>
            <a:ext cx="137096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25" b="1">
                <a:latin typeface="Arial"/>
                <a:cs typeface="Arial"/>
              </a:rPr>
              <a:t>Health/Medical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spc="25" b="1">
                <a:latin typeface="Arial"/>
                <a:cs typeface="Arial"/>
              </a:rPr>
              <a:t>needs:</a:t>
            </a:r>
            <a:endParaRPr sz="95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5994400"/>
            <a:ext cx="123825" cy="12382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425" y="5994400"/>
            <a:ext cx="123825" cy="123825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523875" y="5981700"/>
            <a:ext cx="63881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78790" algn="l"/>
              </a:tabLst>
            </a:pPr>
            <a:r>
              <a:rPr dirty="0" sz="950" spc="35">
                <a:latin typeface="Arial MT"/>
                <a:cs typeface="Arial MT"/>
              </a:rPr>
              <a:t>Ye</a:t>
            </a:r>
            <a:r>
              <a:rPr dirty="0" sz="950" spc="10">
                <a:latin typeface="Arial MT"/>
                <a:cs typeface="Arial MT"/>
              </a:rPr>
              <a:t>s</a:t>
            </a:r>
            <a:r>
              <a:rPr dirty="0" sz="950">
                <a:latin typeface="Arial MT"/>
                <a:cs typeface="Arial MT"/>
              </a:rPr>
              <a:t>	</a:t>
            </a:r>
            <a:r>
              <a:rPr dirty="0" sz="950" spc="-35">
                <a:latin typeface="Arial MT"/>
                <a:cs typeface="Arial MT"/>
              </a:rPr>
              <a:t>No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43025" y="5958840"/>
            <a:ext cx="6099810" cy="5207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170"/>
              </a:spcBef>
            </a:pPr>
            <a:r>
              <a:rPr dirty="0" sz="950" spc="5">
                <a:latin typeface="Arial MT"/>
                <a:cs typeface="Arial MT"/>
              </a:rPr>
              <a:t>Student</a:t>
            </a:r>
            <a:r>
              <a:rPr dirty="0" sz="950" spc="10">
                <a:latin typeface="Arial MT"/>
                <a:cs typeface="Arial MT"/>
              </a:rPr>
              <a:t> has health/medical needs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which </a:t>
            </a:r>
            <a:r>
              <a:rPr dirty="0" sz="950" spc="15">
                <a:latin typeface="Arial MT"/>
                <a:cs typeface="Arial MT"/>
              </a:rPr>
              <a:t>may</a:t>
            </a:r>
            <a:r>
              <a:rPr dirty="0" sz="950" spc="10">
                <a:latin typeface="Arial MT"/>
                <a:cs typeface="Arial MT"/>
              </a:rPr>
              <a:t> impact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his/her involvement or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progress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 spc="10">
                <a:latin typeface="Arial MT"/>
                <a:cs typeface="Arial MT"/>
              </a:rPr>
              <a:t> general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curriculum.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If</a:t>
            </a:r>
            <a:r>
              <a:rPr dirty="0" sz="950" spc="10">
                <a:latin typeface="Arial MT"/>
                <a:cs typeface="Arial MT"/>
              </a:rPr>
              <a:t> yes,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specify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concerns: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Bruce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has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eczema.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Currently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meets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eligibility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receive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occupational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therapy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 </a:t>
            </a:r>
            <a:r>
              <a:rPr dirty="0" sz="950" spc="15">
                <a:latin typeface="Arial MT"/>
                <a:cs typeface="Arial MT"/>
              </a:rPr>
              <a:t> address</a:t>
            </a:r>
            <a:r>
              <a:rPr dirty="0" sz="950" spc="10">
                <a:latin typeface="Arial MT"/>
                <a:cs typeface="Arial MT"/>
              </a:rPr>
              <a:t> fine</a:t>
            </a:r>
            <a:r>
              <a:rPr dirty="0" sz="950" spc="15">
                <a:latin typeface="Arial MT"/>
                <a:cs typeface="Arial MT"/>
              </a:rPr>
              <a:t> motor </a:t>
            </a:r>
            <a:r>
              <a:rPr dirty="0" sz="950" spc="10">
                <a:latin typeface="Arial MT"/>
                <a:cs typeface="Arial MT"/>
              </a:rPr>
              <a:t>skills.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00025" y="6515100"/>
            <a:ext cx="96774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Arial"/>
                <a:cs typeface="Arial"/>
              </a:rPr>
              <a:t>Physical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needs:</a:t>
            </a:r>
            <a:endParaRPr sz="950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6699250"/>
            <a:ext cx="123825" cy="123825"/>
          </a:xfrm>
          <a:prstGeom prst="rect">
            <a:avLst/>
          </a:prstGeom>
        </p:spPr>
      </p:pic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04825" y="6710979"/>
          <a:ext cx="6870700" cy="1319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920"/>
                <a:gridCol w="372110"/>
                <a:gridCol w="6122670"/>
              </a:tblGrid>
              <a:tr h="154892">
                <a:tc>
                  <a:txBody>
                    <a:bodyPr/>
                    <a:lstStyle/>
                    <a:p>
                      <a:pPr marL="31750">
                        <a:lnSpc>
                          <a:spcPts val="1075"/>
                        </a:lnSpc>
                      </a:pPr>
                      <a:r>
                        <a:rPr dirty="0" sz="950" spc="30">
                          <a:latin typeface="Arial MT"/>
                          <a:cs typeface="Arial MT"/>
                        </a:rPr>
                        <a:t>Yes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5250">
                        <a:lnSpc>
                          <a:spcPts val="1075"/>
                        </a:lnSpc>
                      </a:pPr>
                      <a:r>
                        <a:rPr dirty="0" sz="950" spc="-35">
                          <a:latin typeface="Arial MT"/>
                          <a:cs typeface="Arial MT"/>
                        </a:rPr>
                        <a:t>No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1075"/>
                        </a:lnSpc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Student is deaf or hard of hearing.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yes, refer to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 i="1">
                          <a:latin typeface="Arial"/>
                          <a:cs typeface="Arial"/>
                        </a:rPr>
                        <a:t>ARD </a:t>
                      </a:r>
                      <a:r>
                        <a:rPr dirty="0" sz="950" spc="5" i="1">
                          <a:latin typeface="Arial"/>
                          <a:cs typeface="Arial"/>
                        </a:rPr>
                        <a:t>Supp:</a:t>
                      </a:r>
                      <a:r>
                        <a:rPr dirty="0" sz="950" spc="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 i="1">
                          <a:latin typeface="Arial"/>
                          <a:cs typeface="Arial"/>
                        </a:rPr>
                        <a:t>Auditory</a:t>
                      </a:r>
                      <a:r>
                        <a:rPr dirty="0" sz="950" spc="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 i="1">
                          <a:latin typeface="Arial"/>
                          <a:cs typeface="Arial"/>
                        </a:rPr>
                        <a:t>Impairment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950" spc="10" i="1">
                          <a:latin typeface="Arial"/>
                          <a:cs typeface="Arial"/>
                        </a:rPr>
                        <a:t>ARD </a:t>
                      </a:r>
                      <a:r>
                        <a:rPr dirty="0" sz="950" spc="5" i="1">
                          <a:latin typeface="Arial"/>
                          <a:cs typeface="Arial"/>
                        </a:rPr>
                        <a:t>Supp:</a:t>
                      </a:r>
                      <a:r>
                        <a:rPr dirty="0" sz="950" spc="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 i="1">
                          <a:latin typeface="Arial"/>
                          <a:cs typeface="Arial"/>
                        </a:rPr>
                        <a:t>Auditory</a:t>
                      </a:r>
                      <a:r>
                        <a:rPr dirty="0" sz="950" spc="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 i="1">
                          <a:latin typeface="Arial"/>
                          <a:cs typeface="Arial"/>
                        </a:rPr>
                        <a:t>Impairment</a:t>
                      </a:r>
                      <a:r>
                        <a:rPr dirty="0" sz="950" spc="3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was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reviewed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remains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appropriate.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</a:tr>
              <a:tr h="154892">
                <a:tc>
                  <a:txBody>
                    <a:bodyPr/>
                    <a:lstStyle/>
                    <a:p>
                      <a:pPr marL="31750">
                        <a:lnSpc>
                          <a:spcPts val="1055"/>
                        </a:lnSpc>
                        <a:spcBef>
                          <a:spcPts val="60"/>
                        </a:spcBef>
                      </a:pPr>
                      <a:r>
                        <a:rPr dirty="0" sz="950" spc="30">
                          <a:latin typeface="Arial MT"/>
                          <a:cs typeface="Arial MT"/>
                        </a:rPr>
                        <a:t>Yes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algn="r" marR="95250">
                        <a:lnSpc>
                          <a:spcPts val="1055"/>
                        </a:lnSpc>
                        <a:spcBef>
                          <a:spcPts val="60"/>
                        </a:spcBef>
                      </a:pPr>
                      <a:r>
                        <a:rPr dirty="0" sz="950" spc="-35">
                          <a:latin typeface="Arial MT"/>
                          <a:cs typeface="Arial MT"/>
                        </a:rPr>
                        <a:t>No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1055"/>
                        </a:lnSpc>
                        <a:spcBef>
                          <a:spcPts val="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Student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has a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visual impairment.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yes, refer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to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 i="1">
                          <a:latin typeface="Arial"/>
                          <a:cs typeface="Arial"/>
                        </a:rPr>
                        <a:t>ARD</a:t>
                      </a:r>
                      <a:r>
                        <a:rPr dirty="0" sz="950" spc="10" i="1">
                          <a:latin typeface="Arial"/>
                          <a:cs typeface="Arial"/>
                        </a:rPr>
                        <a:t> Supp:</a:t>
                      </a:r>
                      <a:r>
                        <a:rPr dirty="0" sz="950" spc="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0" i="1">
                          <a:latin typeface="Arial"/>
                          <a:cs typeface="Arial"/>
                        </a:rPr>
                        <a:t>Visual Impairment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7620"/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ts val="1055"/>
                        </a:lnSpc>
                        <a:spcBef>
                          <a:spcPts val="190"/>
                        </a:spcBef>
                      </a:pPr>
                      <a:r>
                        <a:rPr dirty="0" sz="950" spc="15" i="1">
                          <a:latin typeface="Arial"/>
                          <a:cs typeface="Arial"/>
                        </a:rPr>
                        <a:t>ARD </a:t>
                      </a:r>
                      <a:r>
                        <a:rPr dirty="0" sz="950" spc="10" i="1">
                          <a:latin typeface="Arial"/>
                          <a:cs typeface="Arial"/>
                        </a:rPr>
                        <a:t>Supp:</a:t>
                      </a:r>
                      <a:r>
                        <a:rPr dirty="0" sz="950" spc="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0" i="1">
                          <a:latin typeface="Arial"/>
                          <a:cs typeface="Arial"/>
                        </a:rPr>
                        <a:t>Visual</a:t>
                      </a:r>
                      <a:r>
                        <a:rPr dirty="0" sz="950" spc="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0" i="1">
                          <a:latin typeface="Arial"/>
                          <a:cs typeface="Arial"/>
                        </a:rPr>
                        <a:t>Impairment</a:t>
                      </a:r>
                      <a:r>
                        <a:rPr dirty="0" sz="950" spc="3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was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reviewed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remains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appropriate.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4130"/>
                </a:tc>
              </a:tr>
              <a:tr h="18800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950" spc="30">
                          <a:latin typeface="Arial MT"/>
                          <a:cs typeface="Arial MT"/>
                        </a:rPr>
                        <a:t>Yes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4130"/>
                </a:tc>
                <a:tc>
                  <a:txBody>
                    <a:bodyPr/>
                    <a:lstStyle/>
                    <a:p>
                      <a:pPr algn="r" marR="952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950" spc="-35">
                          <a:latin typeface="Arial MT"/>
                          <a:cs typeface="Arial MT"/>
                        </a:rPr>
                        <a:t>No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4130"/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Student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needs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Adapted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Physical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Education.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4130"/>
                </a:tc>
              </a:tr>
              <a:tr h="3238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950" spc="30">
                          <a:latin typeface="Arial MT"/>
                          <a:cs typeface="Arial MT"/>
                        </a:rPr>
                        <a:t>Yes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algn="r" marR="952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950" spc="-35">
                          <a:latin typeface="Arial MT"/>
                          <a:cs typeface="Arial MT"/>
                        </a:rPr>
                        <a:t>No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102870" marR="24130">
                        <a:lnSpc>
                          <a:spcPct val="105300"/>
                        </a:lnSpc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Student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3rd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12th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grade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his/her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physical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fitness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assessed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accordance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19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TAC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Chapter</a:t>
                      </a:r>
                      <a:r>
                        <a:rPr dirty="0" sz="9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103-§103.1001.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1548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1055"/>
                        </a:lnSpc>
                        <a:spcBef>
                          <a:spcPts val="6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If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no,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explain: Not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age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appropriate -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currently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attends kindergarten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</a:tr>
            </a:tbl>
          </a:graphicData>
        </a:graphic>
      </p:graphicFrame>
      <p:pic>
        <p:nvPicPr>
          <p:cNvPr id="41" name="object 4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425" y="6699250"/>
            <a:ext cx="123825" cy="12382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725" y="6870700"/>
            <a:ext cx="123825" cy="123825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7042150"/>
            <a:ext cx="123825" cy="123825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425" y="7042150"/>
            <a:ext cx="123825" cy="12382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725" y="7213600"/>
            <a:ext cx="123825" cy="123825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7385050"/>
            <a:ext cx="123825" cy="123825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425" y="7385050"/>
            <a:ext cx="123825" cy="123825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7556500"/>
            <a:ext cx="123825" cy="123825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425" y="7556500"/>
            <a:ext cx="123825" cy="123825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8261350"/>
            <a:ext cx="123825" cy="123825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425" y="8261350"/>
            <a:ext cx="123825" cy="123825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200025" y="8054340"/>
            <a:ext cx="1007744" cy="74930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950" spc="10" b="1">
                <a:latin typeface="Arial"/>
                <a:cs typeface="Arial"/>
              </a:rPr>
              <a:t>Autism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spc="5" b="1">
                <a:latin typeface="Arial"/>
                <a:cs typeface="Arial"/>
              </a:rPr>
              <a:t>needs:</a:t>
            </a:r>
            <a:endParaRPr sz="950">
              <a:latin typeface="Arial"/>
              <a:cs typeface="Arial"/>
            </a:endParaRPr>
          </a:p>
          <a:p>
            <a:pPr marL="336550">
              <a:lnSpc>
                <a:spcPct val="100000"/>
              </a:lnSpc>
              <a:spcBef>
                <a:spcPts val="209"/>
              </a:spcBef>
              <a:tabLst>
                <a:tab pos="802640" algn="l"/>
              </a:tabLst>
            </a:pPr>
            <a:r>
              <a:rPr dirty="0" sz="950" spc="25">
                <a:latin typeface="Arial MT"/>
                <a:cs typeface="Arial MT"/>
              </a:rPr>
              <a:t>Yes	</a:t>
            </a:r>
            <a:r>
              <a:rPr dirty="0" sz="950" spc="-35">
                <a:latin typeface="Arial MT"/>
                <a:cs typeface="Arial MT"/>
              </a:rPr>
              <a:t>No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950" spc="20" b="1">
                <a:latin typeface="Arial"/>
                <a:cs typeface="Arial"/>
              </a:rPr>
              <a:t>Behavior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needs:</a:t>
            </a:r>
            <a:endParaRPr sz="950">
              <a:latin typeface="Arial"/>
              <a:cs typeface="Arial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5725" y="8432800"/>
            <a:ext cx="123825" cy="123825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1343025" y="8225790"/>
            <a:ext cx="3396615" cy="36830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950" spc="10">
                <a:latin typeface="Arial MT"/>
                <a:cs typeface="Arial MT"/>
              </a:rPr>
              <a:t>Student</a:t>
            </a:r>
            <a:r>
              <a:rPr dirty="0" sz="950" spc="15">
                <a:latin typeface="Arial MT"/>
                <a:cs typeface="Arial MT"/>
              </a:rPr>
              <a:t> has </a:t>
            </a:r>
            <a:r>
              <a:rPr dirty="0" sz="950" spc="10">
                <a:latin typeface="Arial MT"/>
                <a:cs typeface="Arial MT"/>
              </a:rPr>
              <a:t>Autism.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If</a:t>
            </a:r>
            <a:r>
              <a:rPr dirty="0" sz="950" spc="15">
                <a:latin typeface="Arial MT"/>
                <a:cs typeface="Arial MT"/>
              </a:rPr>
              <a:t> yes, </a:t>
            </a:r>
            <a:r>
              <a:rPr dirty="0" sz="950" spc="10">
                <a:latin typeface="Arial MT"/>
                <a:cs typeface="Arial MT"/>
              </a:rPr>
              <a:t>refer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30">
                <a:latin typeface="Arial MT"/>
                <a:cs typeface="Arial MT"/>
              </a:rPr>
              <a:t> </a:t>
            </a:r>
            <a:r>
              <a:rPr dirty="0" sz="950" spc="20" i="1">
                <a:latin typeface="Arial"/>
                <a:cs typeface="Arial"/>
              </a:rPr>
              <a:t>ARD </a:t>
            </a:r>
            <a:r>
              <a:rPr dirty="0" sz="950" spc="15" i="1">
                <a:latin typeface="Arial"/>
                <a:cs typeface="Arial"/>
              </a:rPr>
              <a:t>Supp:</a:t>
            </a:r>
            <a:r>
              <a:rPr dirty="0" sz="950" spc="20" i="1">
                <a:latin typeface="Arial"/>
                <a:cs typeface="Arial"/>
              </a:rPr>
              <a:t> </a:t>
            </a:r>
            <a:r>
              <a:rPr dirty="0" sz="950" spc="15" i="1">
                <a:latin typeface="Arial"/>
                <a:cs typeface="Arial"/>
              </a:rPr>
              <a:t>Autism</a:t>
            </a:r>
            <a:endParaRPr sz="950">
              <a:latin typeface="Arial"/>
              <a:cs typeface="Arial"/>
            </a:endParaRPr>
          </a:p>
          <a:p>
            <a:pPr marL="174625">
              <a:lnSpc>
                <a:spcPct val="100000"/>
              </a:lnSpc>
              <a:spcBef>
                <a:spcPts val="209"/>
              </a:spcBef>
            </a:pPr>
            <a:r>
              <a:rPr dirty="0" sz="950" spc="20" i="1">
                <a:latin typeface="Arial"/>
                <a:cs typeface="Arial"/>
              </a:rPr>
              <a:t>ARD </a:t>
            </a:r>
            <a:r>
              <a:rPr dirty="0" sz="950" spc="15" i="1">
                <a:latin typeface="Arial"/>
                <a:cs typeface="Arial"/>
              </a:rPr>
              <a:t>Supp:</a:t>
            </a:r>
            <a:r>
              <a:rPr dirty="0" sz="950" spc="20" i="1">
                <a:latin typeface="Arial"/>
                <a:cs typeface="Arial"/>
              </a:rPr>
              <a:t> </a:t>
            </a:r>
            <a:r>
              <a:rPr dirty="0" sz="950" spc="15" i="1">
                <a:latin typeface="Arial"/>
                <a:cs typeface="Arial"/>
              </a:rPr>
              <a:t>Autism </a:t>
            </a:r>
            <a:r>
              <a:rPr dirty="0" sz="950" spc="5">
                <a:latin typeface="Arial MT"/>
                <a:cs typeface="Arial MT"/>
              </a:rPr>
              <a:t>was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reviewed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and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remains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appropriate.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8813800"/>
            <a:ext cx="123825" cy="123825"/>
          </a:xfrm>
          <a:prstGeom prst="rect">
            <a:avLst/>
          </a:prstGeom>
        </p:spPr>
      </p:pic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504825" y="8825529"/>
          <a:ext cx="6757670" cy="652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920"/>
                <a:gridCol w="372110"/>
                <a:gridCol w="6009640"/>
              </a:tblGrid>
              <a:tr h="154892">
                <a:tc>
                  <a:txBody>
                    <a:bodyPr/>
                    <a:lstStyle/>
                    <a:p>
                      <a:pPr marL="31750">
                        <a:lnSpc>
                          <a:spcPts val="1075"/>
                        </a:lnSpc>
                      </a:pPr>
                      <a:r>
                        <a:rPr dirty="0" sz="950" spc="30">
                          <a:latin typeface="Arial MT"/>
                          <a:cs typeface="Arial MT"/>
                        </a:rPr>
                        <a:t>Yes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5250">
                        <a:lnSpc>
                          <a:spcPts val="1075"/>
                        </a:lnSpc>
                      </a:pPr>
                      <a:r>
                        <a:rPr dirty="0" sz="950" spc="-35">
                          <a:latin typeface="Arial MT"/>
                          <a:cs typeface="Arial MT"/>
                        </a:rPr>
                        <a:t>No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1075"/>
                        </a:lnSpc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Behavior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appears to impede the learning of the student or others.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yes, specify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concerns and address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areas indicated below: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Bruce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demonstrates behaviors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related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area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Review of discipline/behavior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records indicate: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Bruce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capable of following the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regular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code of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conduct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</a:tr>
              <a:tr h="154892">
                <a:tc>
                  <a:txBody>
                    <a:bodyPr/>
                    <a:lstStyle/>
                    <a:p>
                      <a:pPr marL="31750">
                        <a:lnSpc>
                          <a:spcPts val="1055"/>
                        </a:lnSpc>
                        <a:spcBef>
                          <a:spcPts val="60"/>
                        </a:spcBef>
                      </a:pPr>
                      <a:r>
                        <a:rPr dirty="0" sz="950" spc="30">
                          <a:latin typeface="Arial MT"/>
                          <a:cs typeface="Arial MT"/>
                        </a:rPr>
                        <a:t>Yes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algn="r" marR="95250">
                        <a:lnSpc>
                          <a:spcPts val="1055"/>
                        </a:lnSpc>
                        <a:spcBef>
                          <a:spcPts val="60"/>
                        </a:spcBef>
                      </a:pPr>
                      <a:r>
                        <a:rPr dirty="0" sz="950" spc="-35">
                          <a:latin typeface="Arial MT"/>
                          <a:cs typeface="Arial MT"/>
                        </a:rPr>
                        <a:t>No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1055"/>
                        </a:lnSpc>
                        <a:spcBef>
                          <a:spcPts val="60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Committee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determined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that a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Functional Behavioral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Assessment (FBA)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required.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yes,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refer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 i="1">
                          <a:latin typeface="Arial"/>
                          <a:cs typeface="Arial"/>
                        </a:rPr>
                        <a:t>ARD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7620"/>
                </a:tc>
              </a:tr>
            </a:tbl>
          </a:graphicData>
        </a:graphic>
      </p:graphicFrame>
      <p:pic>
        <p:nvPicPr>
          <p:cNvPr id="57" name="object 5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425" y="8813800"/>
            <a:ext cx="123825" cy="123825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9328150"/>
            <a:ext cx="123825" cy="123825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425" y="9328150"/>
            <a:ext cx="123825" cy="123825"/>
          </a:xfrm>
          <a:prstGeom prst="rect">
            <a:avLst/>
          </a:prstGeom>
        </p:spPr>
      </p:pic>
      <p:sp>
        <p:nvSpPr>
          <p:cNvPr id="60" name="object 6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1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725" y="393700"/>
            <a:ext cx="123825" cy="1238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736600"/>
            <a:ext cx="123825" cy="1238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425" y="736600"/>
            <a:ext cx="123825" cy="1238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4400" y="908050"/>
            <a:ext cx="123825" cy="1238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1200" y="908050"/>
            <a:ext cx="123825" cy="1238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1950" y="908050"/>
            <a:ext cx="123825" cy="1238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4400" y="1079500"/>
            <a:ext cx="123825" cy="12382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0025" y="148589"/>
            <a:ext cx="6882765" cy="130175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155700">
              <a:lnSpc>
                <a:spcPct val="100000"/>
              </a:lnSpc>
              <a:spcBef>
                <a:spcPts val="455"/>
              </a:spcBef>
            </a:pPr>
            <a:r>
              <a:rPr dirty="0" sz="950" spc="15" i="1">
                <a:latin typeface="Arial"/>
                <a:cs typeface="Arial"/>
              </a:rPr>
              <a:t>Supp:</a:t>
            </a:r>
            <a:r>
              <a:rPr dirty="0" sz="950" spc="-20" i="1">
                <a:latin typeface="Arial"/>
                <a:cs typeface="Arial"/>
              </a:rPr>
              <a:t> </a:t>
            </a:r>
            <a:r>
              <a:rPr dirty="0" sz="950" spc="25" i="1">
                <a:latin typeface="Arial"/>
                <a:cs typeface="Arial"/>
              </a:rPr>
              <a:t>FBA</a:t>
            </a:r>
            <a:endParaRPr sz="950">
              <a:latin typeface="Arial"/>
              <a:cs typeface="Arial"/>
            </a:endParaRPr>
          </a:p>
          <a:p>
            <a:pPr algn="ctr" marL="247650">
              <a:lnSpc>
                <a:spcPct val="100000"/>
              </a:lnSpc>
              <a:spcBef>
                <a:spcPts val="360"/>
              </a:spcBef>
              <a:tabLst>
                <a:tab pos="2543175" algn="l"/>
              </a:tabLst>
            </a:pPr>
            <a:r>
              <a:rPr dirty="0" sz="950" spc="20" i="1">
                <a:latin typeface="Arial"/>
                <a:cs typeface="Arial"/>
              </a:rPr>
              <a:t>ARD </a:t>
            </a:r>
            <a:r>
              <a:rPr dirty="0" sz="950" spc="15" i="1">
                <a:latin typeface="Arial"/>
                <a:cs typeface="Arial"/>
              </a:rPr>
              <a:t>Supp:</a:t>
            </a:r>
            <a:r>
              <a:rPr dirty="0" sz="950" spc="25" i="1">
                <a:latin typeface="Arial"/>
                <a:cs typeface="Arial"/>
              </a:rPr>
              <a:t> </a:t>
            </a:r>
            <a:r>
              <a:rPr dirty="0" sz="950" spc="15" i="1">
                <a:latin typeface="Arial"/>
                <a:cs typeface="Arial"/>
              </a:rPr>
              <a:t>FBA</a:t>
            </a:r>
            <a:r>
              <a:rPr dirty="0" sz="950" spc="35" i="1">
                <a:latin typeface="Arial"/>
                <a:cs typeface="Arial"/>
              </a:rPr>
              <a:t> </a:t>
            </a:r>
            <a:r>
              <a:rPr dirty="0" sz="950" spc="20">
                <a:latin typeface="Arial MT"/>
                <a:cs typeface="Arial MT"/>
              </a:rPr>
              <a:t>(FBA</a:t>
            </a:r>
            <a:r>
              <a:rPr dirty="0" sz="950" spc="3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date:</a:t>
            </a:r>
            <a:r>
              <a:rPr dirty="0" u="sng" sz="95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950" spc="5">
                <a:latin typeface="Arial MT"/>
                <a:cs typeface="Arial MT"/>
              </a:rPr>
              <a:t>)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was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reviewed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and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remains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appropriate.</a:t>
            </a:r>
            <a:endParaRPr sz="950">
              <a:latin typeface="Arial MT"/>
              <a:cs typeface="Arial MT"/>
            </a:endParaRPr>
          </a:p>
          <a:p>
            <a:pPr marL="1155700">
              <a:lnSpc>
                <a:spcPct val="100000"/>
              </a:lnSpc>
              <a:spcBef>
                <a:spcPts val="210"/>
              </a:spcBef>
            </a:pPr>
            <a:r>
              <a:rPr dirty="0" sz="950" spc="-25" b="1">
                <a:latin typeface="Arial"/>
                <a:cs typeface="Arial"/>
              </a:rPr>
              <a:t>OR</a:t>
            </a:r>
            <a:endParaRPr sz="950">
              <a:latin typeface="Arial"/>
              <a:cs typeface="Arial"/>
            </a:endParaRPr>
          </a:p>
          <a:p>
            <a:pPr marL="336550">
              <a:lnSpc>
                <a:spcPct val="100000"/>
              </a:lnSpc>
              <a:spcBef>
                <a:spcPts val="210"/>
              </a:spcBef>
              <a:tabLst>
                <a:tab pos="802640" algn="l"/>
                <a:tab pos="1155065" algn="l"/>
              </a:tabLst>
            </a:pPr>
            <a:r>
              <a:rPr dirty="0" sz="950" spc="25">
                <a:latin typeface="Arial MT"/>
                <a:cs typeface="Arial MT"/>
              </a:rPr>
              <a:t>Yes	</a:t>
            </a:r>
            <a:r>
              <a:rPr dirty="0" sz="950" spc="-10">
                <a:latin typeface="Arial MT"/>
                <a:cs typeface="Arial MT"/>
              </a:rPr>
              <a:t>No	</a:t>
            </a:r>
            <a:r>
              <a:rPr dirty="0" sz="950" spc="5">
                <a:latin typeface="Arial MT"/>
                <a:cs typeface="Arial MT"/>
              </a:rPr>
              <a:t>Committee </a:t>
            </a:r>
            <a:r>
              <a:rPr dirty="0" sz="950" spc="10">
                <a:latin typeface="Arial MT"/>
                <a:cs typeface="Arial MT"/>
              </a:rPr>
              <a:t>has</a:t>
            </a:r>
            <a:r>
              <a:rPr dirty="0" sz="950" spc="5">
                <a:latin typeface="Arial MT"/>
                <a:cs typeface="Arial MT"/>
              </a:rPr>
              <a:t> determined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that positive behavioral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interventions, strategies</a:t>
            </a:r>
            <a:r>
              <a:rPr dirty="0" sz="950" spc="10">
                <a:latin typeface="Arial MT"/>
                <a:cs typeface="Arial MT"/>
              </a:rPr>
              <a:t> and</a:t>
            </a:r>
            <a:r>
              <a:rPr dirty="0" sz="950" spc="5">
                <a:latin typeface="Arial MT"/>
                <a:cs typeface="Arial MT"/>
              </a:rPr>
              <a:t> supports are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necessary.</a:t>
            </a:r>
            <a:endParaRPr sz="950">
              <a:latin typeface="Arial MT"/>
              <a:cs typeface="Arial MT"/>
            </a:endParaRPr>
          </a:p>
          <a:p>
            <a:pPr marL="2127250" marR="527685" indent="-971550">
              <a:lnSpc>
                <a:spcPct val="118400"/>
              </a:lnSpc>
              <a:tabLst>
                <a:tab pos="2126615" algn="l"/>
                <a:tab pos="3193415" algn="l"/>
                <a:tab pos="3488690" algn="l"/>
                <a:tab pos="5384165" algn="l"/>
              </a:tabLst>
            </a:pPr>
            <a:r>
              <a:rPr dirty="0" sz="950">
                <a:latin typeface="Arial MT"/>
                <a:cs typeface="Arial MT"/>
              </a:rPr>
              <a:t>I</a:t>
            </a:r>
            <a:r>
              <a:rPr dirty="0" sz="950" spc="5">
                <a:latin typeface="Arial MT"/>
                <a:cs typeface="Arial MT"/>
              </a:rPr>
              <a:t>f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yes,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refer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</a:t>
            </a:r>
            <a:r>
              <a:rPr dirty="0" sz="950" spc="5">
                <a:latin typeface="Arial MT"/>
                <a:cs typeface="Arial MT"/>
              </a:rPr>
              <a:t>:</a:t>
            </a:r>
            <a:r>
              <a:rPr dirty="0" sz="950">
                <a:latin typeface="Arial MT"/>
                <a:cs typeface="Arial MT"/>
              </a:rPr>
              <a:t>	</a:t>
            </a:r>
            <a:r>
              <a:rPr dirty="0" sz="950" spc="20" i="1">
                <a:latin typeface="Arial"/>
                <a:cs typeface="Arial"/>
              </a:rPr>
              <a:t>AR</a:t>
            </a:r>
            <a:r>
              <a:rPr dirty="0" sz="950" spc="15" i="1">
                <a:latin typeface="Arial"/>
                <a:cs typeface="Arial"/>
              </a:rPr>
              <a:t>D</a:t>
            </a:r>
            <a:r>
              <a:rPr dirty="0" sz="950" spc="20" i="1">
                <a:latin typeface="Arial"/>
                <a:cs typeface="Arial"/>
              </a:rPr>
              <a:t> </a:t>
            </a:r>
            <a:r>
              <a:rPr dirty="0" sz="950" spc="15" i="1">
                <a:latin typeface="Arial"/>
                <a:cs typeface="Arial"/>
              </a:rPr>
              <a:t>Supp</a:t>
            </a:r>
            <a:r>
              <a:rPr dirty="0" sz="950" spc="5" i="1">
                <a:latin typeface="Arial"/>
                <a:cs typeface="Arial"/>
              </a:rPr>
              <a:t>:</a:t>
            </a:r>
            <a:r>
              <a:rPr dirty="0" sz="950" spc="20" i="1">
                <a:latin typeface="Arial"/>
                <a:cs typeface="Arial"/>
              </a:rPr>
              <a:t> </a:t>
            </a:r>
            <a:r>
              <a:rPr dirty="0" sz="950" spc="15" i="1">
                <a:latin typeface="Arial"/>
                <a:cs typeface="Arial"/>
              </a:rPr>
              <a:t>BI</a:t>
            </a:r>
            <a:r>
              <a:rPr dirty="0" sz="950" spc="15" i="1">
                <a:latin typeface="Arial"/>
                <a:cs typeface="Arial"/>
              </a:rPr>
              <a:t>P</a:t>
            </a:r>
            <a:r>
              <a:rPr dirty="0" sz="950" i="1">
                <a:latin typeface="Arial"/>
                <a:cs typeface="Arial"/>
              </a:rPr>
              <a:t>	</a:t>
            </a:r>
            <a:r>
              <a:rPr dirty="0" sz="950">
                <a:latin typeface="Arial MT"/>
                <a:cs typeface="Arial MT"/>
              </a:rPr>
              <a:t>Behaviora</a:t>
            </a:r>
            <a:r>
              <a:rPr dirty="0" sz="950" spc="5">
                <a:latin typeface="Arial MT"/>
                <a:cs typeface="Arial MT"/>
              </a:rPr>
              <a:t>l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Goal(s</a:t>
            </a:r>
            <a:r>
              <a:rPr dirty="0" sz="950" spc="5">
                <a:latin typeface="Arial MT"/>
                <a:cs typeface="Arial MT"/>
              </a:rPr>
              <a:t>)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and/o</a:t>
            </a:r>
            <a:r>
              <a:rPr dirty="0" sz="950" spc="5">
                <a:latin typeface="Arial MT"/>
                <a:cs typeface="Arial MT"/>
              </a:rPr>
              <a:t>r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Objective</a:t>
            </a:r>
            <a:r>
              <a:rPr dirty="0" sz="950" spc="10">
                <a:latin typeface="Arial MT"/>
                <a:cs typeface="Arial MT"/>
              </a:rPr>
              <a:t>s</a:t>
            </a:r>
            <a:r>
              <a:rPr dirty="0" sz="950">
                <a:latin typeface="Arial MT"/>
                <a:cs typeface="Arial MT"/>
              </a:rPr>
              <a:t>	</a:t>
            </a:r>
            <a:r>
              <a:rPr dirty="0" sz="950" spc="15">
                <a:latin typeface="Arial MT"/>
                <a:cs typeface="Arial MT"/>
              </a:rPr>
              <a:t>Accommodations  </a:t>
            </a:r>
            <a:r>
              <a:rPr dirty="0" sz="950" spc="10">
                <a:latin typeface="Arial MT"/>
                <a:cs typeface="Arial MT"/>
              </a:rPr>
              <a:t>Other: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u="sng" sz="9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	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950" spc="5" b="1">
                <a:latin typeface="Arial"/>
                <a:cs typeface="Arial"/>
              </a:rPr>
              <a:t>Assistive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spc="5" b="1">
                <a:latin typeface="Arial"/>
                <a:cs typeface="Arial"/>
              </a:rPr>
              <a:t>Technology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spc="5" b="1">
                <a:latin typeface="Arial"/>
                <a:cs typeface="Arial"/>
              </a:rPr>
              <a:t>needs:</a:t>
            </a:r>
            <a:endParaRPr sz="95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1460500"/>
            <a:ext cx="123825" cy="1238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425" y="1460500"/>
            <a:ext cx="123825" cy="12382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23875" y="1447800"/>
            <a:ext cx="63881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78790" algn="l"/>
              </a:tabLst>
            </a:pPr>
            <a:r>
              <a:rPr dirty="0" sz="950" spc="35">
                <a:latin typeface="Arial MT"/>
                <a:cs typeface="Arial MT"/>
              </a:rPr>
              <a:t>Ye</a:t>
            </a:r>
            <a:r>
              <a:rPr dirty="0" sz="950" spc="10">
                <a:latin typeface="Arial MT"/>
                <a:cs typeface="Arial MT"/>
              </a:rPr>
              <a:t>s</a:t>
            </a:r>
            <a:r>
              <a:rPr dirty="0" sz="950">
                <a:latin typeface="Arial MT"/>
                <a:cs typeface="Arial MT"/>
              </a:rPr>
              <a:t>	</a:t>
            </a:r>
            <a:r>
              <a:rPr dirty="0" sz="950" spc="-35">
                <a:latin typeface="Arial MT"/>
                <a:cs typeface="Arial MT"/>
              </a:rPr>
              <a:t>No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5750" y="2660650"/>
            <a:ext cx="123825" cy="12382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5750" y="2984500"/>
            <a:ext cx="123825" cy="12382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343025" y="1424939"/>
            <a:ext cx="6080760" cy="1720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825625">
              <a:lnSpc>
                <a:spcPct val="118400"/>
              </a:lnSpc>
              <a:spcBef>
                <a:spcPts val="95"/>
              </a:spcBef>
            </a:pPr>
            <a:r>
              <a:rPr dirty="0" sz="950" spc="5">
                <a:latin typeface="Arial MT"/>
                <a:cs typeface="Arial MT"/>
              </a:rPr>
              <a:t>Student </a:t>
            </a:r>
            <a:r>
              <a:rPr dirty="0" sz="950" spc="10">
                <a:latin typeface="Arial MT"/>
                <a:cs typeface="Arial MT"/>
              </a:rPr>
              <a:t>has </a:t>
            </a:r>
            <a:r>
              <a:rPr dirty="0" sz="950" spc="5">
                <a:latin typeface="Arial MT"/>
                <a:cs typeface="Arial MT"/>
              </a:rPr>
              <a:t>identified needs for assistive technology devices and/or services.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If </a:t>
            </a:r>
            <a:r>
              <a:rPr dirty="0" sz="950" spc="10">
                <a:latin typeface="Arial MT"/>
                <a:cs typeface="Arial MT"/>
              </a:rPr>
              <a:t>yes,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identified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needs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include:</a:t>
            </a:r>
            <a:endParaRPr sz="950">
              <a:latin typeface="Arial MT"/>
              <a:cs typeface="Arial MT"/>
            </a:endParaRPr>
          </a:p>
          <a:p>
            <a:pPr marL="79375" indent="-66675">
              <a:lnSpc>
                <a:spcPct val="100000"/>
              </a:lnSpc>
              <a:spcBef>
                <a:spcPts val="210"/>
              </a:spcBef>
              <a:buChar char="•"/>
              <a:tabLst>
                <a:tab pos="79375" algn="l"/>
              </a:tabLst>
            </a:pPr>
            <a:r>
              <a:rPr dirty="0" sz="950" spc="5">
                <a:latin typeface="Arial MT"/>
                <a:cs typeface="Arial MT"/>
              </a:rPr>
              <a:t>Communication</a:t>
            </a:r>
            <a:endParaRPr sz="950">
              <a:latin typeface="Arial MT"/>
              <a:cs typeface="Arial MT"/>
            </a:endParaRPr>
          </a:p>
          <a:p>
            <a:pPr marL="79375">
              <a:lnSpc>
                <a:spcPct val="100000"/>
              </a:lnSpc>
              <a:spcBef>
                <a:spcPts val="210"/>
              </a:spcBef>
            </a:pPr>
            <a:r>
              <a:rPr dirty="0" sz="950" spc="10">
                <a:latin typeface="Arial MT"/>
                <a:cs typeface="Arial MT"/>
              </a:rPr>
              <a:t>Communication board/pictures/visual/signs to aid with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communication</a:t>
            </a:r>
            <a:endParaRPr sz="950">
              <a:latin typeface="Arial MT"/>
              <a:cs typeface="Arial MT"/>
            </a:endParaRPr>
          </a:p>
          <a:p>
            <a:pPr marL="79375" indent="-66675">
              <a:lnSpc>
                <a:spcPct val="100000"/>
              </a:lnSpc>
              <a:spcBef>
                <a:spcPts val="210"/>
              </a:spcBef>
              <a:buChar char="•"/>
              <a:tabLst>
                <a:tab pos="79375" algn="l"/>
              </a:tabLst>
            </a:pPr>
            <a:r>
              <a:rPr dirty="0" sz="950" spc="-5">
                <a:latin typeface="Arial MT"/>
                <a:cs typeface="Arial MT"/>
              </a:rPr>
              <a:t>Self-care</a:t>
            </a:r>
            <a:endParaRPr sz="950">
              <a:latin typeface="Arial MT"/>
              <a:cs typeface="Arial MT"/>
            </a:endParaRPr>
          </a:p>
          <a:p>
            <a:pPr marL="12700" marR="4338320" indent="66675">
              <a:lnSpc>
                <a:spcPct val="118400"/>
              </a:lnSpc>
            </a:pPr>
            <a:r>
              <a:rPr dirty="0" sz="950" spc="5">
                <a:latin typeface="Arial MT"/>
                <a:cs typeface="Arial MT"/>
              </a:rPr>
              <a:t>Personal hygiene </a:t>
            </a:r>
            <a:r>
              <a:rPr dirty="0" sz="950" spc="10">
                <a:latin typeface="Arial MT"/>
                <a:cs typeface="Arial MT"/>
              </a:rPr>
              <a:t>and </a:t>
            </a:r>
            <a:r>
              <a:rPr dirty="0" sz="950">
                <a:latin typeface="Arial MT"/>
                <a:cs typeface="Arial MT"/>
              </a:rPr>
              <a:t>toileting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If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no,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basis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of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determination:</a:t>
            </a:r>
            <a:endParaRPr sz="950">
              <a:latin typeface="Arial MT"/>
              <a:cs typeface="Arial MT"/>
            </a:endParaRPr>
          </a:p>
          <a:p>
            <a:pPr marL="355600" marR="5080">
              <a:lnSpc>
                <a:spcPct val="105300"/>
              </a:lnSpc>
              <a:spcBef>
                <a:spcPts val="150"/>
              </a:spcBef>
            </a:pPr>
            <a:r>
              <a:rPr dirty="0" sz="950" spc="10">
                <a:latin typeface="Arial MT"/>
                <a:cs typeface="Arial MT"/>
              </a:rPr>
              <a:t>The student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able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access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technology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capable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making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progress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without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use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assistive 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technology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as witnessed by parent and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teacher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and/or progress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10">
                <a:latin typeface="Arial MT"/>
                <a:cs typeface="Arial MT"/>
              </a:rPr>
              <a:t> the curriculum.</a:t>
            </a:r>
            <a:endParaRPr sz="95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210"/>
              </a:spcBef>
              <a:tabLst>
                <a:tab pos="1717039" algn="l"/>
              </a:tabLst>
            </a:pPr>
            <a:r>
              <a:rPr dirty="0" sz="950" spc="10">
                <a:latin typeface="Arial MT"/>
                <a:cs typeface="Arial MT"/>
              </a:rPr>
              <a:t>Other: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u="sng" sz="9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0025" y="3181350"/>
            <a:ext cx="246951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Arial"/>
                <a:cs typeface="Arial"/>
              </a:rPr>
              <a:t>Transition/Graduation/Transfer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of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Rights:</a:t>
            </a:r>
            <a:endParaRPr sz="95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3365500"/>
            <a:ext cx="123825" cy="12382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425" y="3365500"/>
            <a:ext cx="123825" cy="12382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23875" y="3352800"/>
            <a:ext cx="63881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78790" algn="l"/>
              </a:tabLst>
            </a:pPr>
            <a:r>
              <a:rPr dirty="0" sz="950" spc="35">
                <a:latin typeface="Arial MT"/>
                <a:cs typeface="Arial MT"/>
              </a:rPr>
              <a:t>Ye</a:t>
            </a:r>
            <a:r>
              <a:rPr dirty="0" sz="950" spc="10">
                <a:latin typeface="Arial MT"/>
                <a:cs typeface="Arial MT"/>
              </a:rPr>
              <a:t>s</a:t>
            </a:r>
            <a:r>
              <a:rPr dirty="0" sz="950">
                <a:latin typeface="Arial MT"/>
                <a:cs typeface="Arial MT"/>
              </a:rPr>
              <a:t>	</a:t>
            </a:r>
            <a:r>
              <a:rPr dirty="0" sz="950" spc="-35">
                <a:latin typeface="Arial MT"/>
                <a:cs typeface="Arial MT"/>
              </a:rPr>
              <a:t>No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43025" y="3352800"/>
            <a:ext cx="6105525" cy="32639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65"/>
              </a:spcBef>
            </a:pPr>
            <a:r>
              <a:rPr dirty="0" sz="950">
                <a:latin typeface="Arial MT"/>
                <a:cs typeface="Arial MT"/>
              </a:rPr>
              <a:t>Transition/Graduation/Transfer </a:t>
            </a:r>
            <a:r>
              <a:rPr dirty="0" sz="950" spc="5">
                <a:latin typeface="Arial MT"/>
                <a:cs typeface="Arial MT"/>
              </a:rPr>
              <a:t>of </a:t>
            </a:r>
            <a:r>
              <a:rPr dirty="0" sz="950">
                <a:latin typeface="Arial MT"/>
                <a:cs typeface="Arial MT"/>
              </a:rPr>
              <a:t>Rights </a:t>
            </a:r>
            <a:r>
              <a:rPr dirty="0" sz="950" spc="5">
                <a:latin typeface="Arial MT"/>
                <a:cs typeface="Arial MT"/>
              </a:rPr>
              <a:t>are to be </a:t>
            </a:r>
            <a:r>
              <a:rPr dirty="0" sz="950">
                <a:latin typeface="Arial MT"/>
                <a:cs typeface="Arial MT"/>
              </a:rPr>
              <a:t>addressed for </a:t>
            </a:r>
            <a:r>
              <a:rPr dirty="0" sz="950" spc="5">
                <a:latin typeface="Arial MT"/>
                <a:cs typeface="Arial MT"/>
              </a:rPr>
              <a:t>students </a:t>
            </a:r>
            <a:r>
              <a:rPr dirty="0" sz="950">
                <a:latin typeface="Arial MT"/>
                <a:cs typeface="Arial MT"/>
              </a:rPr>
              <a:t>either </a:t>
            </a:r>
            <a:r>
              <a:rPr dirty="0" sz="950" spc="5">
                <a:latin typeface="Arial MT"/>
                <a:cs typeface="Arial MT"/>
              </a:rPr>
              <a:t>age 14 and above (or younger </a:t>
            </a:r>
            <a:r>
              <a:rPr dirty="0" sz="950" spc="-5">
                <a:latin typeface="Arial MT"/>
                <a:cs typeface="Arial MT"/>
              </a:rPr>
              <a:t>if 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appropriate). </a:t>
            </a:r>
            <a:r>
              <a:rPr dirty="0" sz="950">
                <a:latin typeface="Arial MT"/>
                <a:cs typeface="Arial MT"/>
              </a:rPr>
              <a:t>If </a:t>
            </a:r>
            <a:r>
              <a:rPr dirty="0" sz="950" spc="5">
                <a:latin typeface="Arial MT"/>
                <a:cs typeface="Arial MT"/>
              </a:rPr>
              <a:t>yes, </a:t>
            </a:r>
            <a:r>
              <a:rPr dirty="0" sz="950" spc="10">
                <a:latin typeface="Arial MT"/>
                <a:cs typeface="Arial MT"/>
              </a:rPr>
              <a:t>see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 i="1">
                <a:latin typeface="Arial"/>
                <a:cs typeface="Arial"/>
              </a:rPr>
              <a:t>ARD</a:t>
            </a:r>
            <a:r>
              <a:rPr dirty="0" sz="950" i="1">
                <a:latin typeface="Arial"/>
                <a:cs typeface="Arial"/>
              </a:rPr>
              <a:t> </a:t>
            </a:r>
            <a:r>
              <a:rPr dirty="0" sz="950" spc="5" i="1">
                <a:latin typeface="Arial"/>
                <a:cs typeface="Arial"/>
              </a:rPr>
              <a:t>Transition/Graduation/Transfer </a:t>
            </a:r>
            <a:r>
              <a:rPr dirty="0" sz="950" spc="10" i="1">
                <a:latin typeface="Arial"/>
                <a:cs typeface="Arial"/>
              </a:rPr>
              <a:t>of</a:t>
            </a:r>
            <a:r>
              <a:rPr dirty="0" sz="950" spc="5" i="1">
                <a:latin typeface="Arial"/>
                <a:cs typeface="Arial"/>
              </a:rPr>
              <a:t> </a:t>
            </a:r>
            <a:r>
              <a:rPr dirty="0" sz="950" spc="10" i="1">
                <a:latin typeface="Arial"/>
                <a:cs typeface="Arial"/>
              </a:rPr>
              <a:t>Rights</a:t>
            </a:r>
            <a:r>
              <a:rPr dirty="0" sz="950" spc="45" i="1">
                <a:latin typeface="Arial"/>
                <a:cs typeface="Arial"/>
              </a:rPr>
              <a:t> </a:t>
            </a:r>
            <a:r>
              <a:rPr dirty="0" sz="950" spc="5">
                <a:latin typeface="Arial MT"/>
                <a:cs typeface="Arial MT"/>
              </a:rPr>
              <a:t>page.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0025" y="3714750"/>
            <a:ext cx="145224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Arial"/>
                <a:cs typeface="Arial"/>
              </a:rPr>
              <a:t>Transportation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Services</a:t>
            </a:r>
            <a:endParaRPr sz="95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3898900"/>
            <a:ext cx="123825" cy="12382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425" y="3898900"/>
            <a:ext cx="123825" cy="12382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523875" y="3886200"/>
            <a:ext cx="63881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78790" algn="l"/>
              </a:tabLst>
            </a:pPr>
            <a:r>
              <a:rPr dirty="0" sz="950" spc="35">
                <a:latin typeface="Arial MT"/>
                <a:cs typeface="Arial MT"/>
              </a:rPr>
              <a:t>Ye</a:t>
            </a:r>
            <a:r>
              <a:rPr dirty="0" sz="950" spc="10">
                <a:latin typeface="Arial MT"/>
                <a:cs typeface="Arial MT"/>
              </a:rPr>
              <a:t>s</a:t>
            </a:r>
            <a:r>
              <a:rPr dirty="0" sz="950">
                <a:latin typeface="Arial MT"/>
                <a:cs typeface="Arial MT"/>
              </a:rPr>
              <a:t>	</a:t>
            </a:r>
            <a:r>
              <a:rPr dirty="0" sz="950" spc="-35">
                <a:latin typeface="Arial MT"/>
                <a:cs typeface="Arial MT"/>
              </a:rPr>
              <a:t>No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5725" y="4222750"/>
            <a:ext cx="123825" cy="12382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343025" y="3886200"/>
            <a:ext cx="5938520" cy="49784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65"/>
              </a:spcBef>
            </a:pPr>
            <a:r>
              <a:rPr dirty="0" sz="950" spc="10">
                <a:latin typeface="Arial MT"/>
                <a:cs typeface="Arial MT"/>
              </a:rPr>
              <a:t>Student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has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needs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related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 </a:t>
            </a:r>
            <a:r>
              <a:rPr dirty="0" sz="950" spc="5">
                <a:latin typeface="Arial MT"/>
                <a:cs typeface="Arial MT"/>
              </a:rPr>
              <a:t>their </a:t>
            </a:r>
            <a:r>
              <a:rPr dirty="0" sz="950" spc="10">
                <a:latin typeface="Arial MT"/>
                <a:cs typeface="Arial MT"/>
              </a:rPr>
              <a:t>identified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disability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that require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special transportation. </a:t>
            </a:r>
            <a:r>
              <a:rPr dirty="0" sz="950" spc="5">
                <a:latin typeface="Arial MT"/>
                <a:cs typeface="Arial MT"/>
              </a:rPr>
              <a:t>If</a:t>
            </a:r>
            <a:r>
              <a:rPr dirty="0" sz="950" spc="10">
                <a:latin typeface="Arial MT"/>
                <a:cs typeface="Arial MT"/>
              </a:rPr>
              <a:t> yes,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refer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55">
                <a:latin typeface="Arial MT"/>
                <a:cs typeface="Arial MT"/>
              </a:rPr>
              <a:t> </a:t>
            </a:r>
            <a:r>
              <a:rPr dirty="0" sz="950" spc="-5" i="1">
                <a:latin typeface="Arial"/>
                <a:cs typeface="Arial"/>
              </a:rPr>
              <a:t>ARD </a:t>
            </a:r>
            <a:r>
              <a:rPr dirty="0" sz="950" spc="-250" i="1">
                <a:latin typeface="Arial"/>
                <a:cs typeface="Arial"/>
              </a:rPr>
              <a:t> </a:t>
            </a:r>
            <a:r>
              <a:rPr dirty="0" sz="950" spc="5" i="1">
                <a:latin typeface="Arial"/>
                <a:cs typeface="Arial"/>
              </a:rPr>
              <a:t>Supp:</a:t>
            </a:r>
            <a:r>
              <a:rPr dirty="0" sz="950" i="1">
                <a:latin typeface="Arial"/>
                <a:cs typeface="Arial"/>
              </a:rPr>
              <a:t> </a:t>
            </a:r>
            <a:r>
              <a:rPr dirty="0" sz="950" spc="5" i="1">
                <a:latin typeface="Arial"/>
                <a:cs typeface="Arial"/>
              </a:rPr>
              <a:t>Transportation Services</a:t>
            </a:r>
            <a:endParaRPr sz="950">
              <a:latin typeface="Arial"/>
              <a:cs typeface="Arial"/>
            </a:endParaRPr>
          </a:p>
          <a:p>
            <a:pPr marL="174625">
              <a:lnSpc>
                <a:spcPct val="100000"/>
              </a:lnSpc>
              <a:spcBef>
                <a:spcPts val="209"/>
              </a:spcBef>
            </a:pPr>
            <a:r>
              <a:rPr dirty="0" sz="950" spc="10" i="1">
                <a:latin typeface="Arial"/>
                <a:cs typeface="Arial"/>
              </a:rPr>
              <a:t>ARD </a:t>
            </a:r>
            <a:r>
              <a:rPr dirty="0" sz="950" spc="5" i="1">
                <a:latin typeface="Arial"/>
                <a:cs typeface="Arial"/>
              </a:rPr>
              <a:t>Supp:</a:t>
            </a:r>
            <a:r>
              <a:rPr dirty="0" sz="950" spc="15" i="1">
                <a:latin typeface="Arial"/>
                <a:cs typeface="Arial"/>
              </a:rPr>
              <a:t> </a:t>
            </a:r>
            <a:r>
              <a:rPr dirty="0" sz="950" spc="5" i="1">
                <a:latin typeface="Arial"/>
                <a:cs typeface="Arial"/>
              </a:rPr>
              <a:t>Transportation</a:t>
            </a:r>
            <a:r>
              <a:rPr dirty="0" sz="950" spc="10" i="1">
                <a:latin typeface="Arial"/>
                <a:cs typeface="Arial"/>
              </a:rPr>
              <a:t> </a:t>
            </a:r>
            <a:r>
              <a:rPr dirty="0" sz="950" spc="5" i="1">
                <a:latin typeface="Arial"/>
                <a:cs typeface="Arial"/>
              </a:rPr>
              <a:t>Services</a:t>
            </a:r>
            <a:r>
              <a:rPr dirty="0" sz="950" spc="45" i="1">
                <a:latin typeface="Arial"/>
                <a:cs typeface="Arial"/>
              </a:rPr>
              <a:t> </a:t>
            </a:r>
            <a:r>
              <a:rPr dirty="0" sz="950" spc="5">
                <a:latin typeface="Arial MT"/>
                <a:cs typeface="Arial MT"/>
              </a:rPr>
              <a:t>was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reviewed </a:t>
            </a:r>
            <a:r>
              <a:rPr dirty="0" sz="950" spc="5">
                <a:latin typeface="Arial MT"/>
                <a:cs typeface="Arial MT"/>
              </a:rPr>
              <a:t>and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remains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appropriate.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1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3200" y="946150"/>
          <a:ext cx="7348855" cy="579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2575"/>
                <a:gridCol w="657225"/>
                <a:gridCol w="438150"/>
                <a:gridCol w="438150"/>
                <a:gridCol w="438150"/>
              </a:tblGrid>
              <a:tr h="295275"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10" b="1">
                          <a:latin typeface="Arial"/>
                          <a:cs typeface="Arial"/>
                        </a:rPr>
                        <a:t>Annual</a:t>
                      </a:r>
                      <a:r>
                        <a:rPr dirty="0" sz="8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0" b="1">
                          <a:latin typeface="Arial"/>
                          <a:cs typeface="Arial"/>
                        </a:rPr>
                        <a:t>Goal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 marR="40640" indent="19050">
                        <a:lnSpc>
                          <a:spcPct val="109400"/>
                        </a:lnSpc>
                        <a:spcBef>
                          <a:spcPts val="45"/>
                        </a:spcBef>
                      </a:pPr>
                      <a:r>
                        <a:rPr dirty="0" sz="800" b="1">
                          <a:latin typeface="Arial"/>
                          <a:cs typeface="Arial"/>
                        </a:rPr>
                        <a:t>Evaluation </a:t>
                      </a:r>
                      <a:r>
                        <a:rPr dirty="0" sz="800" spc="-2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30" b="1">
                          <a:latin typeface="Arial"/>
                          <a:cs typeface="Arial"/>
                        </a:rPr>
                        <a:t>Procedure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15" b="1">
                          <a:latin typeface="Arial"/>
                          <a:cs typeface="Arial"/>
                        </a:rPr>
                        <a:t>Evaluation</a:t>
                      </a:r>
                      <a:r>
                        <a:rPr dirty="0" sz="8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0" b="1">
                          <a:latin typeface="Arial"/>
                          <a:cs typeface="Arial"/>
                        </a:rPr>
                        <a:t>Codes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1450">
                <a:tc rowSpan="8">
                  <a:txBody>
                    <a:bodyPr/>
                    <a:lstStyle/>
                    <a:p>
                      <a:pPr marL="13970" marR="35560">
                        <a:lnSpc>
                          <a:spcPct val="104200"/>
                        </a:lnSpc>
                        <a:spcBef>
                          <a:spcPts val="65"/>
                        </a:spcBef>
                      </a:pPr>
                      <a:r>
                        <a:rPr dirty="0" sz="90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36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instructional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weeks,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Bruce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improve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fine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motor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skills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using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3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4-point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grasp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his </a:t>
                      </a:r>
                      <a:r>
                        <a:rPr dirty="0" sz="9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writing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tool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copy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pre-writing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designs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cross,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diagonal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line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square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shape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4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5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trials </a:t>
                      </a:r>
                      <a:r>
                        <a:rPr dirty="0" sz="900" spc="-2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across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3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collection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days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1-on-1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setting.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495"/>
                        </a:spcBef>
                        <a:tabLst>
                          <a:tab pos="3109595" algn="l"/>
                        </a:tabLst>
                      </a:pPr>
                      <a:r>
                        <a:rPr dirty="0" sz="900" spc="-5" b="1">
                          <a:latin typeface="Arial"/>
                          <a:cs typeface="Arial"/>
                        </a:rPr>
                        <a:t>Master</a:t>
                      </a:r>
                      <a:r>
                        <a:rPr dirty="0" sz="900" b="1">
                          <a:latin typeface="Arial"/>
                          <a:cs typeface="Arial"/>
                        </a:rPr>
                        <a:t>y</a:t>
                      </a:r>
                      <a:r>
                        <a:rPr dirty="0" sz="9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5" b="1">
                          <a:latin typeface="Arial"/>
                          <a:cs typeface="Arial"/>
                        </a:rPr>
                        <a:t>Criteria</a:t>
                      </a:r>
                      <a:r>
                        <a:rPr dirty="0" sz="900" b="1">
                          <a:latin typeface="Arial"/>
                          <a:cs typeface="Arial"/>
                        </a:rPr>
                        <a:t>:	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4</a:t>
                      </a:r>
                      <a:r>
                        <a:rPr dirty="0" sz="9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9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5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109595" algn="l"/>
                        </a:tabLst>
                      </a:pPr>
                      <a:r>
                        <a:rPr dirty="0" sz="900" spc="-15" b="1">
                          <a:latin typeface="Arial"/>
                          <a:cs typeface="Arial"/>
                        </a:rPr>
                        <a:t>Baseline</a:t>
                      </a:r>
                      <a:r>
                        <a:rPr dirty="0" sz="900" b="1">
                          <a:latin typeface="Arial"/>
                          <a:cs typeface="Arial"/>
                        </a:rPr>
                        <a:t>:	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0</a:t>
                      </a:r>
                      <a:r>
                        <a:rPr dirty="0" sz="9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9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5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109595" algn="l"/>
                        </a:tabLst>
                      </a:pPr>
                      <a:r>
                        <a:rPr dirty="0" sz="900" spc="-15" b="1">
                          <a:latin typeface="Arial"/>
                          <a:cs typeface="Arial"/>
                        </a:rPr>
                        <a:t>Person</a:t>
                      </a:r>
                      <a:r>
                        <a:rPr dirty="0" sz="9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 b="1">
                          <a:latin typeface="Arial"/>
                          <a:cs typeface="Arial"/>
                        </a:rPr>
                        <a:t>Responsible:	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Occupational</a:t>
                      </a:r>
                      <a:r>
                        <a:rPr dirty="0" sz="9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Therapist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109595" algn="l"/>
                        </a:tabLst>
                      </a:pPr>
                      <a:r>
                        <a:rPr dirty="0" sz="900" spc="-15" b="1">
                          <a:latin typeface="Arial"/>
                          <a:cs typeface="Arial"/>
                        </a:rPr>
                        <a:t>Progress Reporting Frequency:	</a:t>
                      </a:r>
                      <a:r>
                        <a:rPr dirty="0" sz="900" spc="-5">
                          <a:latin typeface="Arial MT"/>
                          <a:cs typeface="Arial MT"/>
                        </a:rPr>
                        <a:t>Quarterly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rowSpan="8">
                  <a:txBody>
                    <a:bodyPr/>
                    <a:lstStyle/>
                    <a:p>
                      <a:pPr marL="13970" marR="64135">
                        <a:lnSpc>
                          <a:spcPct val="104200"/>
                        </a:lnSpc>
                        <a:spcBef>
                          <a:spcPts val="65"/>
                        </a:spcBef>
                      </a:pPr>
                      <a:r>
                        <a:rPr dirty="0" sz="90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36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instructional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weeks,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when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presented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unknown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words,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Bruce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increase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his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basic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reading </a:t>
                      </a:r>
                      <a:r>
                        <a:rPr dirty="0" sz="9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skills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reading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those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words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from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25%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75%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accuracy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3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out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4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attempts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as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measured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data </a:t>
                      </a:r>
                      <a:r>
                        <a:rPr dirty="0" sz="9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reports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computer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reading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program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other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word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reading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5">
                          <a:latin typeface="Arial MT"/>
                          <a:cs typeface="Arial MT"/>
                        </a:rPr>
                        <a:t>assessment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495"/>
                        </a:spcBef>
                        <a:tabLst>
                          <a:tab pos="3319145" algn="l"/>
                        </a:tabLst>
                      </a:pPr>
                      <a:r>
                        <a:rPr dirty="0" sz="900" spc="-5" b="1">
                          <a:latin typeface="Arial"/>
                          <a:cs typeface="Arial"/>
                        </a:rPr>
                        <a:t>Mastery</a:t>
                      </a:r>
                      <a:r>
                        <a:rPr dirty="0" sz="9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5" b="1">
                          <a:latin typeface="Arial"/>
                          <a:cs typeface="Arial"/>
                        </a:rPr>
                        <a:t>Criteria:	</a:t>
                      </a:r>
                      <a:r>
                        <a:rPr dirty="0" sz="900" spc="45">
                          <a:latin typeface="Arial MT"/>
                          <a:cs typeface="Arial MT"/>
                        </a:rPr>
                        <a:t>75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319145" algn="l"/>
                        </a:tabLst>
                      </a:pPr>
                      <a:r>
                        <a:rPr dirty="0" sz="900" spc="-15" b="1">
                          <a:latin typeface="Arial"/>
                          <a:cs typeface="Arial"/>
                        </a:rPr>
                        <a:t>Baseline:	</a:t>
                      </a:r>
                      <a:r>
                        <a:rPr dirty="0" sz="900" spc="45">
                          <a:latin typeface="Arial MT"/>
                          <a:cs typeface="Arial MT"/>
                        </a:rPr>
                        <a:t>25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319145" algn="l"/>
                        </a:tabLst>
                      </a:pPr>
                      <a:r>
                        <a:rPr dirty="0" sz="900" spc="-15" b="1">
                          <a:latin typeface="Arial"/>
                          <a:cs typeface="Arial"/>
                        </a:rPr>
                        <a:t>Person</a:t>
                      </a:r>
                      <a:r>
                        <a:rPr dirty="0" sz="9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 b="1">
                          <a:latin typeface="Arial"/>
                          <a:cs typeface="Arial"/>
                        </a:rPr>
                        <a:t>Responsible:	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Special</a:t>
                      </a:r>
                      <a:r>
                        <a:rPr dirty="0" sz="9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Ed</a:t>
                      </a:r>
                      <a:r>
                        <a:rPr dirty="0" sz="9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Teacher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319145" algn="l"/>
                        </a:tabLst>
                      </a:pPr>
                      <a:r>
                        <a:rPr dirty="0" sz="900" spc="-15" b="1">
                          <a:latin typeface="Arial"/>
                          <a:cs typeface="Arial"/>
                        </a:rPr>
                        <a:t>Progress Reporting Frequency:	</a:t>
                      </a:r>
                      <a:r>
                        <a:rPr dirty="0" sz="900" spc="-5">
                          <a:latin typeface="Arial MT"/>
                          <a:cs typeface="Arial MT"/>
                        </a:rPr>
                        <a:t>Quarterly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rowSpan="8">
                  <a:txBody>
                    <a:bodyPr/>
                    <a:lstStyle/>
                    <a:p>
                      <a:pPr marL="13970" marR="45720">
                        <a:lnSpc>
                          <a:spcPct val="104200"/>
                        </a:lnSpc>
                        <a:spcBef>
                          <a:spcPts val="65"/>
                        </a:spcBef>
                      </a:pPr>
                      <a:r>
                        <a:rPr dirty="0" sz="90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36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instructional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weeks,</a:t>
                      </a:r>
                      <a:r>
                        <a:rPr dirty="0" sz="9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Bruce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increase</a:t>
                      </a:r>
                      <a:r>
                        <a:rPr dirty="0" sz="9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expressive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language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skills</a:t>
                      </a:r>
                      <a:r>
                        <a:rPr dirty="0" sz="9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answering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"wh"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questions </a:t>
                      </a:r>
                      <a:r>
                        <a:rPr dirty="0" sz="9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80%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accuracy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over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three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sessions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during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structured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tasks/functional</a:t>
                      </a:r>
                      <a:r>
                        <a:rPr dirty="0" sz="9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activities.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495"/>
                        </a:spcBef>
                        <a:tabLst>
                          <a:tab pos="3319145" algn="l"/>
                        </a:tabLst>
                      </a:pPr>
                      <a:r>
                        <a:rPr dirty="0" sz="900" spc="-5" b="1">
                          <a:latin typeface="Arial"/>
                          <a:cs typeface="Arial"/>
                        </a:rPr>
                        <a:t>Mastery</a:t>
                      </a:r>
                      <a:r>
                        <a:rPr dirty="0" sz="9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5" b="1">
                          <a:latin typeface="Arial"/>
                          <a:cs typeface="Arial"/>
                        </a:rPr>
                        <a:t>Criteria:	</a:t>
                      </a:r>
                      <a:r>
                        <a:rPr dirty="0" sz="900" spc="45">
                          <a:latin typeface="Arial MT"/>
                          <a:cs typeface="Arial MT"/>
                        </a:rPr>
                        <a:t>80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319145" algn="l"/>
                        </a:tabLst>
                      </a:pPr>
                      <a:r>
                        <a:rPr dirty="0" sz="900" spc="-15" b="1">
                          <a:latin typeface="Arial"/>
                          <a:cs typeface="Arial"/>
                        </a:rPr>
                        <a:t>Baseline:	</a:t>
                      </a:r>
                      <a:r>
                        <a:rPr dirty="0" sz="900" spc="45">
                          <a:latin typeface="Arial MT"/>
                          <a:cs typeface="Arial MT"/>
                        </a:rPr>
                        <a:t>25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319145" algn="l"/>
                        </a:tabLst>
                      </a:pPr>
                      <a:r>
                        <a:rPr dirty="0" sz="900" spc="-15" b="1">
                          <a:latin typeface="Arial"/>
                          <a:cs typeface="Arial"/>
                        </a:rPr>
                        <a:t>Person</a:t>
                      </a:r>
                      <a:r>
                        <a:rPr dirty="0" sz="9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 b="1">
                          <a:latin typeface="Arial"/>
                          <a:cs typeface="Arial"/>
                        </a:rPr>
                        <a:t>Responsible:	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Special</a:t>
                      </a:r>
                      <a:r>
                        <a:rPr dirty="0" sz="9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Ed</a:t>
                      </a:r>
                      <a:r>
                        <a:rPr dirty="0" sz="9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Teacher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319145" algn="l"/>
                        </a:tabLst>
                      </a:pPr>
                      <a:r>
                        <a:rPr dirty="0" sz="900" spc="-15" b="1">
                          <a:latin typeface="Arial"/>
                          <a:cs typeface="Arial"/>
                        </a:rPr>
                        <a:t>Progress Reporting Frequency:	</a:t>
                      </a:r>
                      <a:r>
                        <a:rPr dirty="0" sz="900" spc="-5">
                          <a:latin typeface="Arial MT"/>
                          <a:cs typeface="Arial MT"/>
                        </a:rPr>
                        <a:t>Quarterly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10">
                          <a:latin typeface="Arial MT"/>
                          <a:cs typeface="Arial MT"/>
                        </a:rPr>
                        <a:t>1,2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rowSpan="8">
                  <a:txBody>
                    <a:bodyPr/>
                    <a:lstStyle/>
                    <a:p>
                      <a:pPr marL="13970" marR="170815">
                        <a:lnSpc>
                          <a:spcPct val="104200"/>
                        </a:lnSpc>
                        <a:spcBef>
                          <a:spcPts val="65"/>
                        </a:spcBef>
                      </a:pPr>
                      <a:r>
                        <a:rPr dirty="0" sz="90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36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instructional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weeks,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Bruce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increase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receptive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language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skills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following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two-step</a:t>
                      </a:r>
                      <a:r>
                        <a:rPr dirty="0" sz="9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related </a:t>
                      </a:r>
                      <a:r>
                        <a:rPr dirty="0" sz="900" spc="-2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directions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80%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accuracy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over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three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sessions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during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structured</a:t>
                      </a:r>
                      <a:r>
                        <a:rPr dirty="0" sz="9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latin typeface="Arial MT"/>
                          <a:cs typeface="Arial MT"/>
                        </a:rPr>
                        <a:t>tasks/functional</a:t>
                      </a:r>
                      <a:r>
                        <a:rPr dirty="0" sz="9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activities.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495"/>
                        </a:spcBef>
                        <a:tabLst>
                          <a:tab pos="3433445" algn="l"/>
                        </a:tabLst>
                      </a:pPr>
                      <a:r>
                        <a:rPr dirty="0" sz="900" spc="-5" b="1">
                          <a:latin typeface="Arial"/>
                          <a:cs typeface="Arial"/>
                        </a:rPr>
                        <a:t>Mastery</a:t>
                      </a:r>
                      <a:r>
                        <a:rPr dirty="0" sz="9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5" b="1">
                          <a:latin typeface="Arial"/>
                          <a:cs typeface="Arial"/>
                        </a:rPr>
                        <a:t>Criteria:	</a:t>
                      </a:r>
                      <a:r>
                        <a:rPr dirty="0" sz="900" spc="45">
                          <a:latin typeface="Arial MT"/>
                          <a:cs typeface="Arial MT"/>
                        </a:rPr>
                        <a:t>80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433445" algn="l"/>
                        </a:tabLst>
                      </a:pPr>
                      <a:r>
                        <a:rPr dirty="0" sz="900" spc="-15" b="1">
                          <a:latin typeface="Arial"/>
                          <a:cs typeface="Arial"/>
                        </a:rPr>
                        <a:t>Baseline:	</a:t>
                      </a:r>
                      <a:r>
                        <a:rPr dirty="0" sz="900" spc="45">
                          <a:latin typeface="Arial MT"/>
                          <a:cs typeface="Arial MT"/>
                        </a:rPr>
                        <a:t>25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433445" algn="l"/>
                        </a:tabLst>
                      </a:pPr>
                      <a:r>
                        <a:rPr dirty="0" sz="900" spc="-15" b="1">
                          <a:latin typeface="Arial"/>
                          <a:cs typeface="Arial"/>
                        </a:rPr>
                        <a:t>Person</a:t>
                      </a:r>
                      <a:r>
                        <a:rPr dirty="0" sz="9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 b="1">
                          <a:latin typeface="Arial"/>
                          <a:cs typeface="Arial"/>
                        </a:rPr>
                        <a:t>Responsible:	</a:t>
                      </a:r>
                      <a:r>
                        <a:rPr dirty="0" sz="900" spc="5">
                          <a:latin typeface="Arial MT"/>
                          <a:cs typeface="Arial MT"/>
                        </a:rPr>
                        <a:t>Speech</a:t>
                      </a:r>
                      <a:r>
                        <a:rPr dirty="0" sz="9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latin typeface="Arial MT"/>
                          <a:cs typeface="Arial MT"/>
                        </a:rPr>
                        <a:t>Therapist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433445" algn="l"/>
                        </a:tabLst>
                      </a:pPr>
                      <a:r>
                        <a:rPr dirty="0" sz="900" spc="-15" b="1">
                          <a:latin typeface="Arial"/>
                          <a:cs typeface="Arial"/>
                        </a:rPr>
                        <a:t>Progress Reporting Frequency:	</a:t>
                      </a:r>
                      <a:r>
                        <a:rPr dirty="0" sz="900" spc="-5">
                          <a:latin typeface="Arial MT"/>
                          <a:cs typeface="Arial MT"/>
                        </a:rPr>
                        <a:t>Quarterly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10">
                          <a:latin typeface="Arial MT"/>
                          <a:cs typeface="Arial MT"/>
                        </a:rPr>
                        <a:t>1,2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-25">
                          <a:latin typeface="Arial MT"/>
                          <a:cs typeface="Arial MT"/>
                        </a:rPr>
                        <a:t>DATE: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>
                          <a:latin typeface="Arial MT"/>
                          <a:cs typeface="Arial MT"/>
                        </a:rPr>
                        <a:t>CODE: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1851025" y="6908800"/>
            <a:ext cx="2724150" cy="9525"/>
          </a:xfrm>
          <a:custGeom>
            <a:avLst/>
            <a:gdLst/>
            <a:ahLst/>
            <a:cxnLst/>
            <a:rect l="l" t="t" r="r" b="b"/>
            <a:pathLst>
              <a:path w="2724150" h="9525">
                <a:moveTo>
                  <a:pt x="2724150" y="0"/>
                </a:moveTo>
                <a:lnTo>
                  <a:pt x="2724150" y="0"/>
                </a:lnTo>
                <a:lnTo>
                  <a:pt x="0" y="0"/>
                </a:lnTo>
                <a:lnTo>
                  <a:pt x="0" y="9525"/>
                </a:lnTo>
                <a:lnTo>
                  <a:pt x="2724150" y="9525"/>
                </a:lnTo>
                <a:lnTo>
                  <a:pt x="2724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242050" y="6908800"/>
            <a:ext cx="1295400" cy="9525"/>
          </a:xfrm>
          <a:custGeom>
            <a:avLst/>
            <a:gdLst/>
            <a:ahLst/>
            <a:cxnLst/>
            <a:rect l="l" t="t" r="r" b="b"/>
            <a:pathLst>
              <a:path w="1295400" h="9525">
                <a:moveTo>
                  <a:pt x="1295400" y="0"/>
                </a:moveTo>
                <a:lnTo>
                  <a:pt x="0" y="0"/>
                </a:lnTo>
                <a:lnTo>
                  <a:pt x="0" y="9525"/>
                </a:lnTo>
                <a:lnTo>
                  <a:pt x="1295400" y="9525"/>
                </a:lnTo>
                <a:lnTo>
                  <a:pt x="129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7962" y="207962"/>
            <a:ext cx="7334250" cy="219075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200" b="1">
                <a:latin typeface="Arial"/>
                <a:cs typeface="Arial"/>
              </a:rPr>
              <a:t>GOALS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&amp;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1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7962" y="484187"/>
            <a:ext cx="7334250" cy="180975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050" spc="-40" b="1">
                <a:latin typeface="Arial"/>
                <a:cs typeface="Arial"/>
              </a:rPr>
              <a:t>STANDARD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962" y="665162"/>
            <a:ext cx="7334250" cy="1809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194945">
              <a:lnSpc>
                <a:spcPct val="100000"/>
              </a:lnSpc>
              <a:spcBef>
                <a:spcPts val="135"/>
              </a:spcBef>
            </a:pPr>
            <a:r>
              <a:rPr dirty="0" sz="950" spc="15" i="1">
                <a:latin typeface="Arial"/>
                <a:cs typeface="Arial"/>
              </a:rPr>
              <a:t>STANDARD</a:t>
            </a:r>
            <a:r>
              <a:rPr dirty="0" sz="950" spc="-15" i="1">
                <a:latin typeface="Arial"/>
                <a:cs typeface="Arial"/>
              </a:rPr>
              <a:t> </a:t>
            </a:r>
            <a:r>
              <a:rPr dirty="0" sz="950" spc="15" i="1">
                <a:latin typeface="Arial"/>
                <a:cs typeface="Arial"/>
              </a:rPr>
              <a:t>NOT</a:t>
            </a:r>
            <a:r>
              <a:rPr dirty="0" sz="950" spc="-10" i="1">
                <a:latin typeface="Arial"/>
                <a:cs typeface="Arial"/>
              </a:rPr>
              <a:t> </a:t>
            </a:r>
            <a:r>
              <a:rPr dirty="0" sz="950" spc="15" i="1">
                <a:latin typeface="Arial"/>
                <a:cs typeface="Arial"/>
              </a:rPr>
              <a:t>ASSIGNED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7925" y="6762750"/>
            <a:ext cx="152971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20" b="1">
                <a:latin typeface="Arial"/>
                <a:cs typeface="Arial"/>
              </a:rPr>
              <a:t>Evaluation</a:t>
            </a:r>
            <a:r>
              <a:rPr dirty="0" sz="800" spc="15" b="1">
                <a:latin typeface="Arial"/>
                <a:cs typeface="Arial"/>
              </a:rPr>
              <a:t> </a:t>
            </a:r>
            <a:r>
              <a:rPr dirty="0" sz="800" spc="20" b="1">
                <a:latin typeface="Arial"/>
                <a:cs typeface="Arial"/>
              </a:rPr>
              <a:t>Procedure</a:t>
            </a:r>
            <a:r>
              <a:rPr dirty="0" sz="800" spc="15" b="1">
                <a:latin typeface="Arial"/>
                <a:cs typeface="Arial"/>
              </a:rPr>
              <a:t> </a:t>
            </a:r>
            <a:r>
              <a:rPr dirty="0" sz="800" spc="20" b="1">
                <a:latin typeface="Arial"/>
                <a:cs typeface="Arial"/>
              </a:rPr>
              <a:t>Codes: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38325" y="6898005"/>
            <a:ext cx="1108710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dirty="0" sz="800" spc="10">
                <a:latin typeface="Arial MT"/>
                <a:cs typeface="Arial MT"/>
              </a:rPr>
              <a:t>1</a:t>
            </a:r>
            <a:r>
              <a:rPr dirty="0" sz="800" spc="-8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-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Teacher-Mad</a:t>
            </a:r>
            <a:r>
              <a:rPr dirty="0" sz="800" spc="10">
                <a:latin typeface="Arial MT"/>
                <a:cs typeface="Arial MT"/>
              </a:rPr>
              <a:t>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Tests  </a:t>
            </a:r>
            <a:r>
              <a:rPr dirty="0" sz="800" spc="10">
                <a:latin typeface="Arial MT"/>
                <a:cs typeface="Arial MT"/>
              </a:rPr>
              <a:t>2</a:t>
            </a:r>
            <a:r>
              <a:rPr dirty="0" sz="800" spc="-8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-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Observations</a:t>
            </a:r>
            <a:endParaRPr sz="800">
              <a:latin typeface="Arial MT"/>
              <a:cs typeface="Arial MT"/>
            </a:endParaRPr>
          </a:p>
          <a:p>
            <a:pPr marL="12700" marR="337185">
              <a:lnSpc>
                <a:spcPct val="109400"/>
              </a:lnSpc>
            </a:pPr>
            <a:r>
              <a:rPr dirty="0" sz="800" spc="10">
                <a:latin typeface="Arial MT"/>
                <a:cs typeface="Arial MT"/>
              </a:rPr>
              <a:t>3</a:t>
            </a:r>
            <a:r>
              <a:rPr dirty="0" sz="800" spc="-8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-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Weekl</a:t>
            </a:r>
            <a:r>
              <a:rPr dirty="0" sz="800" spc="10">
                <a:latin typeface="Arial MT"/>
                <a:cs typeface="Arial MT"/>
              </a:rPr>
              <a:t>y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Tests  </a:t>
            </a:r>
            <a:r>
              <a:rPr dirty="0" sz="800" spc="10">
                <a:latin typeface="Arial MT"/>
                <a:cs typeface="Arial MT"/>
              </a:rPr>
              <a:t>4</a:t>
            </a:r>
            <a:r>
              <a:rPr dirty="0" sz="800" spc="-8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-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Uni</a:t>
            </a:r>
            <a:r>
              <a:rPr dirty="0" sz="800" spc="5">
                <a:latin typeface="Arial MT"/>
                <a:cs typeface="Arial MT"/>
              </a:rPr>
              <a:t>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Tests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57550" y="6898005"/>
            <a:ext cx="1139190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dirty="0" sz="800" spc="10">
                <a:latin typeface="Arial MT"/>
                <a:cs typeface="Arial MT"/>
              </a:rPr>
              <a:t>5</a:t>
            </a:r>
            <a:r>
              <a:rPr dirty="0" sz="800" spc="-8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-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Studen</a:t>
            </a:r>
            <a:r>
              <a:rPr dirty="0" sz="800" spc="5">
                <a:latin typeface="Arial MT"/>
                <a:cs typeface="Arial MT"/>
              </a:rPr>
              <a:t>t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Conferences  </a:t>
            </a:r>
            <a:r>
              <a:rPr dirty="0" sz="800" spc="10">
                <a:latin typeface="Arial MT"/>
                <a:cs typeface="Arial MT"/>
              </a:rPr>
              <a:t>6</a:t>
            </a:r>
            <a:r>
              <a:rPr dirty="0" sz="800" spc="-8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-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-5">
                <a:latin typeface="Arial MT"/>
                <a:cs typeface="Arial MT"/>
              </a:rPr>
              <a:t>Wor</a:t>
            </a:r>
            <a:r>
              <a:rPr dirty="0" sz="800" spc="10">
                <a:latin typeface="Arial MT"/>
                <a:cs typeface="Arial MT"/>
              </a:rPr>
              <a:t>k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Samples</a:t>
            </a:r>
            <a:endParaRPr sz="800">
              <a:latin typeface="Arial MT"/>
              <a:cs typeface="Arial MT"/>
            </a:endParaRPr>
          </a:p>
          <a:p>
            <a:pPr marL="88900" indent="-76200">
              <a:lnSpc>
                <a:spcPct val="100000"/>
              </a:lnSpc>
              <a:spcBef>
                <a:spcPts val="90"/>
              </a:spcBef>
              <a:buAutoNum type="arabicPlain" startAt="7"/>
              <a:tabLst>
                <a:tab pos="88900" algn="l"/>
              </a:tabLst>
            </a:pPr>
            <a:r>
              <a:rPr dirty="0" sz="800" spc="5">
                <a:latin typeface="Arial MT"/>
                <a:cs typeface="Arial MT"/>
              </a:rPr>
              <a:t>-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Portfolios</a:t>
            </a:r>
            <a:endParaRPr sz="800">
              <a:latin typeface="Arial MT"/>
              <a:cs typeface="Arial MT"/>
            </a:endParaRPr>
          </a:p>
          <a:p>
            <a:pPr marL="88900" indent="-76200">
              <a:lnSpc>
                <a:spcPct val="100000"/>
              </a:lnSpc>
              <a:spcBef>
                <a:spcPts val="90"/>
              </a:spcBef>
              <a:buAutoNum type="arabicPlain" startAt="7"/>
              <a:tabLst>
                <a:tab pos="88900" algn="l"/>
              </a:tabLst>
            </a:pPr>
            <a:r>
              <a:rPr dirty="0" sz="800" spc="5">
                <a:latin typeface="Arial MT"/>
                <a:cs typeface="Arial MT"/>
              </a:rPr>
              <a:t>-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Other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19850" y="6762750"/>
            <a:ext cx="94869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10" b="1">
                <a:latin typeface="Arial"/>
                <a:cs typeface="Arial"/>
              </a:rPr>
              <a:t>Evaluation</a:t>
            </a:r>
            <a:r>
              <a:rPr dirty="0" sz="800" spc="-20" b="1">
                <a:latin typeface="Arial"/>
                <a:cs typeface="Arial"/>
              </a:rPr>
              <a:t> </a:t>
            </a:r>
            <a:r>
              <a:rPr dirty="0" sz="800" spc="15" b="1">
                <a:latin typeface="Arial"/>
                <a:cs typeface="Arial"/>
              </a:rPr>
              <a:t>Codes: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81775" y="6898005"/>
            <a:ext cx="605790" cy="425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9400"/>
              </a:lnSpc>
              <a:spcBef>
                <a:spcPts val="95"/>
              </a:spcBef>
            </a:pPr>
            <a:r>
              <a:rPr dirty="0" sz="800" spc="15">
                <a:latin typeface="Arial MT"/>
                <a:cs typeface="Arial MT"/>
              </a:rPr>
              <a:t>C</a:t>
            </a:r>
            <a:r>
              <a:rPr dirty="0" sz="800" spc="-7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-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-15">
                <a:latin typeface="Arial MT"/>
                <a:cs typeface="Arial MT"/>
              </a:rPr>
              <a:t>Continue  </a:t>
            </a:r>
            <a:r>
              <a:rPr dirty="0" sz="800" spc="80">
                <a:latin typeface="Arial MT"/>
                <a:cs typeface="Arial MT"/>
              </a:rPr>
              <a:t>M</a:t>
            </a:r>
            <a:r>
              <a:rPr dirty="0" sz="800" spc="5">
                <a:latin typeface="Arial MT"/>
                <a:cs typeface="Arial MT"/>
              </a:rPr>
              <a:t>-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Mastered  </a:t>
            </a:r>
            <a:r>
              <a:rPr dirty="0" sz="800" spc="15">
                <a:latin typeface="Arial MT"/>
                <a:cs typeface="Arial MT"/>
              </a:rPr>
              <a:t>P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-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Progress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3200" y="889000"/>
            <a:ext cx="7343775" cy="9525"/>
          </a:xfrm>
          <a:custGeom>
            <a:avLst/>
            <a:gdLst/>
            <a:ahLst/>
            <a:cxnLst/>
            <a:rect l="l" t="t" r="r" b="b"/>
            <a:pathLst>
              <a:path w="7343775" h="9525">
                <a:moveTo>
                  <a:pt x="7343775" y="0"/>
                </a:moveTo>
                <a:lnTo>
                  <a:pt x="0" y="0"/>
                </a:lnTo>
                <a:lnTo>
                  <a:pt x="0" y="9525"/>
                </a:lnTo>
                <a:lnTo>
                  <a:pt x="7343775" y="9525"/>
                </a:lnTo>
                <a:lnTo>
                  <a:pt x="7343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3200" y="946150"/>
          <a:ext cx="7348855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67125"/>
                <a:gridCol w="581025"/>
                <a:gridCol w="1905000"/>
                <a:gridCol w="1181100"/>
              </a:tblGrid>
              <a:tr h="295275"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65" b="1">
                          <a:latin typeface="Arial"/>
                          <a:cs typeface="Arial"/>
                        </a:rPr>
                        <a:t>Assessment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5080" indent="190500">
                        <a:lnSpc>
                          <a:spcPct val="109400"/>
                        </a:lnSpc>
                        <a:spcBef>
                          <a:spcPts val="45"/>
                        </a:spcBef>
                      </a:pPr>
                      <a:r>
                        <a:rPr dirty="0" sz="800" spc="-5" b="1">
                          <a:latin typeface="Arial"/>
                          <a:cs typeface="Arial"/>
                        </a:rPr>
                        <a:t>Will </a:t>
                      </a:r>
                      <a:r>
                        <a:rPr dirty="0" sz="8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0" b="1">
                          <a:latin typeface="Arial"/>
                          <a:cs typeface="Arial"/>
                        </a:rPr>
                        <a:t>Participate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59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25" b="1">
                          <a:latin typeface="Arial"/>
                          <a:cs typeface="Arial"/>
                        </a:rPr>
                        <a:t>School</a:t>
                      </a:r>
                      <a:r>
                        <a:rPr dirty="0" sz="8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5" b="1">
                          <a:latin typeface="Arial"/>
                          <a:cs typeface="Arial"/>
                        </a:rPr>
                        <a:t>Year(s)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35" b="1">
                          <a:latin typeface="Arial"/>
                          <a:cs typeface="Arial"/>
                        </a:rPr>
                        <a:t>Grade(s)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03200" y="1555750"/>
            <a:ext cx="7343775" cy="9525"/>
          </a:xfrm>
          <a:custGeom>
            <a:avLst/>
            <a:gdLst/>
            <a:ahLst/>
            <a:cxnLst/>
            <a:rect l="l" t="t" r="r" b="b"/>
            <a:pathLst>
              <a:path w="7343775" h="9525">
                <a:moveTo>
                  <a:pt x="7343775" y="0"/>
                </a:moveTo>
                <a:lnTo>
                  <a:pt x="0" y="0"/>
                </a:lnTo>
                <a:lnTo>
                  <a:pt x="0" y="9525"/>
                </a:lnTo>
                <a:lnTo>
                  <a:pt x="7343775" y="9525"/>
                </a:lnTo>
                <a:lnTo>
                  <a:pt x="7343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3200" y="1612900"/>
          <a:ext cx="3910329" cy="352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5825"/>
                <a:gridCol w="1914525"/>
                <a:gridCol w="1095375"/>
              </a:tblGrid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10" b="1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8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Participate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59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25" b="1">
                          <a:latin typeface="Arial"/>
                          <a:cs typeface="Arial"/>
                        </a:rPr>
                        <a:t>School</a:t>
                      </a:r>
                      <a:r>
                        <a:rPr dirty="0" sz="8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5" b="1">
                          <a:latin typeface="Arial"/>
                          <a:cs typeface="Arial"/>
                        </a:rPr>
                        <a:t>Year(s)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35" b="1">
                          <a:latin typeface="Arial"/>
                          <a:cs typeface="Arial"/>
                        </a:rPr>
                        <a:t>Grade(s)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Y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-5">
                          <a:latin typeface="Arial MT"/>
                          <a:cs typeface="Arial MT"/>
                        </a:rPr>
                        <a:t>2021-2022,</a:t>
                      </a:r>
                      <a:r>
                        <a:rPr dirty="0" sz="95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2022-2023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25">
                          <a:latin typeface="Arial MT"/>
                          <a:cs typeface="Arial MT"/>
                        </a:rPr>
                        <a:t>K/1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03200" y="2270125"/>
            <a:ext cx="7343775" cy="9525"/>
          </a:xfrm>
          <a:custGeom>
            <a:avLst/>
            <a:gdLst/>
            <a:ahLst/>
            <a:cxnLst/>
            <a:rect l="l" t="t" r="r" b="b"/>
            <a:pathLst>
              <a:path w="7343775" h="9525">
                <a:moveTo>
                  <a:pt x="7343775" y="0"/>
                </a:moveTo>
                <a:lnTo>
                  <a:pt x="0" y="0"/>
                </a:lnTo>
                <a:lnTo>
                  <a:pt x="0" y="9525"/>
                </a:lnTo>
                <a:lnTo>
                  <a:pt x="7343775" y="9525"/>
                </a:lnTo>
                <a:lnTo>
                  <a:pt x="7343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03200" y="2327275"/>
          <a:ext cx="7348855" cy="1000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7000"/>
                <a:gridCol w="180975"/>
                <a:gridCol w="180975"/>
                <a:gridCol w="180975"/>
                <a:gridCol w="2438400"/>
                <a:gridCol w="1504950"/>
                <a:gridCol w="180975"/>
              </a:tblGrid>
              <a:tr h="990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3095">
                        <a:lnSpc>
                          <a:spcPct val="100000"/>
                        </a:lnSpc>
                      </a:pPr>
                      <a:r>
                        <a:rPr dirty="0" sz="800" spc="45" b="1">
                          <a:latin typeface="Arial"/>
                          <a:cs typeface="Arial"/>
                        </a:rPr>
                        <a:t>Assessment/Content</a:t>
                      </a:r>
                      <a:r>
                        <a:rPr dirty="0" sz="800" spc="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45" b="1">
                          <a:latin typeface="Arial"/>
                          <a:cs typeface="Arial"/>
                        </a:rPr>
                        <a:t>Area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35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800" spc="-5" b="1">
                          <a:latin typeface="Arial"/>
                          <a:cs typeface="Arial"/>
                        </a:rPr>
                        <a:t>STAAR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6670" vert="vert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800" spc="10" b="1">
                          <a:latin typeface="Arial"/>
                          <a:cs typeface="Arial"/>
                        </a:rPr>
                        <a:t>STAAR-Spanish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6670" vert="vert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800" spc="20" b="1">
                          <a:latin typeface="Arial"/>
                          <a:cs typeface="Arial"/>
                        </a:rPr>
                        <a:t>STAAR-Alternate</a:t>
                      </a:r>
                      <a:r>
                        <a:rPr dirty="0" sz="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0" b="1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6670" vert="vert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10160">
                        <a:lnSpc>
                          <a:spcPct val="100000"/>
                        </a:lnSpc>
                      </a:pPr>
                      <a:r>
                        <a:rPr dirty="0" sz="800" spc="25" b="1">
                          <a:latin typeface="Arial"/>
                          <a:cs typeface="Arial"/>
                        </a:rPr>
                        <a:t>School</a:t>
                      </a:r>
                      <a:r>
                        <a:rPr dirty="0" sz="8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5" b="1">
                          <a:latin typeface="Arial"/>
                          <a:cs typeface="Arial"/>
                        </a:rPr>
                        <a:t>Year(s)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12700">
                        <a:lnSpc>
                          <a:spcPct val="100000"/>
                        </a:lnSpc>
                      </a:pPr>
                      <a:r>
                        <a:rPr dirty="0" sz="800" spc="35" b="1">
                          <a:latin typeface="Arial"/>
                          <a:cs typeface="Arial"/>
                        </a:rPr>
                        <a:t>Grade(s)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800" spc="25" b="1">
                          <a:latin typeface="Arial"/>
                          <a:cs typeface="Arial"/>
                        </a:rPr>
                        <a:t>Taken</a:t>
                      </a:r>
                      <a:r>
                        <a:rPr dirty="0" sz="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5" b="1">
                          <a:latin typeface="Arial"/>
                          <a:cs typeface="Arial"/>
                        </a:rPr>
                        <a:t>Virtually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6670" vert="vert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1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12725" y="4518025"/>
          <a:ext cx="7329805" cy="171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800"/>
                <a:gridCol w="2486025"/>
                <a:gridCol w="571500"/>
                <a:gridCol w="523875"/>
              </a:tblGrid>
              <a:tr h="161925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35" b="1">
                          <a:latin typeface="Arial"/>
                          <a:cs typeface="Arial"/>
                        </a:rPr>
                        <a:t>Accommodation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35" b="1">
                          <a:latin typeface="Arial"/>
                          <a:cs typeface="Arial"/>
                        </a:rPr>
                        <a:t>Notes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10" b="1">
                          <a:latin typeface="Arial"/>
                          <a:cs typeface="Arial"/>
                        </a:rPr>
                        <a:t>Start</a:t>
                      </a:r>
                      <a:r>
                        <a:rPr dirty="0" sz="8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Date*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-15" b="1">
                          <a:latin typeface="Arial"/>
                          <a:cs typeface="Arial"/>
                        </a:rPr>
                        <a:t>En</a:t>
                      </a:r>
                      <a:r>
                        <a:rPr dirty="0" sz="800" b="1">
                          <a:latin typeface="Arial"/>
                          <a:cs typeface="Arial"/>
                        </a:rPr>
                        <a:t>d</a:t>
                      </a:r>
                      <a:r>
                        <a:rPr dirty="0" sz="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latin typeface="Arial"/>
                          <a:cs typeface="Arial"/>
                        </a:rPr>
                        <a:t>Date*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07962" y="312737"/>
            <a:ext cx="7334250" cy="219075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200" spc="-5" b="1">
                <a:latin typeface="Arial"/>
                <a:cs typeface="Arial"/>
              </a:rPr>
              <a:t>PARTICIPATION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STATE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DISTRICT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ASSESSMENT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PROGRAM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025" y="666750"/>
            <a:ext cx="19577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District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Wide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Assessments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0025" y="1333500"/>
            <a:ext cx="3317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State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Test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K-2: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Early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Reading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Assessment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0025" y="2047875"/>
            <a:ext cx="4470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State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of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Texas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Assessments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of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Academic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Readiness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(STAAR)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0025" y="3301365"/>
            <a:ext cx="2797175" cy="46355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950" spc="5" b="1">
                <a:latin typeface="Arial"/>
                <a:cs typeface="Arial"/>
              </a:rPr>
              <a:t>Justification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spc="5" b="1">
                <a:latin typeface="Arial"/>
                <a:cs typeface="Arial"/>
              </a:rPr>
              <a:t>for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spc="5" b="1">
                <a:latin typeface="Arial"/>
                <a:cs typeface="Arial"/>
              </a:rPr>
              <a:t>Alternate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spc="5" b="1">
                <a:latin typeface="Arial"/>
                <a:cs typeface="Arial"/>
              </a:rPr>
              <a:t>Assessment:</a:t>
            </a:r>
            <a:endParaRPr sz="950">
              <a:latin typeface="Arial"/>
              <a:cs typeface="Arial"/>
            </a:endParaRPr>
          </a:p>
          <a:p>
            <a:pPr marL="193675">
              <a:lnSpc>
                <a:spcPct val="100000"/>
              </a:lnSpc>
              <a:spcBef>
                <a:spcPts val="585"/>
              </a:spcBef>
            </a:pPr>
            <a:r>
              <a:rPr dirty="0" sz="950" spc="10">
                <a:latin typeface="Arial MT"/>
                <a:cs typeface="Arial MT"/>
              </a:rPr>
              <a:t>K-2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early reading assessment to be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attempted.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7962" y="3884612"/>
            <a:ext cx="7334250" cy="219075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200" spc="-10" b="1">
                <a:latin typeface="Arial"/>
                <a:cs typeface="Arial"/>
              </a:rPr>
              <a:t>Statement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of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Intensive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Program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of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Instruction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9550" y="4248150"/>
            <a:ext cx="2788920" cy="602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Assessment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Accommodations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50" spc="10">
                <a:latin typeface="Arial MT"/>
                <a:cs typeface="Arial MT"/>
              </a:rPr>
              <a:t>*N/A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if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will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be</a:t>
            </a:r>
            <a:r>
              <a:rPr dirty="0" sz="950" spc="15">
                <a:latin typeface="Arial MT"/>
                <a:cs typeface="Arial MT"/>
              </a:rPr>
              <a:t> same </a:t>
            </a:r>
            <a:r>
              <a:rPr dirty="0" sz="950" spc="10">
                <a:latin typeface="Arial MT"/>
                <a:cs typeface="Arial MT"/>
              </a:rPr>
              <a:t>as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start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end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dates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IEP.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3200" y="717550"/>
          <a:ext cx="7348855" cy="396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95850"/>
                <a:gridCol w="228600"/>
                <a:gridCol w="228600"/>
                <a:gridCol w="228600"/>
                <a:gridCol w="228600"/>
                <a:gridCol w="228600"/>
                <a:gridCol w="647700"/>
                <a:gridCol w="647700"/>
              </a:tblGrid>
              <a:tr h="295275">
                <a:tc>
                  <a:txBody>
                    <a:bodyPr/>
                    <a:lstStyle/>
                    <a:p>
                      <a:pPr marL="5378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20" b="1">
                          <a:latin typeface="Arial"/>
                          <a:cs typeface="Arial"/>
                        </a:rPr>
                        <a:t>SERVICES/SUPPORTS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 (provided</a:t>
                      </a:r>
                      <a:r>
                        <a:rPr dirty="0" sz="80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routinely and/or</a:t>
                      </a:r>
                      <a:r>
                        <a:rPr dirty="0" sz="80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during</a:t>
                      </a:r>
                      <a:r>
                        <a:rPr dirty="0" sz="80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testing situations)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42545" marR="29845" indent="180975">
                        <a:lnSpc>
                          <a:spcPct val="109400"/>
                        </a:lnSpc>
                        <a:spcBef>
                          <a:spcPts val="45"/>
                        </a:spcBef>
                      </a:pPr>
                      <a:r>
                        <a:rPr dirty="0" sz="800" spc="-25" b="1">
                          <a:latin typeface="Arial"/>
                          <a:cs typeface="Arial"/>
                        </a:rPr>
                        <a:t>LOCATIO</a:t>
                      </a:r>
                      <a:r>
                        <a:rPr dirty="0" sz="800" b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8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5" b="1">
                          <a:latin typeface="Arial"/>
                          <a:cs typeface="Arial"/>
                        </a:rPr>
                        <a:t>OF  </a:t>
                      </a:r>
                      <a:r>
                        <a:rPr dirty="0" sz="800" spc="-35" b="1">
                          <a:latin typeface="Arial"/>
                          <a:cs typeface="Arial"/>
                        </a:rPr>
                        <a:t>SERVICES/SUPPORTS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10" b="1">
                          <a:latin typeface="Arial"/>
                          <a:cs typeface="Arial"/>
                        </a:rPr>
                        <a:t>Start/End</a:t>
                      </a:r>
                      <a:r>
                        <a:rPr dirty="0" sz="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Dates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23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2042795" marR="2027555">
                        <a:lnSpc>
                          <a:spcPct val="109400"/>
                        </a:lnSpc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Frequency </a:t>
                      </a:r>
                      <a:r>
                        <a:rPr dirty="0" sz="800" spc="5">
                          <a:latin typeface="Arial MT"/>
                          <a:cs typeface="Arial MT"/>
                        </a:rPr>
                        <a:t>Codes </a:t>
                      </a:r>
                      <a:r>
                        <a:rPr dirty="0" sz="800" spc="-2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30">
                          <a:latin typeface="Arial MT"/>
                          <a:cs typeface="Arial MT"/>
                        </a:rPr>
                        <a:t>D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8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30">
                          <a:latin typeface="Arial MT"/>
                          <a:cs typeface="Arial MT"/>
                        </a:rPr>
                        <a:t>Daily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algn="ctr" marL="2204720" marR="2199640">
                        <a:lnSpc>
                          <a:spcPct val="109400"/>
                        </a:lnSpc>
                      </a:pPr>
                      <a:r>
                        <a:rPr dirty="0" sz="800" spc="-20">
                          <a:latin typeface="Arial MT"/>
                          <a:cs typeface="Arial MT"/>
                        </a:rPr>
                        <a:t>W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15">
                          <a:latin typeface="Arial MT"/>
                          <a:cs typeface="Arial MT"/>
                        </a:rPr>
                        <a:t>Weekly  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8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25">
                          <a:latin typeface="Arial MT"/>
                          <a:cs typeface="Arial MT"/>
                        </a:rPr>
                        <a:t>Monthly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02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00" spc="15" b="1">
                          <a:latin typeface="Arial"/>
                          <a:cs typeface="Arial"/>
                        </a:rPr>
                        <a:t>Reading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5720" vert="vert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00" spc="40" b="1">
                          <a:latin typeface="Arial"/>
                          <a:cs typeface="Arial"/>
                        </a:rPr>
                        <a:t>Math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5720" vert="vert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977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00" spc="25" b="1">
                          <a:latin typeface="Arial"/>
                          <a:cs typeface="Arial"/>
                        </a:rPr>
                        <a:t>Science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5720" vert="vert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00" spc="15" b="1">
                          <a:latin typeface="Arial"/>
                          <a:cs typeface="Arial"/>
                        </a:rPr>
                        <a:t>Social</a:t>
                      </a:r>
                      <a:r>
                        <a:rPr dirty="0" sz="8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0" b="1">
                          <a:latin typeface="Arial"/>
                          <a:cs typeface="Arial"/>
                        </a:rPr>
                        <a:t>Studies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5720" vert="vert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00" spc="30" b="1">
                          <a:latin typeface="Arial"/>
                          <a:cs typeface="Arial"/>
                        </a:rPr>
                        <a:t>Music/PE/Computers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5720" vert="vert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dirty="0" sz="800">
                          <a:latin typeface="Arial MT"/>
                          <a:cs typeface="Arial MT"/>
                        </a:rPr>
                        <a:t>Same</a:t>
                      </a:r>
                      <a:r>
                        <a:rPr dirty="0" sz="8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as</a:t>
                      </a:r>
                      <a:r>
                        <a:rPr dirty="0" sz="8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IEP</a:t>
                      </a:r>
                      <a:r>
                        <a:rPr dirty="0" sz="8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5">
                          <a:latin typeface="Arial MT"/>
                          <a:cs typeface="Arial MT"/>
                        </a:rPr>
                        <a:t>unless</a:t>
                      </a:r>
                      <a:r>
                        <a:rPr dirty="0" sz="8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10">
                          <a:latin typeface="Arial MT"/>
                          <a:cs typeface="Arial MT"/>
                        </a:rPr>
                        <a:t>noted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0975">
                <a:tc gridSpan="8"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5" b="1">
                          <a:latin typeface="Arial"/>
                          <a:cs typeface="Arial"/>
                        </a:rPr>
                        <a:t>Presentation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097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Checking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understanding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directions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Clarified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vocabulary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check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understanding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Use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visual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aids+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[pictures/flash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cards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etc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Visual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schedule]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Other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[Shortened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instructions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(1-2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steps)]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 gridSpan="8"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-15" b="1">
                          <a:latin typeface="Arial"/>
                          <a:cs typeface="Arial"/>
                        </a:rPr>
                        <a:t>Responses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097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Communication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device+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[Core</a:t>
                      </a:r>
                      <a:r>
                        <a:rPr dirty="0" sz="9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board]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 gridSpan="8"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25" b="1">
                          <a:latin typeface="Arial"/>
                          <a:cs typeface="Arial"/>
                        </a:rPr>
                        <a:t>Timing/Scheduling/Participation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097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Clearly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defined/consistent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limits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Supervision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during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transitions</a:t>
                      </a:r>
                      <a:r>
                        <a:rPr dirty="0" sz="9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[Frequent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eye contact/proximity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control]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Cooling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Off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Period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[Time out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teacher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initiated]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Other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[Frequent</a:t>
                      </a:r>
                      <a:r>
                        <a:rPr dirty="0" sz="9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feedback]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 gridSpan="8"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 b="1">
                          <a:latin typeface="Arial"/>
                          <a:cs typeface="Arial"/>
                        </a:rPr>
                        <a:t>Adjustments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Pacing and/or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Content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097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Alternative</a:t>
                      </a:r>
                      <a:r>
                        <a:rPr dirty="0" sz="95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curriculum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3200" y="5432425"/>
          <a:ext cx="7348855" cy="3371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025"/>
                <a:gridCol w="447675"/>
                <a:gridCol w="514350"/>
                <a:gridCol w="800100"/>
                <a:gridCol w="2705100"/>
              </a:tblGrid>
              <a:tr h="161925"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20" b="1">
                          <a:latin typeface="Arial"/>
                          <a:cs typeface="Arial"/>
                        </a:rPr>
                        <a:t>Educational Alternative/Strategy/Support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20" b="1">
                          <a:latin typeface="Arial"/>
                          <a:cs typeface="Arial"/>
                        </a:rPr>
                        <a:t>Action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35" b="1">
                          <a:latin typeface="Arial"/>
                          <a:cs typeface="Arial"/>
                        </a:rPr>
                        <a:t>Results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95044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30" b="1">
                          <a:latin typeface="Arial"/>
                          <a:cs typeface="Arial"/>
                        </a:rPr>
                        <a:t>Reasons</a:t>
                      </a:r>
                      <a:r>
                        <a:rPr dirty="0" sz="80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0" b="1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80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5" b="1">
                          <a:latin typeface="Arial"/>
                          <a:cs typeface="Arial"/>
                        </a:rPr>
                        <a:t>Lack</a:t>
                      </a:r>
                      <a:r>
                        <a:rPr dirty="0" sz="80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80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30" b="1">
                          <a:latin typeface="Arial"/>
                          <a:cs typeface="Arial"/>
                        </a:rPr>
                        <a:t>Success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09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General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education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classroom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C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NA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4,</a:t>
                      </a:r>
                      <a:r>
                        <a:rPr dirty="0" sz="95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14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15"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650" spc="25" b="1">
                          <a:latin typeface="Arial"/>
                          <a:cs typeface="Arial"/>
                        </a:rPr>
                        <a:t>Reasons</a:t>
                      </a:r>
                      <a:r>
                        <a:rPr dirty="0" sz="6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20" b="1">
                          <a:latin typeface="Arial"/>
                          <a:cs typeface="Arial"/>
                        </a:rPr>
                        <a:t>efforts</a:t>
                      </a:r>
                      <a:r>
                        <a:rPr dirty="0" sz="6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25" b="1">
                          <a:latin typeface="Arial"/>
                          <a:cs typeface="Arial"/>
                        </a:rPr>
                        <a:t>were</a:t>
                      </a:r>
                      <a:r>
                        <a:rPr dirty="0" sz="65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20" b="1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6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25" b="1">
                          <a:latin typeface="Arial"/>
                          <a:cs typeface="Arial"/>
                        </a:rPr>
                        <a:t>successful:</a:t>
                      </a:r>
                      <a:endParaRPr sz="650">
                        <a:latin typeface="Arial"/>
                        <a:cs typeface="Arial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650" spc="10" i="1">
                          <a:latin typeface="Arial"/>
                          <a:cs typeface="Arial"/>
                        </a:rPr>
                        <a:t>(Write</a:t>
                      </a:r>
                      <a:r>
                        <a:rPr dirty="0" sz="6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10" i="1">
                          <a:latin typeface="Arial"/>
                          <a:cs typeface="Arial"/>
                        </a:rPr>
                        <a:t>numbers</a:t>
                      </a:r>
                      <a:r>
                        <a:rPr dirty="0" sz="650" spc="5" i="1">
                          <a:latin typeface="Arial"/>
                          <a:cs typeface="Arial"/>
                        </a:rPr>
                        <a:t> in</a:t>
                      </a:r>
                      <a:r>
                        <a:rPr dirty="0" sz="6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10" i="1">
                          <a:latin typeface="Arial"/>
                          <a:cs typeface="Arial"/>
                        </a:rPr>
                        <a:t>Reasons</a:t>
                      </a:r>
                      <a:r>
                        <a:rPr dirty="0" sz="650" spc="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 spc="10" i="1">
                          <a:latin typeface="Arial"/>
                          <a:cs typeface="Arial"/>
                        </a:rPr>
                        <a:t>column)</a:t>
                      </a:r>
                      <a:endParaRPr sz="650">
                        <a:latin typeface="Arial"/>
                        <a:cs typeface="Arial"/>
                      </a:endParaRPr>
                    </a:p>
                    <a:p>
                      <a:pPr marL="156845" indent="-95885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0">
                          <a:latin typeface="Arial MT"/>
                          <a:cs typeface="Arial MT"/>
                        </a:rPr>
                        <a:t>Limited</a:t>
                      </a:r>
                      <a:r>
                        <a:rPr dirty="0" sz="6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social</a:t>
                      </a:r>
                      <a:r>
                        <a:rPr dirty="0" sz="6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skills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95885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0">
                          <a:latin typeface="Arial MT"/>
                          <a:cs typeface="Arial MT"/>
                        </a:rPr>
                        <a:t>High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student</a:t>
                      </a:r>
                      <a:r>
                        <a:rPr dirty="0" sz="6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frustration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95885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5">
                          <a:latin typeface="Arial MT"/>
                          <a:cs typeface="Arial MT"/>
                        </a:rPr>
                        <a:t>Lack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 of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0">
                          <a:latin typeface="Arial MT"/>
                          <a:cs typeface="Arial MT"/>
                        </a:rPr>
                        <a:t>self-discipline/motivation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95885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5">
                          <a:latin typeface="Arial MT"/>
                          <a:cs typeface="Arial MT"/>
                        </a:rPr>
                        <a:t>Wide</a:t>
                      </a:r>
                      <a:r>
                        <a:rPr dirty="0" sz="6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difference</a:t>
                      </a:r>
                      <a:r>
                        <a:rPr dirty="0" sz="6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6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0">
                          <a:latin typeface="Arial MT"/>
                          <a:cs typeface="Arial MT"/>
                        </a:rPr>
                        <a:t>academic/developmental</a:t>
                      </a:r>
                      <a:r>
                        <a:rPr dirty="0" sz="6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levels</a:t>
                      </a:r>
                      <a:r>
                        <a:rPr dirty="0" sz="6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from</a:t>
                      </a:r>
                      <a:r>
                        <a:rPr dirty="0" sz="6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0">
                          <a:latin typeface="Arial MT"/>
                          <a:cs typeface="Arial MT"/>
                        </a:rPr>
                        <a:t>peers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95885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0">
                          <a:latin typeface="Arial MT"/>
                          <a:cs typeface="Arial MT"/>
                        </a:rPr>
                        <a:t>Pupil/Teacher</a:t>
                      </a:r>
                      <a:r>
                        <a:rPr dirty="0" sz="65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ratio</a:t>
                      </a:r>
                      <a:r>
                        <a:rPr dirty="0" sz="65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5">
                          <a:latin typeface="Arial MT"/>
                          <a:cs typeface="Arial MT"/>
                        </a:rPr>
                        <a:t>too</a:t>
                      </a:r>
                      <a:r>
                        <a:rPr dirty="0" sz="65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large</a:t>
                      </a:r>
                      <a:r>
                        <a:rPr dirty="0" sz="65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5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65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student</a:t>
                      </a:r>
                      <a:r>
                        <a:rPr dirty="0" sz="65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success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95885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5">
                          <a:latin typeface="Arial MT"/>
                          <a:cs typeface="Arial MT"/>
                        </a:rPr>
                        <a:t>Differences</a:t>
                      </a:r>
                      <a:r>
                        <a:rPr dirty="0" sz="650" spc="15">
                          <a:latin typeface="Arial MT"/>
                          <a:cs typeface="Arial MT"/>
                        </a:rPr>
                        <a:t> in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processing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capabilities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95885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5">
                          <a:latin typeface="Arial MT"/>
                          <a:cs typeface="Arial MT"/>
                        </a:rPr>
                        <a:t>Unresponsive</a:t>
                      </a:r>
                      <a:r>
                        <a:rPr dirty="0" sz="6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65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classroom</a:t>
                      </a:r>
                      <a:r>
                        <a:rPr dirty="0" sz="6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environment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95885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30">
                          <a:latin typeface="Arial MT"/>
                          <a:cs typeface="Arial MT"/>
                        </a:rPr>
                        <a:t>Insufficient</a:t>
                      </a:r>
                      <a:r>
                        <a:rPr dirty="0" sz="65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0">
                          <a:latin typeface="Arial MT"/>
                          <a:cs typeface="Arial MT"/>
                        </a:rPr>
                        <a:t>time</a:t>
                      </a:r>
                      <a:r>
                        <a:rPr dirty="0" sz="65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650" spc="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0">
                          <a:latin typeface="Arial MT"/>
                          <a:cs typeface="Arial MT"/>
                        </a:rPr>
                        <a:t>skills</a:t>
                      </a:r>
                      <a:r>
                        <a:rPr dirty="0" sz="65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40">
                          <a:latin typeface="Arial MT"/>
                          <a:cs typeface="Arial MT"/>
                        </a:rPr>
                        <a:t>mastery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95885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30">
                          <a:latin typeface="Arial MT"/>
                          <a:cs typeface="Arial MT"/>
                        </a:rPr>
                        <a:t>Difficultywith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latin typeface="Arial MT"/>
                          <a:cs typeface="Arial MT"/>
                        </a:rPr>
                        <a:t>transitions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143510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0">
                          <a:latin typeface="Arial MT"/>
                          <a:cs typeface="Arial MT"/>
                        </a:rPr>
                        <a:t>Pre-occupation</a:t>
                      </a:r>
                      <a:r>
                        <a:rPr dirty="0" sz="650" spc="15">
                          <a:latin typeface="Arial MT"/>
                          <a:cs typeface="Arial MT"/>
                        </a:rPr>
                        <a:t> with 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emotional/coping</a:t>
                      </a:r>
                      <a:r>
                        <a:rPr dirty="0" sz="6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issues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143510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5">
                          <a:latin typeface="Arial MT"/>
                          <a:cs typeface="Arial MT"/>
                        </a:rPr>
                        <a:t>Regular</a:t>
                      </a:r>
                      <a:r>
                        <a:rPr dirty="0" sz="6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class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overstimulating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143510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30">
                          <a:latin typeface="Arial MT"/>
                          <a:cs typeface="Arial MT"/>
                        </a:rPr>
                        <a:t>Excessive</a:t>
                      </a:r>
                      <a:r>
                        <a:rPr dirty="0" sz="6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0">
                          <a:latin typeface="Arial MT"/>
                          <a:cs typeface="Arial MT"/>
                        </a:rPr>
                        <a:t>absences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143510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0">
                          <a:latin typeface="Arial MT"/>
                          <a:cs typeface="Arial MT"/>
                        </a:rPr>
                        <a:t>Medical</a:t>
                      </a:r>
                      <a:r>
                        <a:rPr dirty="0" sz="6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issues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143510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5">
                          <a:latin typeface="Arial MT"/>
                          <a:cs typeface="Arial MT"/>
                        </a:rPr>
                        <a:t>Need</a:t>
                      </a:r>
                      <a:r>
                        <a:rPr dirty="0" sz="6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5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6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more</a:t>
                      </a:r>
                      <a:r>
                        <a:rPr dirty="0" sz="6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intensive</a:t>
                      </a:r>
                      <a:r>
                        <a:rPr dirty="0" sz="6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0">
                          <a:latin typeface="Arial MT"/>
                          <a:cs typeface="Arial MT"/>
                        </a:rPr>
                        <a:t>support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143510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0">
                          <a:latin typeface="Arial MT"/>
                          <a:cs typeface="Arial MT"/>
                        </a:rPr>
                        <a:t>Non-attendance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143510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5">
                          <a:latin typeface="Arial MT"/>
                          <a:cs typeface="Arial MT"/>
                        </a:rPr>
                        <a:t>Work</a:t>
                      </a:r>
                      <a:r>
                        <a:rPr dirty="0" sz="65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6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above</a:t>
                      </a:r>
                      <a:r>
                        <a:rPr dirty="0" sz="6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their</a:t>
                      </a:r>
                      <a:r>
                        <a:rPr dirty="0" sz="65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0">
                          <a:latin typeface="Arial MT"/>
                          <a:cs typeface="Arial MT"/>
                        </a:rPr>
                        <a:t>level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143510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35">
                          <a:latin typeface="Arial MT"/>
                          <a:cs typeface="Arial MT"/>
                        </a:rPr>
                        <a:t>Lack</a:t>
                      </a:r>
                      <a:r>
                        <a:rPr dirty="0" sz="650" spc="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650" spc="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latin typeface="Arial MT"/>
                          <a:cs typeface="Arial MT"/>
                        </a:rPr>
                        <a:t>student</a:t>
                      </a:r>
                      <a:r>
                        <a:rPr dirty="0" sz="650" spc="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latin typeface="Arial MT"/>
                          <a:cs typeface="Arial MT"/>
                        </a:rPr>
                        <a:t>effort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143510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5">
                          <a:latin typeface="Arial MT"/>
                          <a:cs typeface="Arial MT"/>
                        </a:rPr>
                        <a:t>Need</a:t>
                      </a:r>
                      <a:r>
                        <a:rPr dirty="0" sz="6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5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6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behavior</a:t>
                      </a:r>
                      <a:r>
                        <a:rPr dirty="0" sz="6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0">
                          <a:latin typeface="Arial MT"/>
                          <a:cs typeface="Arial MT"/>
                        </a:rPr>
                        <a:t>modification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56845" indent="-143510">
                        <a:lnSpc>
                          <a:spcPct val="100000"/>
                        </a:lnSpc>
                        <a:spcBef>
                          <a:spcPts val="120"/>
                        </a:spcBef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5">
                          <a:latin typeface="Arial MT"/>
                          <a:cs typeface="Arial MT"/>
                        </a:rPr>
                        <a:t>Severity</a:t>
                      </a:r>
                      <a:r>
                        <a:rPr dirty="0" sz="6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6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disabilities</a:t>
                      </a:r>
                      <a:r>
                        <a:rPr dirty="0" sz="6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6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0">
                          <a:latin typeface="Arial MT"/>
                          <a:cs typeface="Arial MT"/>
                        </a:rPr>
                        <a:t>prohibitive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3970" marR="1033144">
                        <a:lnSpc>
                          <a:spcPct val="115399"/>
                        </a:lnSpc>
                        <a:buAutoNum type="arabicPlain"/>
                        <a:tabLst>
                          <a:tab pos="157480" algn="l"/>
                        </a:tabLst>
                      </a:pPr>
                      <a:r>
                        <a:rPr dirty="0" sz="650" spc="25">
                          <a:latin typeface="Arial MT"/>
                          <a:cs typeface="Arial MT"/>
                        </a:rPr>
                        <a:t>Need</a:t>
                      </a:r>
                      <a:r>
                        <a:rPr dirty="0" sz="65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5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6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more</a:t>
                      </a:r>
                      <a:r>
                        <a:rPr dirty="0" sz="6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0">
                          <a:latin typeface="Arial MT"/>
                          <a:cs typeface="Arial MT"/>
                        </a:rPr>
                        <a:t>individualized</a:t>
                      </a:r>
                      <a:r>
                        <a:rPr dirty="0" sz="6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latin typeface="Arial MT"/>
                          <a:cs typeface="Arial MT"/>
                        </a:rPr>
                        <a:t>services </a:t>
                      </a:r>
                      <a:r>
                        <a:rPr dirty="0" sz="650" spc="-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5">
                          <a:latin typeface="Arial MT"/>
                          <a:cs typeface="Arial MT"/>
                        </a:rPr>
                        <a:t>21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650" spc="5">
                          <a:latin typeface="Arial MT"/>
                          <a:cs typeface="Arial MT"/>
                        </a:rPr>
                        <a:t>22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13970" marR="176530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5">
                          <a:latin typeface="Arial MT"/>
                          <a:cs typeface="Arial MT"/>
                        </a:rPr>
                        <a:t>Accommodations</a:t>
                      </a:r>
                      <a:r>
                        <a:rPr dirty="0" sz="9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gen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curriculum,</a:t>
                      </a:r>
                      <a:r>
                        <a:rPr dirty="0" sz="9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instr/testing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procedures,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and/or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physical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arrangement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C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NA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4,</a:t>
                      </a:r>
                      <a:r>
                        <a:rPr dirty="0" sz="95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14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Self-contained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classroom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P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Speech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Therapy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P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Related</a:t>
                      </a:r>
                      <a:r>
                        <a:rPr dirty="0" sz="95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Services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P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Assistive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technology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P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3375">
                <a:tc gridSpan="5"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800" spc="-45" b="1">
                          <a:latin typeface="Arial"/>
                          <a:cs typeface="Arial"/>
                        </a:rPr>
                        <a:t>LEGEND:</a:t>
                      </a:r>
                      <a:r>
                        <a:rPr dirty="0" sz="800" spc="19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9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0" b="1">
                          <a:latin typeface="Arial"/>
                          <a:cs typeface="Arial"/>
                        </a:rPr>
                        <a:t>Action:  </a:t>
                      </a:r>
                      <a:r>
                        <a:rPr dirty="0" sz="800" spc="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5"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5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5">
                          <a:latin typeface="Arial MT"/>
                          <a:cs typeface="Arial MT"/>
                        </a:rPr>
                        <a:t>Considered,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15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5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5">
                          <a:latin typeface="Arial MT"/>
                          <a:cs typeface="Arial MT"/>
                        </a:rPr>
                        <a:t>Tried,</a:t>
                      </a:r>
                      <a:r>
                        <a:rPr dirty="0" sz="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15">
                          <a:latin typeface="Arial MT"/>
                          <a:cs typeface="Arial MT"/>
                        </a:rPr>
                        <a:t>P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5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5">
                          <a:latin typeface="Arial MT"/>
                          <a:cs typeface="Arial MT"/>
                        </a:rPr>
                        <a:t>Provided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5473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800" spc="25" b="1">
                          <a:latin typeface="Arial"/>
                          <a:cs typeface="Arial"/>
                        </a:rPr>
                        <a:t>Results:  </a:t>
                      </a:r>
                      <a:r>
                        <a:rPr dirty="0" sz="80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5">
                          <a:latin typeface="Arial MT"/>
                          <a:cs typeface="Arial MT"/>
                        </a:rPr>
                        <a:t>S</a:t>
                      </a:r>
                      <a:r>
                        <a:rPr dirty="0" sz="800" spc="5">
                          <a:latin typeface="Arial MT"/>
                          <a:cs typeface="Arial MT"/>
                        </a:rPr>
                        <a:t> - Successful, </a:t>
                      </a:r>
                      <a:r>
                        <a:rPr dirty="0" sz="800" spc="10">
                          <a:latin typeface="Arial MT"/>
                          <a:cs typeface="Arial MT"/>
                        </a:rPr>
                        <a:t>LS </a:t>
                      </a:r>
                      <a:r>
                        <a:rPr dirty="0" sz="800" spc="5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8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5">
                          <a:latin typeface="Arial MT"/>
                          <a:cs typeface="Arial MT"/>
                        </a:rPr>
                        <a:t>Limited Success, </a:t>
                      </a:r>
                      <a:r>
                        <a:rPr dirty="0" sz="800" spc="15"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8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5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8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5">
                          <a:latin typeface="Arial MT"/>
                          <a:cs typeface="Arial MT"/>
                        </a:rPr>
                        <a:t>Unsuccessful, </a:t>
                      </a:r>
                      <a:r>
                        <a:rPr dirty="0" sz="800" spc="10">
                          <a:latin typeface="Arial MT"/>
                          <a:cs typeface="Arial MT"/>
                        </a:rPr>
                        <a:t>NA </a:t>
                      </a:r>
                      <a:r>
                        <a:rPr dirty="0" sz="800" spc="5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8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5"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8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5">
                          <a:latin typeface="Arial MT"/>
                          <a:cs typeface="Arial MT"/>
                        </a:rPr>
                        <a:t>Appropriate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266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07962" y="207962"/>
            <a:ext cx="7334250" cy="409575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3970" marR="165100">
              <a:lnSpc>
                <a:spcPts val="1500"/>
              </a:lnSpc>
              <a:spcBef>
                <a:spcPts val="35"/>
              </a:spcBef>
            </a:pPr>
            <a:r>
              <a:rPr dirty="0" sz="1200" b="1">
                <a:latin typeface="Arial"/>
                <a:cs typeface="Arial"/>
              </a:rPr>
              <a:t>SUPPLEMENTARY AIDS AND SERVICES, INSTRUCTIONAL ACCOMMODATIONS AND SUPPORTS,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CONTENT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MODIFICATIONS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ASSESSMENT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ACCOMMODATIONS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962" y="4789487"/>
            <a:ext cx="7334250" cy="219075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200" spc="-5" b="1">
                <a:latin typeface="Arial"/>
                <a:cs typeface="Arial"/>
              </a:rPr>
              <a:t>Least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Restrictive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Environment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Consideration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025" y="5057775"/>
            <a:ext cx="6853555" cy="32639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65"/>
              </a:spcBef>
            </a:pPr>
            <a:r>
              <a:rPr dirty="0" sz="950" spc="15" b="1">
                <a:latin typeface="Arial"/>
                <a:cs typeface="Arial"/>
              </a:rPr>
              <a:t>Educational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Alternatives/Strategies/Supports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that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have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been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tried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to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support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this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student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in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the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general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education </a:t>
            </a:r>
            <a:r>
              <a:rPr dirty="0" sz="950" spc="20" b="1">
                <a:latin typeface="Arial"/>
                <a:cs typeface="Arial"/>
              </a:rPr>
              <a:t> </a:t>
            </a:r>
            <a:r>
              <a:rPr dirty="0" sz="950" spc="25" b="1">
                <a:latin typeface="Arial"/>
                <a:cs typeface="Arial"/>
              </a:rPr>
              <a:t>environment.</a:t>
            </a:r>
            <a:endParaRPr sz="9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25" y="9109075"/>
            <a:ext cx="123825" cy="1238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00025" y="8844915"/>
            <a:ext cx="6930390" cy="59690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950" spc="15" b="1">
                <a:latin typeface="Arial"/>
                <a:cs typeface="Arial"/>
              </a:rPr>
              <a:t>Issues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involved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in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educating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this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student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in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a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general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education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environment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with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supplemental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aids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and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services.</a:t>
            </a:r>
            <a:endParaRPr sz="950">
              <a:latin typeface="Arial"/>
              <a:cs typeface="Arial"/>
            </a:endParaRPr>
          </a:p>
          <a:p>
            <a:pPr marL="193675">
              <a:lnSpc>
                <a:spcPct val="100000"/>
              </a:lnSpc>
              <a:spcBef>
                <a:spcPts val="434"/>
              </a:spcBef>
            </a:pPr>
            <a:r>
              <a:rPr dirty="0" sz="950" spc="5">
                <a:latin typeface="Arial MT"/>
                <a:cs typeface="Arial MT"/>
              </a:rPr>
              <a:t>All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student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needs </a:t>
            </a:r>
            <a:r>
              <a:rPr dirty="0" sz="950" spc="10">
                <a:latin typeface="Arial MT"/>
                <a:cs typeface="Arial MT"/>
              </a:rPr>
              <a:t>can be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met </a:t>
            </a:r>
            <a:r>
              <a:rPr dirty="0" sz="950" spc="5">
                <a:latin typeface="Arial MT"/>
                <a:cs typeface="Arial MT"/>
              </a:rPr>
              <a:t>through the general education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environment.</a:t>
            </a:r>
            <a:endParaRPr sz="950">
              <a:latin typeface="Arial MT"/>
              <a:cs typeface="Arial MT"/>
            </a:endParaRPr>
          </a:p>
          <a:p>
            <a:pPr marL="193675">
              <a:lnSpc>
                <a:spcPct val="100000"/>
              </a:lnSpc>
              <a:spcBef>
                <a:spcPts val="209"/>
              </a:spcBef>
            </a:pPr>
            <a:r>
              <a:rPr dirty="0" sz="950" spc="-25" b="1" i="1">
                <a:latin typeface="Arial"/>
                <a:cs typeface="Arial"/>
              </a:rPr>
              <a:t>OR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1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3200" y="412750"/>
          <a:ext cx="7348855" cy="3848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3700"/>
                <a:gridCol w="4400550"/>
              </a:tblGrid>
              <a:tr h="16192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30" b="1">
                          <a:latin typeface="Arial"/>
                          <a:cs typeface="Arial"/>
                        </a:rPr>
                        <a:t>Student</a:t>
                      </a:r>
                      <a:r>
                        <a:rPr dirty="0" sz="8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40" b="1">
                          <a:latin typeface="Arial"/>
                          <a:cs typeface="Arial"/>
                        </a:rPr>
                        <a:t>Needs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25" b="1">
                          <a:latin typeface="Arial"/>
                          <a:cs typeface="Arial"/>
                        </a:rPr>
                        <a:t>Description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13970" marR="599440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Reading/Math/Science/Social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Studies/PSS/Handwriting/Spelling/English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266700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Instruction to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be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provided in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specialized setting for individualization of IEP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goals.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Speech</a:t>
                      </a:r>
                      <a:r>
                        <a:rPr dirty="0" sz="9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Therapy/Occupational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Therapy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Direct therapy provided based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previous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district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records.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Special</a:t>
                      </a:r>
                      <a:r>
                        <a:rPr dirty="0" sz="95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Transportation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70485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Specialized transportation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be provided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and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from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school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in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order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access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 centralized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program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all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community-based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activities.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centralized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program is determined to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be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the most appropriate least restrictive environment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to meet the student’s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functional and academic needs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as related to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their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disability.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Therapeutic</a:t>
                      </a:r>
                      <a:r>
                        <a:rPr dirty="0" sz="95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tumbling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163830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Therapeutic tumbling to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be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provided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3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times per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month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when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session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at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an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off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campus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site.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477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In-person/Virtual</a:t>
                      </a:r>
                      <a:r>
                        <a:rPr dirty="0" sz="95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learning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8890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ARD committee reviewed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schedule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of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services and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noted this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IEP reflects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services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and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supports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provided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when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school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session/face-to-face.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Bruce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 absent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an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extended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period of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time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due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COVID,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parent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chooses on-line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learning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model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throughout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an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entire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grade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period,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school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closed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due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to a state mandate, the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local education agency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provide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instruction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a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virtual/online format. Bruce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will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have equal access to appropriate learning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opportunities, which support the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IEP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goals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objectives. Teachers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related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service personnel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reach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out to parents to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begin the intended on-line plan.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Inclusion</a:t>
                      </a:r>
                      <a:r>
                        <a:rPr dirty="0" sz="95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Support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104139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Level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3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inclusion support is being provided through consultation between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special education teacher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and a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general education teacher for guidance in the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appropriate implementation of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the IEP. In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addition,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special education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teacher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will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provide direct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support to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the student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for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instructional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assistance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in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meeting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their academic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functional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needs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through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modified curriculum.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25" y="203200"/>
            <a:ext cx="123825" cy="1238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1000" y="190500"/>
            <a:ext cx="426974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following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needs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cannot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be</a:t>
            </a:r>
            <a:r>
              <a:rPr dirty="0" sz="950">
                <a:latin typeface="Arial MT"/>
                <a:cs typeface="Arial MT"/>
              </a:rPr>
              <a:t> fully </a:t>
            </a:r>
            <a:r>
              <a:rPr dirty="0" sz="950" spc="10">
                <a:latin typeface="Arial MT"/>
                <a:cs typeface="Arial MT"/>
              </a:rPr>
              <a:t>met</a:t>
            </a:r>
            <a:r>
              <a:rPr dirty="0" sz="950" spc="5">
                <a:latin typeface="Arial MT"/>
                <a:cs typeface="Arial MT"/>
              </a:rPr>
              <a:t> in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general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education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environment.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5680075"/>
            <a:ext cx="123825" cy="1238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6022975"/>
            <a:ext cx="123825" cy="1238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475" y="9290050"/>
            <a:ext cx="123825" cy="1238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7575" y="9290050"/>
            <a:ext cx="123825" cy="12382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0025" y="4301490"/>
            <a:ext cx="7226300" cy="514985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950" spc="15" b="1">
                <a:latin typeface="Arial"/>
                <a:cs typeface="Arial"/>
              </a:rPr>
              <a:t>Effects on</a:t>
            </a:r>
            <a:r>
              <a:rPr dirty="0" sz="950" spc="2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the</a:t>
            </a:r>
            <a:r>
              <a:rPr dirty="0" sz="950" spc="2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student</a:t>
            </a:r>
            <a:r>
              <a:rPr dirty="0" sz="950" spc="2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in</a:t>
            </a:r>
            <a:r>
              <a:rPr dirty="0" sz="950" spc="2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general</a:t>
            </a:r>
            <a:r>
              <a:rPr dirty="0" sz="950" spc="2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education</a:t>
            </a:r>
            <a:r>
              <a:rPr dirty="0" sz="950" spc="2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classroom</a:t>
            </a:r>
            <a:r>
              <a:rPr dirty="0" sz="950" spc="2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or environment:</a:t>
            </a:r>
            <a:endParaRPr sz="950">
              <a:latin typeface="Arial"/>
              <a:cs typeface="Arial"/>
            </a:endParaRPr>
          </a:p>
          <a:p>
            <a:pPr marL="193675" marR="5080">
              <a:lnSpc>
                <a:spcPct val="105300"/>
              </a:lnSpc>
              <a:spcBef>
                <a:spcPts val="375"/>
              </a:spcBef>
            </a:pPr>
            <a:r>
              <a:rPr dirty="0" sz="950" spc="10">
                <a:latin typeface="Arial MT"/>
                <a:cs typeface="Arial MT"/>
              </a:rPr>
              <a:t>The student has a need </a:t>
            </a:r>
            <a:r>
              <a:rPr dirty="0" sz="950" spc="5">
                <a:latin typeface="Arial MT"/>
                <a:cs typeface="Arial MT"/>
              </a:rPr>
              <a:t>for frequent personal </a:t>
            </a:r>
            <a:r>
              <a:rPr dirty="0" sz="950" spc="10">
                <a:latin typeface="Arial MT"/>
                <a:cs typeface="Arial MT"/>
              </a:rPr>
              <a:t>care </a:t>
            </a:r>
            <a:r>
              <a:rPr dirty="0" sz="950" spc="5">
                <a:latin typeface="Arial MT"/>
                <a:cs typeface="Arial MT"/>
              </a:rPr>
              <a:t>throughout the </a:t>
            </a:r>
            <a:r>
              <a:rPr dirty="0" sz="950" spc="10">
                <a:latin typeface="Arial MT"/>
                <a:cs typeface="Arial MT"/>
              </a:rPr>
              <a:t>day </a:t>
            </a:r>
            <a:r>
              <a:rPr dirty="0" sz="950" spc="5">
                <a:latin typeface="Arial MT"/>
                <a:cs typeface="Arial MT"/>
              </a:rPr>
              <a:t>which </a:t>
            </a:r>
            <a:r>
              <a:rPr dirty="0" sz="950" spc="10">
                <a:latin typeface="Arial MT"/>
                <a:cs typeface="Arial MT"/>
              </a:rPr>
              <a:t>cannot be met </a:t>
            </a:r>
            <a:r>
              <a:rPr dirty="0" sz="950" spc="5">
                <a:latin typeface="Arial MT"/>
                <a:cs typeface="Arial MT"/>
              </a:rPr>
              <a:t>in the general </a:t>
            </a:r>
            <a:r>
              <a:rPr dirty="0" sz="950" spc="10">
                <a:latin typeface="Arial MT"/>
                <a:cs typeface="Arial MT"/>
              </a:rPr>
              <a:t>ed setting. </a:t>
            </a:r>
            <a:r>
              <a:rPr dirty="0" sz="950" spc="5">
                <a:latin typeface="Arial MT"/>
                <a:cs typeface="Arial MT"/>
              </a:rPr>
              <a:t>Student </a:t>
            </a:r>
            <a:r>
              <a:rPr dirty="0" sz="950" spc="10">
                <a:latin typeface="Arial MT"/>
                <a:cs typeface="Arial MT"/>
              </a:rPr>
              <a:t> needs a more structured setting with </a:t>
            </a:r>
            <a:r>
              <a:rPr dirty="0" sz="950" spc="5">
                <a:latin typeface="Arial MT"/>
                <a:cs typeface="Arial MT"/>
              </a:rPr>
              <a:t>fewer</a:t>
            </a:r>
            <a:r>
              <a:rPr dirty="0" sz="950" spc="10">
                <a:latin typeface="Arial MT"/>
                <a:cs typeface="Arial MT"/>
              </a:rPr>
              <a:t> distractions and a smaller student-to-teacher </a:t>
            </a:r>
            <a:r>
              <a:rPr dirty="0" sz="950" spc="5">
                <a:latin typeface="Arial MT"/>
                <a:cs typeface="Arial MT"/>
              </a:rPr>
              <a:t>ratio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10">
                <a:latin typeface="Arial MT"/>
                <a:cs typeface="Arial MT"/>
              </a:rPr>
              <a:t> order </a:t>
            </a:r>
            <a:r>
              <a:rPr dirty="0" sz="950" spc="5">
                <a:latin typeface="Arial MT"/>
                <a:cs typeface="Arial MT"/>
              </a:rPr>
              <a:t>to</a:t>
            </a:r>
            <a:r>
              <a:rPr dirty="0" sz="950" spc="10">
                <a:latin typeface="Arial MT"/>
                <a:cs typeface="Arial MT"/>
              </a:rPr>
              <a:t> benefit </a:t>
            </a:r>
            <a:r>
              <a:rPr dirty="0" sz="950" spc="5">
                <a:latin typeface="Arial MT"/>
                <a:cs typeface="Arial MT"/>
              </a:rPr>
              <a:t>from</a:t>
            </a:r>
            <a:r>
              <a:rPr dirty="0" sz="950" spc="10">
                <a:latin typeface="Arial MT"/>
                <a:cs typeface="Arial MT"/>
              </a:rPr>
              <a:t> instruction.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950" spc="20" b="1">
                <a:latin typeface="Arial"/>
                <a:cs typeface="Arial"/>
              </a:rPr>
              <a:t>Services</a:t>
            </a:r>
            <a:r>
              <a:rPr dirty="0" sz="950" spc="1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to</a:t>
            </a:r>
            <a:r>
              <a:rPr dirty="0" sz="950" spc="2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be</a:t>
            </a:r>
            <a:r>
              <a:rPr dirty="0" sz="950" spc="20" b="1">
                <a:latin typeface="Arial"/>
                <a:cs typeface="Arial"/>
              </a:rPr>
              <a:t> Provided</a:t>
            </a:r>
            <a:endParaRPr sz="950">
              <a:latin typeface="Arial"/>
              <a:cs typeface="Arial"/>
            </a:endParaRPr>
          </a:p>
          <a:p>
            <a:pPr marL="193675" marR="5080">
              <a:lnSpc>
                <a:spcPct val="105300"/>
              </a:lnSpc>
              <a:spcBef>
                <a:spcPts val="150"/>
              </a:spcBef>
            </a:pPr>
            <a:r>
              <a:rPr dirty="0" sz="950" spc="10">
                <a:latin typeface="Arial MT"/>
                <a:cs typeface="Arial MT"/>
              </a:rPr>
              <a:t>Based on ARD committee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review of assessment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data, goals and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objectives, needed supplementary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aids and services,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results of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previous </a:t>
            </a:r>
            <a:r>
              <a:rPr dirty="0" sz="950" spc="5">
                <a:latin typeface="Arial MT"/>
                <a:cs typeface="Arial MT"/>
              </a:rPr>
              <a:t>efforts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educate </a:t>
            </a:r>
            <a:r>
              <a:rPr dirty="0" sz="950" spc="5">
                <a:latin typeface="Arial MT"/>
                <a:cs typeface="Arial MT"/>
              </a:rPr>
              <a:t>this</a:t>
            </a:r>
            <a:r>
              <a:rPr dirty="0" sz="950" spc="10">
                <a:latin typeface="Arial MT"/>
                <a:cs typeface="Arial MT"/>
              </a:rPr>
              <a:t> student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general education classroom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 issues involved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10">
                <a:latin typeface="Arial MT"/>
                <a:cs typeface="Arial MT"/>
              </a:rPr>
              <a:t> educating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this</a:t>
            </a:r>
            <a:r>
              <a:rPr dirty="0" sz="950" spc="10">
                <a:latin typeface="Arial MT"/>
                <a:cs typeface="Arial MT"/>
              </a:rPr>
              <a:t> student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 </a:t>
            </a:r>
            <a:r>
              <a:rPr dirty="0" sz="950" spc="15">
                <a:latin typeface="Arial MT"/>
                <a:cs typeface="Arial MT"/>
              </a:rPr>
              <a:t> general education classroom,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15">
                <a:latin typeface="Arial MT"/>
                <a:cs typeface="Arial MT"/>
              </a:rPr>
              <a:t> committee recommends </a:t>
            </a:r>
            <a:r>
              <a:rPr dirty="0" sz="950" spc="10">
                <a:latin typeface="Arial MT"/>
                <a:cs typeface="Arial MT"/>
              </a:rPr>
              <a:t>that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this</a:t>
            </a:r>
            <a:r>
              <a:rPr dirty="0" sz="950" spc="15">
                <a:latin typeface="Arial MT"/>
                <a:cs typeface="Arial MT"/>
              </a:rPr>
              <a:t> student:</a:t>
            </a:r>
            <a:endParaRPr sz="950">
              <a:latin typeface="Arial MT"/>
              <a:cs typeface="Arial MT"/>
            </a:endParaRPr>
          </a:p>
          <a:p>
            <a:pPr marL="374650">
              <a:lnSpc>
                <a:spcPct val="100000"/>
              </a:lnSpc>
              <a:spcBef>
                <a:spcPts val="585"/>
              </a:spcBef>
            </a:pPr>
            <a:r>
              <a:rPr dirty="0" sz="950" spc="5">
                <a:latin typeface="Arial MT"/>
                <a:cs typeface="Arial MT"/>
              </a:rPr>
              <a:t>receive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all instruction </a:t>
            </a:r>
            <a:r>
              <a:rPr dirty="0" sz="950" spc="10">
                <a:latin typeface="Arial MT"/>
                <a:cs typeface="Arial MT"/>
              </a:rPr>
              <a:t>and </a:t>
            </a:r>
            <a:r>
              <a:rPr dirty="0" sz="950" spc="5">
                <a:latin typeface="Arial MT"/>
                <a:cs typeface="Arial MT"/>
              </a:rPr>
              <a:t>services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 the general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education environment. </a:t>
            </a:r>
            <a:r>
              <a:rPr dirty="0" sz="950">
                <a:latin typeface="Arial MT"/>
                <a:cs typeface="Arial MT"/>
              </a:rPr>
              <a:t>(If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selected,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go</a:t>
            </a:r>
            <a:r>
              <a:rPr dirty="0" sz="950" spc="5">
                <a:latin typeface="Arial MT"/>
                <a:cs typeface="Arial MT"/>
              </a:rPr>
              <a:t> to </a:t>
            </a:r>
            <a:r>
              <a:rPr dirty="0" sz="950" spc="10">
                <a:latin typeface="Arial MT"/>
                <a:cs typeface="Arial MT"/>
              </a:rPr>
              <a:t>LRE</a:t>
            </a:r>
            <a:r>
              <a:rPr dirty="0" sz="950" spc="5">
                <a:latin typeface="Arial MT"/>
                <a:cs typeface="Arial MT"/>
              </a:rPr>
              <a:t> Assurances)</a:t>
            </a:r>
            <a:endParaRPr sz="950">
              <a:latin typeface="Arial MT"/>
              <a:cs typeface="Arial MT"/>
            </a:endParaRPr>
          </a:p>
          <a:p>
            <a:pPr algn="ctr" marR="6292215">
              <a:lnSpc>
                <a:spcPct val="100000"/>
              </a:lnSpc>
              <a:spcBef>
                <a:spcPts val="209"/>
              </a:spcBef>
            </a:pPr>
            <a:r>
              <a:rPr dirty="0" sz="950" spc="-25" b="1" i="1">
                <a:latin typeface="Arial"/>
                <a:cs typeface="Arial"/>
              </a:rPr>
              <a:t>OR</a:t>
            </a:r>
            <a:endParaRPr sz="950">
              <a:latin typeface="Arial"/>
              <a:cs typeface="Arial"/>
            </a:endParaRPr>
          </a:p>
          <a:p>
            <a:pPr marL="374650">
              <a:lnSpc>
                <a:spcPct val="100000"/>
              </a:lnSpc>
              <a:spcBef>
                <a:spcPts val="209"/>
              </a:spcBef>
            </a:pPr>
            <a:r>
              <a:rPr dirty="0" sz="950" spc="10">
                <a:latin typeface="Arial MT"/>
                <a:cs typeface="Arial MT"/>
              </a:rPr>
              <a:t>receive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part or</a:t>
            </a:r>
            <a:r>
              <a:rPr dirty="0" sz="950" spc="5">
                <a:latin typeface="Arial MT"/>
                <a:cs typeface="Arial MT"/>
              </a:rPr>
              <a:t> all</a:t>
            </a:r>
            <a:r>
              <a:rPr dirty="0" sz="950" spc="10">
                <a:latin typeface="Arial MT"/>
                <a:cs typeface="Arial MT"/>
              </a:rPr>
              <a:t> instruction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 services</a:t>
            </a:r>
            <a:r>
              <a:rPr dirty="0" sz="950" spc="5">
                <a:latin typeface="Arial MT"/>
                <a:cs typeface="Arial MT"/>
              </a:rPr>
              <a:t> in</a:t>
            </a:r>
            <a:r>
              <a:rPr dirty="0" sz="950" spc="10">
                <a:latin typeface="Arial MT"/>
                <a:cs typeface="Arial MT"/>
              </a:rPr>
              <a:t> special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education setting.</a:t>
            </a:r>
            <a:r>
              <a:rPr dirty="0" sz="950" spc="5">
                <a:latin typeface="Arial MT"/>
                <a:cs typeface="Arial MT"/>
              </a:rPr>
              <a:t> (If</a:t>
            </a:r>
            <a:r>
              <a:rPr dirty="0" sz="950" spc="10">
                <a:latin typeface="Arial MT"/>
                <a:cs typeface="Arial MT"/>
              </a:rPr>
              <a:t> selected, complete</a:t>
            </a:r>
            <a:r>
              <a:rPr dirty="0" sz="950" spc="5">
                <a:latin typeface="Arial MT"/>
                <a:cs typeface="Arial MT"/>
              </a:rPr>
              <a:t> the</a:t>
            </a:r>
            <a:r>
              <a:rPr dirty="0" sz="950" spc="10">
                <a:latin typeface="Arial MT"/>
                <a:cs typeface="Arial MT"/>
              </a:rPr>
              <a:t> following)</a:t>
            </a:r>
            <a:endParaRPr sz="950">
              <a:latin typeface="Arial MT"/>
              <a:cs typeface="Arial MT"/>
            </a:endParaRPr>
          </a:p>
          <a:p>
            <a:pPr marL="193675">
              <a:lnSpc>
                <a:spcPct val="100000"/>
              </a:lnSpc>
              <a:spcBef>
                <a:spcPts val="585"/>
              </a:spcBef>
            </a:pPr>
            <a:r>
              <a:rPr dirty="0" sz="950" spc="20" b="1">
                <a:latin typeface="Arial"/>
                <a:cs typeface="Arial"/>
              </a:rPr>
              <a:t>Justification</a:t>
            </a:r>
            <a:r>
              <a:rPr dirty="0" sz="950" spc="2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for</a:t>
            </a:r>
            <a:r>
              <a:rPr dirty="0" sz="950" spc="2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removal</a:t>
            </a:r>
            <a:r>
              <a:rPr dirty="0" sz="950" spc="2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from</a:t>
            </a:r>
            <a:r>
              <a:rPr dirty="0" sz="950" spc="2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general education</a:t>
            </a:r>
            <a:endParaRPr sz="950">
              <a:latin typeface="Arial"/>
              <a:cs typeface="Arial"/>
            </a:endParaRPr>
          </a:p>
          <a:p>
            <a:pPr marL="384175" marR="130810">
              <a:lnSpc>
                <a:spcPct val="105300"/>
              </a:lnSpc>
              <a:spcBef>
                <a:spcPts val="145"/>
              </a:spcBef>
            </a:pPr>
            <a:r>
              <a:rPr dirty="0" sz="950" spc="5">
                <a:latin typeface="Arial MT"/>
                <a:cs typeface="Arial MT"/>
              </a:rPr>
              <a:t>Implementing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related/instructional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services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and/or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needed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health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services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general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education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classroom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would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be </a:t>
            </a:r>
            <a:r>
              <a:rPr dirty="0" sz="950" spc="10">
                <a:latin typeface="Arial MT"/>
                <a:cs typeface="Arial MT"/>
              </a:rPr>
              <a:t> disruptive</a:t>
            </a:r>
            <a:r>
              <a:rPr dirty="0" sz="950" spc="5">
                <a:latin typeface="Arial MT"/>
                <a:cs typeface="Arial MT"/>
              </a:rPr>
              <a:t> to the</a:t>
            </a:r>
            <a:r>
              <a:rPr dirty="0" sz="950" spc="10">
                <a:latin typeface="Arial MT"/>
                <a:cs typeface="Arial MT"/>
              </a:rPr>
              <a:t> general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education </a:t>
            </a:r>
            <a:r>
              <a:rPr dirty="0" sz="950" spc="5">
                <a:latin typeface="Arial MT"/>
                <a:cs typeface="Arial MT"/>
              </a:rPr>
              <a:t>teacher’s ability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 </a:t>
            </a:r>
            <a:r>
              <a:rPr dirty="0" sz="950" spc="10">
                <a:latin typeface="Arial MT"/>
                <a:cs typeface="Arial MT"/>
              </a:rPr>
              <a:t>provide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instruction and/or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maintain classroom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routines.</a:t>
            </a:r>
            <a:endParaRPr sz="950">
              <a:latin typeface="Arial MT"/>
              <a:cs typeface="Arial MT"/>
            </a:endParaRPr>
          </a:p>
          <a:p>
            <a:pPr algn="ctr" marR="6242685">
              <a:lnSpc>
                <a:spcPct val="100000"/>
              </a:lnSpc>
              <a:spcBef>
                <a:spcPts val="960"/>
              </a:spcBef>
            </a:pPr>
            <a:r>
              <a:rPr dirty="0" sz="950" b="1">
                <a:latin typeface="Arial"/>
                <a:cs typeface="Arial"/>
              </a:rPr>
              <a:t>LRE</a:t>
            </a:r>
            <a:r>
              <a:rPr dirty="0" sz="950" spc="-65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Assurances</a:t>
            </a:r>
            <a:endParaRPr sz="950">
              <a:latin typeface="Arial"/>
              <a:cs typeface="Arial"/>
            </a:endParaRPr>
          </a:p>
          <a:p>
            <a:pPr marL="193675">
              <a:lnSpc>
                <a:spcPct val="100000"/>
              </a:lnSpc>
              <a:spcBef>
                <a:spcPts val="210"/>
              </a:spcBef>
            </a:pPr>
            <a:r>
              <a:rPr dirty="0" sz="950" spc="10" b="1">
                <a:latin typeface="Arial"/>
                <a:cs typeface="Arial"/>
              </a:rPr>
              <a:t>The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committee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assures</a:t>
            </a:r>
            <a:r>
              <a:rPr dirty="0" sz="950" spc="1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that:</a:t>
            </a:r>
            <a:endParaRPr sz="950">
              <a:latin typeface="Arial"/>
              <a:cs typeface="Arial"/>
            </a:endParaRPr>
          </a:p>
          <a:p>
            <a:pPr marL="298450" marR="273050" indent="-104775">
              <a:lnSpc>
                <a:spcPct val="105300"/>
              </a:lnSpc>
              <a:spcBef>
                <a:spcPts val="150"/>
              </a:spcBef>
              <a:buChar char="•"/>
              <a:tabLst>
                <a:tab pos="298450" algn="l"/>
              </a:tabLst>
            </a:pPr>
            <a:r>
              <a:rPr dirty="0" sz="950" spc="5">
                <a:latin typeface="Arial MT"/>
                <a:cs typeface="Arial MT"/>
              </a:rPr>
              <a:t>Removal of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students with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disabilities from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 regular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educational environment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occurs only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if</a:t>
            </a:r>
            <a:r>
              <a:rPr dirty="0" sz="950" spc="5">
                <a:latin typeface="Arial MT"/>
                <a:cs typeface="Arial MT"/>
              </a:rPr>
              <a:t> the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nature</a:t>
            </a:r>
            <a:r>
              <a:rPr dirty="0" sz="950" spc="10">
                <a:latin typeface="Arial MT"/>
                <a:cs typeface="Arial MT"/>
              </a:rPr>
              <a:t> and</a:t>
            </a:r>
            <a:r>
              <a:rPr dirty="0" sz="950" spc="5">
                <a:latin typeface="Arial MT"/>
                <a:cs typeface="Arial MT"/>
              </a:rPr>
              <a:t> severity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of the 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disability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such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that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education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regular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classes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with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use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supplementary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aids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services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cannot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be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achieved </a:t>
            </a:r>
            <a:r>
              <a:rPr dirty="0" sz="950" spc="15">
                <a:latin typeface="Arial MT"/>
                <a:cs typeface="Arial MT"/>
              </a:rPr>
              <a:t> satisfactorily.</a:t>
            </a:r>
            <a:endParaRPr sz="950">
              <a:latin typeface="Arial MT"/>
              <a:cs typeface="Arial MT"/>
            </a:endParaRPr>
          </a:p>
          <a:p>
            <a:pPr marL="298450" indent="-104775">
              <a:lnSpc>
                <a:spcPct val="100000"/>
              </a:lnSpc>
              <a:spcBef>
                <a:spcPts val="210"/>
              </a:spcBef>
              <a:buChar char="•"/>
              <a:tabLst>
                <a:tab pos="298450" algn="l"/>
              </a:tabLst>
            </a:pPr>
            <a:r>
              <a:rPr dirty="0" sz="950" spc="10">
                <a:latin typeface="Arial MT"/>
                <a:cs typeface="Arial MT"/>
              </a:rPr>
              <a:t>To the </a:t>
            </a:r>
            <a:r>
              <a:rPr dirty="0" sz="950" spc="15">
                <a:latin typeface="Arial MT"/>
                <a:cs typeface="Arial MT"/>
              </a:rPr>
              <a:t>maximum </a:t>
            </a:r>
            <a:r>
              <a:rPr dirty="0" sz="950" spc="10">
                <a:latin typeface="Arial MT"/>
                <a:cs typeface="Arial MT"/>
              </a:rPr>
              <a:t>extent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appropriate,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students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with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disabilities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are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educated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with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students</a:t>
            </a:r>
            <a:r>
              <a:rPr dirty="0" sz="950" spc="15">
                <a:latin typeface="Arial MT"/>
                <a:cs typeface="Arial MT"/>
              </a:rPr>
              <a:t> who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are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non-disabled.</a:t>
            </a:r>
            <a:endParaRPr sz="950">
              <a:latin typeface="Arial MT"/>
              <a:cs typeface="Arial MT"/>
            </a:endParaRPr>
          </a:p>
          <a:p>
            <a:pPr marL="298450" indent="-104775">
              <a:lnSpc>
                <a:spcPct val="100000"/>
              </a:lnSpc>
              <a:spcBef>
                <a:spcPts val="210"/>
              </a:spcBef>
              <a:buChar char="•"/>
              <a:tabLst>
                <a:tab pos="298450" algn="l"/>
              </a:tabLst>
            </a:pPr>
            <a:r>
              <a:rPr dirty="0" sz="950" spc="10">
                <a:latin typeface="Arial MT"/>
                <a:cs typeface="Arial MT"/>
              </a:rPr>
              <a:t>This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student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has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ability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participate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non-academic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extra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curricular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activities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15">
                <a:latin typeface="Arial MT"/>
                <a:cs typeface="Arial MT"/>
              </a:rPr>
              <a:t> maximum </a:t>
            </a:r>
            <a:r>
              <a:rPr dirty="0" sz="950" spc="10">
                <a:latin typeface="Arial MT"/>
                <a:cs typeface="Arial MT"/>
              </a:rPr>
              <a:t>extent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appropriate.</a:t>
            </a:r>
            <a:endParaRPr sz="950">
              <a:latin typeface="Arial MT"/>
              <a:cs typeface="Arial MT"/>
            </a:endParaRPr>
          </a:p>
          <a:p>
            <a:pPr marL="298450" marR="158750" indent="-104775">
              <a:lnSpc>
                <a:spcPct val="105300"/>
              </a:lnSpc>
              <a:spcBef>
                <a:spcPts val="150"/>
              </a:spcBef>
              <a:buChar char="•"/>
              <a:tabLst>
                <a:tab pos="298450" algn="l"/>
              </a:tabLst>
            </a:pPr>
            <a:r>
              <a:rPr dirty="0" sz="950" spc="10">
                <a:latin typeface="Arial MT"/>
                <a:cs typeface="Arial MT"/>
              </a:rPr>
              <a:t>This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student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requires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services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indicated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this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document,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well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documented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supplementary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aids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services,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instructional accommodations</a:t>
            </a:r>
            <a:r>
              <a:rPr dirty="0" sz="950" spc="10">
                <a:latin typeface="Arial MT"/>
                <a:cs typeface="Arial MT"/>
              </a:rPr>
              <a:t> and content modifications and supports page </a:t>
            </a:r>
            <a:r>
              <a:rPr dirty="0" sz="950" spc="5">
                <a:latin typeface="Arial MT"/>
                <a:cs typeface="Arial MT"/>
              </a:rPr>
              <a:t>to </a:t>
            </a:r>
            <a:r>
              <a:rPr dirty="0" sz="950" spc="10">
                <a:latin typeface="Arial MT"/>
                <a:cs typeface="Arial MT"/>
              </a:rPr>
              <a:t>receive a </a:t>
            </a:r>
            <a:r>
              <a:rPr dirty="0" sz="950" spc="5">
                <a:latin typeface="Arial MT"/>
                <a:cs typeface="Arial MT"/>
              </a:rPr>
              <a:t>free appropriate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public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education 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20">
                <a:latin typeface="Arial MT"/>
                <a:cs typeface="Arial MT"/>
              </a:rPr>
              <a:t>(FAPE).</a:t>
            </a:r>
            <a:endParaRPr sz="950">
              <a:latin typeface="Arial MT"/>
              <a:cs typeface="Arial MT"/>
            </a:endParaRPr>
          </a:p>
          <a:p>
            <a:pPr marL="298450" marR="35560" indent="-104775">
              <a:lnSpc>
                <a:spcPct val="105300"/>
              </a:lnSpc>
              <a:spcBef>
                <a:spcPts val="150"/>
              </a:spcBef>
              <a:buChar char="•"/>
              <a:tabLst>
                <a:tab pos="298450" algn="l"/>
              </a:tabLst>
            </a:pPr>
            <a:r>
              <a:rPr dirty="0" sz="950" spc="5">
                <a:latin typeface="Arial MT"/>
                <a:cs typeface="Arial MT"/>
              </a:rPr>
              <a:t>These services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are provided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at</a:t>
            </a:r>
            <a:r>
              <a:rPr dirty="0" sz="950" spc="10">
                <a:latin typeface="Arial MT"/>
                <a:cs typeface="Arial MT"/>
              </a:rPr>
              <a:t> no</a:t>
            </a:r>
            <a:r>
              <a:rPr dirty="0" sz="950" spc="5">
                <a:latin typeface="Arial MT"/>
                <a:cs typeface="Arial MT"/>
              </a:rPr>
              <a:t> cost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 parent</a:t>
            </a:r>
            <a:r>
              <a:rPr dirty="0" sz="950" spc="10">
                <a:latin typeface="Arial MT"/>
                <a:cs typeface="Arial MT"/>
              </a:rPr>
              <a:t> and</a:t>
            </a:r>
            <a:r>
              <a:rPr dirty="0" sz="950" spc="5">
                <a:latin typeface="Arial MT"/>
                <a:cs typeface="Arial MT"/>
              </a:rPr>
              <a:t> are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based</a:t>
            </a:r>
            <a:r>
              <a:rPr dirty="0" sz="950" spc="10">
                <a:latin typeface="Arial MT"/>
                <a:cs typeface="Arial MT"/>
              </a:rPr>
              <a:t> on</a:t>
            </a:r>
            <a:r>
              <a:rPr dirty="0" sz="950" spc="5">
                <a:latin typeface="Arial MT"/>
                <a:cs typeface="Arial MT"/>
              </a:rPr>
              <a:t> peer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reviewed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research to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extent practicable.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(Fees </a:t>
            </a:r>
            <a:r>
              <a:rPr dirty="0" sz="950" spc="10">
                <a:latin typeface="Arial MT"/>
                <a:cs typeface="Arial MT"/>
              </a:rPr>
              <a:t> normally charged to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students without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disabilities</a:t>
            </a:r>
            <a:r>
              <a:rPr dirty="0" sz="950" spc="10">
                <a:latin typeface="Arial MT"/>
                <a:cs typeface="Arial MT"/>
              </a:rPr>
              <a:t> or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their</a:t>
            </a:r>
            <a:r>
              <a:rPr dirty="0" sz="950" spc="10">
                <a:latin typeface="Arial MT"/>
                <a:cs typeface="Arial MT"/>
              </a:rPr>
              <a:t> parents,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as part of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 general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education program,</a:t>
            </a:r>
            <a:r>
              <a:rPr dirty="0" sz="950" spc="15">
                <a:latin typeface="Arial MT"/>
                <a:cs typeface="Arial MT"/>
              </a:rPr>
              <a:t> may</a:t>
            </a:r>
            <a:r>
              <a:rPr dirty="0" sz="950" spc="10">
                <a:latin typeface="Arial MT"/>
                <a:cs typeface="Arial MT"/>
              </a:rPr>
              <a:t> be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charged.)</a:t>
            </a:r>
            <a:endParaRPr sz="950">
              <a:latin typeface="Arial MT"/>
              <a:cs typeface="Arial MT"/>
            </a:endParaRPr>
          </a:p>
          <a:p>
            <a:pPr marL="298450" marR="187325" indent="-104775">
              <a:lnSpc>
                <a:spcPct val="105300"/>
              </a:lnSpc>
              <a:spcBef>
                <a:spcPts val="150"/>
              </a:spcBef>
              <a:buChar char="•"/>
              <a:tabLst>
                <a:tab pos="298450" algn="l"/>
              </a:tabLst>
            </a:pPr>
            <a:r>
              <a:rPr dirty="0" sz="950" spc="5">
                <a:latin typeface="Arial MT"/>
                <a:cs typeface="Arial MT"/>
              </a:rPr>
              <a:t>Services </a:t>
            </a:r>
            <a:r>
              <a:rPr dirty="0" sz="950" spc="10">
                <a:latin typeface="Arial MT"/>
                <a:cs typeface="Arial MT"/>
              </a:rPr>
              <a:t>are not provided during school holidays or </a:t>
            </a:r>
            <a:r>
              <a:rPr dirty="0" sz="950" spc="15">
                <a:latin typeface="Arial MT"/>
                <a:cs typeface="Arial MT"/>
              </a:rPr>
              <a:t>summer</a:t>
            </a:r>
            <a:r>
              <a:rPr dirty="0" sz="950" spc="10">
                <a:latin typeface="Arial MT"/>
                <a:cs typeface="Arial MT"/>
              </a:rPr>
              <a:t> vacation, unless specified by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 spc="10">
                <a:latin typeface="Arial MT"/>
                <a:cs typeface="Arial MT"/>
              </a:rPr>
              <a:t> ARD committee or student </a:t>
            </a:r>
            <a:r>
              <a:rPr dirty="0" sz="950" spc="5">
                <a:latin typeface="Arial MT"/>
                <a:cs typeface="Arial MT"/>
              </a:rPr>
              <a:t>is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eligible for</a:t>
            </a:r>
            <a:r>
              <a:rPr dirty="0" sz="950" spc="10">
                <a:latin typeface="Arial MT"/>
                <a:cs typeface="Arial MT"/>
              </a:rPr>
              <a:t> ESY.</a:t>
            </a:r>
            <a:endParaRPr sz="950">
              <a:latin typeface="Arial MT"/>
              <a:cs typeface="Arial MT"/>
            </a:endParaRPr>
          </a:p>
          <a:p>
            <a:pPr marL="298450" indent="-104775">
              <a:lnSpc>
                <a:spcPct val="100000"/>
              </a:lnSpc>
              <a:spcBef>
                <a:spcPts val="210"/>
              </a:spcBef>
              <a:buChar char="•"/>
              <a:tabLst>
                <a:tab pos="298450" algn="l"/>
              </a:tabLst>
            </a:pPr>
            <a:r>
              <a:rPr dirty="0" sz="950" spc="5">
                <a:latin typeface="Arial MT"/>
                <a:cs typeface="Arial MT"/>
              </a:rPr>
              <a:t>General</a:t>
            </a:r>
            <a:r>
              <a:rPr dirty="0" sz="950" spc="10">
                <a:latin typeface="Arial MT"/>
                <a:cs typeface="Arial MT"/>
              </a:rPr>
              <a:t> education areas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meet campus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time</a:t>
            </a:r>
            <a:r>
              <a:rPr dirty="0" sz="950" spc="10">
                <a:latin typeface="Arial MT"/>
                <a:cs typeface="Arial MT"/>
              </a:rPr>
              <a:t> requirements unless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otherwise specified.</a:t>
            </a:r>
            <a:endParaRPr sz="950">
              <a:latin typeface="Arial MT"/>
              <a:cs typeface="Arial MT"/>
            </a:endParaRPr>
          </a:p>
          <a:p>
            <a:pPr marL="441325" indent="-247650">
              <a:lnSpc>
                <a:spcPct val="100000"/>
              </a:lnSpc>
              <a:spcBef>
                <a:spcPts val="210"/>
              </a:spcBef>
              <a:buChar char="•"/>
              <a:tabLst>
                <a:tab pos="440690" algn="l"/>
                <a:tab pos="441325" algn="l"/>
                <a:tab pos="859790" algn="l"/>
              </a:tabLst>
            </a:pPr>
            <a:r>
              <a:rPr dirty="0" sz="950" spc="25">
                <a:latin typeface="Arial MT"/>
                <a:cs typeface="Arial MT"/>
              </a:rPr>
              <a:t>Yes	</a:t>
            </a:r>
            <a:r>
              <a:rPr dirty="0" sz="950" spc="-10">
                <a:latin typeface="Arial MT"/>
                <a:cs typeface="Arial MT"/>
              </a:rPr>
              <a:t>No</a:t>
            </a:r>
            <a:r>
              <a:rPr dirty="0" sz="950" spc="57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Instructional day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commensurate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with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that of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students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without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disabilities.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If </a:t>
            </a:r>
            <a:r>
              <a:rPr dirty="0" sz="950" spc="10">
                <a:latin typeface="Arial MT"/>
                <a:cs typeface="Arial MT"/>
              </a:rPr>
              <a:t>no,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provide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rationale: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5475" y="1146175"/>
            <a:ext cx="4381500" cy="9525"/>
          </a:xfrm>
          <a:custGeom>
            <a:avLst/>
            <a:gdLst/>
            <a:ahLst/>
            <a:cxnLst/>
            <a:rect l="l" t="t" r="r" b="b"/>
            <a:pathLst>
              <a:path w="4381500" h="9525">
                <a:moveTo>
                  <a:pt x="4381500" y="0"/>
                </a:moveTo>
                <a:lnTo>
                  <a:pt x="0" y="0"/>
                </a:lnTo>
                <a:lnTo>
                  <a:pt x="0" y="9525"/>
                </a:lnTo>
                <a:lnTo>
                  <a:pt x="4381500" y="9525"/>
                </a:lnTo>
                <a:lnTo>
                  <a:pt x="438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27350" y="1489075"/>
            <a:ext cx="4619625" cy="9525"/>
          </a:xfrm>
          <a:custGeom>
            <a:avLst/>
            <a:gdLst/>
            <a:ahLst/>
            <a:cxnLst/>
            <a:rect l="l" t="t" r="r" b="b"/>
            <a:pathLst>
              <a:path w="4619625" h="9525">
                <a:moveTo>
                  <a:pt x="4619625" y="0"/>
                </a:moveTo>
                <a:lnTo>
                  <a:pt x="0" y="0"/>
                </a:lnTo>
                <a:lnTo>
                  <a:pt x="0" y="9525"/>
                </a:lnTo>
                <a:lnTo>
                  <a:pt x="4619625" y="9525"/>
                </a:lnTo>
                <a:lnTo>
                  <a:pt x="46196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27200" y="2174875"/>
            <a:ext cx="5819775" cy="9525"/>
          </a:xfrm>
          <a:custGeom>
            <a:avLst/>
            <a:gdLst/>
            <a:ahLst/>
            <a:cxnLst/>
            <a:rect l="l" t="t" r="r" b="b"/>
            <a:pathLst>
              <a:path w="5819775" h="9525">
                <a:moveTo>
                  <a:pt x="5819775" y="0"/>
                </a:moveTo>
                <a:lnTo>
                  <a:pt x="0" y="0"/>
                </a:lnTo>
                <a:lnTo>
                  <a:pt x="0" y="9525"/>
                </a:lnTo>
                <a:lnTo>
                  <a:pt x="5819775" y="9525"/>
                </a:lnTo>
                <a:lnTo>
                  <a:pt x="5819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27100" y="2517775"/>
            <a:ext cx="6619875" cy="9525"/>
          </a:xfrm>
          <a:custGeom>
            <a:avLst/>
            <a:gdLst/>
            <a:ahLst/>
            <a:cxnLst/>
            <a:rect l="l" t="t" r="r" b="b"/>
            <a:pathLst>
              <a:path w="6619875" h="9525">
                <a:moveTo>
                  <a:pt x="6619875" y="0"/>
                </a:moveTo>
                <a:lnTo>
                  <a:pt x="0" y="0"/>
                </a:lnTo>
                <a:lnTo>
                  <a:pt x="0" y="9525"/>
                </a:lnTo>
                <a:lnTo>
                  <a:pt x="6619875" y="9525"/>
                </a:lnTo>
                <a:lnTo>
                  <a:pt x="66198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03200" y="3956050"/>
          <a:ext cx="7348855" cy="838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6375"/>
                <a:gridCol w="666750"/>
                <a:gridCol w="657225"/>
                <a:gridCol w="657225"/>
                <a:gridCol w="657225"/>
                <a:gridCol w="361950"/>
                <a:gridCol w="361950"/>
                <a:gridCol w="2495550"/>
              </a:tblGrid>
              <a:tr h="16192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35" b="1">
                          <a:latin typeface="Arial"/>
                          <a:cs typeface="Arial"/>
                        </a:rPr>
                        <a:t>Title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15" b="1">
                          <a:latin typeface="Arial"/>
                          <a:cs typeface="Arial"/>
                        </a:rPr>
                        <a:t>Start</a:t>
                      </a:r>
                      <a:r>
                        <a:rPr dirty="0" sz="8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Date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5" b="1">
                          <a:latin typeface="Arial"/>
                          <a:cs typeface="Arial"/>
                        </a:rPr>
                        <a:t>End</a:t>
                      </a:r>
                      <a:r>
                        <a:rPr dirty="0" sz="8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b="1">
                          <a:latin typeface="Arial"/>
                          <a:cs typeface="Arial"/>
                        </a:rPr>
                        <a:t>Date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20" b="1"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8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5" b="1">
                          <a:latin typeface="Arial"/>
                          <a:cs typeface="Arial"/>
                        </a:rPr>
                        <a:t>Min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20" b="1">
                          <a:latin typeface="Arial"/>
                          <a:cs typeface="Arial"/>
                        </a:rPr>
                        <a:t>Min</a:t>
                      </a:r>
                      <a:r>
                        <a:rPr dirty="0" sz="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0" b="1">
                          <a:latin typeface="Arial"/>
                          <a:cs typeface="Arial"/>
                        </a:rPr>
                        <a:t>Out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b="1">
                          <a:latin typeface="Arial"/>
                          <a:cs typeface="Arial"/>
                        </a:rPr>
                        <a:t>%</a:t>
                      </a:r>
                      <a:r>
                        <a:rPr dirty="0" sz="8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 b="1">
                          <a:latin typeface="Arial"/>
                          <a:cs typeface="Arial"/>
                        </a:rPr>
                        <a:t>In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b="1">
                          <a:latin typeface="Arial"/>
                          <a:cs typeface="Arial"/>
                        </a:rPr>
                        <a:t>%</a:t>
                      </a:r>
                      <a:r>
                        <a:rPr dirty="0" sz="8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5" b="1">
                          <a:latin typeface="Arial"/>
                          <a:cs typeface="Arial"/>
                        </a:rPr>
                        <a:t>Out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06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20" b="1">
                          <a:latin typeface="Arial"/>
                          <a:cs typeface="Arial"/>
                        </a:rPr>
                        <a:t>PEIMS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0" b="1">
                          <a:latin typeface="Arial"/>
                          <a:cs typeface="Arial"/>
                        </a:rPr>
                        <a:t>Codes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0" b="1">
                          <a:latin typeface="Arial"/>
                          <a:cs typeface="Arial"/>
                        </a:rPr>
                        <a:t>and Description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IEP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Dates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5/15/22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8/21/22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-15">
                          <a:latin typeface="Arial MT"/>
                          <a:cs typeface="Arial MT"/>
                        </a:rPr>
                        <a:t>2100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390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81.0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19.0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178435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41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- Resource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Room/Services - Less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than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21%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IEP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Dates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8/22/22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5/14/23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-15">
                          <a:latin typeface="Arial MT"/>
                          <a:cs typeface="Arial MT"/>
                        </a:rPr>
                        <a:t>2100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390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81.0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19.0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178435">
                        <a:lnSpc>
                          <a:spcPct val="105300"/>
                        </a:lnSpc>
                        <a:spcBef>
                          <a:spcPts val="7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41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- Resource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Room/Services - Less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than </a:t>
                      </a:r>
                      <a:r>
                        <a:rPr dirty="0" sz="950" spc="-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21%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475" y="203200"/>
            <a:ext cx="123825" cy="1238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7575" y="203200"/>
            <a:ext cx="123825" cy="12382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81000" y="190500"/>
            <a:ext cx="438785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60350" indent="-247650">
              <a:lnSpc>
                <a:spcPct val="100000"/>
              </a:lnSpc>
              <a:spcBef>
                <a:spcPts val="125"/>
              </a:spcBef>
              <a:buChar char="•"/>
              <a:tabLst>
                <a:tab pos="259715" algn="l"/>
                <a:tab pos="260350" algn="l"/>
                <a:tab pos="678815" algn="l"/>
              </a:tabLst>
            </a:pPr>
            <a:r>
              <a:rPr dirty="0" sz="950" spc="25">
                <a:latin typeface="Arial MT"/>
                <a:cs typeface="Arial MT"/>
              </a:rPr>
              <a:t>Yes	</a:t>
            </a:r>
            <a:r>
              <a:rPr dirty="0" sz="950" spc="-10">
                <a:latin typeface="Arial MT"/>
                <a:cs typeface="Arial MT"/>
              </a:rPr>
              <a:t>No</a:t>
            </a:r>
            <a:r>
              <a:rPr dirty="0" sz="950" spc="56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Classes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on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this</a:t>
            </a:r>
            <a:r>
              <a:rPr dirty="0" sz="950" spc="15">
                <a:latin typeface="Arial MT"/>
                <a:cs typeface="Arial MT"/>
              </a:rPr>
              <a:t> campus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meet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on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daily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basis.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If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no,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describe: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7962" y="503237"/>
            <a:ext cx="7334250" cy="219075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200" spc="-10" b="1">
                <a:latin typeface="Arial"/>
                <a:cs typeface="Arial"/>
              </a:rPr>
              <a:t>Placement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Determination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984250"/>
            <a:ext cx="123825" cy="12382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1327150"/>
            <a:ext cx="123825" cy="12382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2012950"/>
            <a:ext cx="123825" cy="12382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2355850"/>
            <a:ext cx="123825" cy="1238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2632075"/>
            <a:ext cx="123825" cy="12382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0900" y="2632075"/>
            <a:ext cx="123825" cy="12382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3375" y="2955925"/>
            <a:ext cx="123825" cy="12382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22750" y="2955925"/>
            <a:ext cx="123825" cy="12382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3222625"/>
            <a:ext cx="123825" cy="12382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0900" y="3222625"/>
            <a:ext cx="123825" cy="12382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00025" y="720090"/>
            <a:ext cx="7299325" cy="314007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950" spc="20" b="1">
                <a:latin typeface="Arial"/>
                <a:cs typeface="Arial"/>
              </a:rPr>
              <a:t>Student</a:t>
            </a:r>
            <a:r>
              <a:rPr dirty="0" sz="950" spc="10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will</a:t>
            </a:r>
            <a:r>
              <a:rPr dirty="0" sz="950" spc="15" b="1">
                <a:latin typeface="Arial"/>
                <a:cs typeface="Arial"/>
              </a:rPr>
              <a:t> </a:t>
            </a:r>
            <a:r>
              <a:rPr dirty="0" sz="950" spc="25" b="1">
                <a:latin typeface="Arial"/>
                <a:cs typeface="Arial"/>
              </a:rPr>
              <a:t>attend:</a:t>
            </a:r>
            <a:endParaRPr sz="950">
              <a:latin typeface="Arial"/>
              <a:cs typeface="Arial"/>
            </a:endParaRPr>
          </a:p>
          <a:p>
            <a:pPr marL="374650">
              <a:lnSpc>
                <a:spcPct val="100000"/>
              </a:lnSpc>
              <a:spcBef>
                <a:spcPts val="434"/>
              </a:spcBef>
            </a:pP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school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he/she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would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attend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if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not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disabled:</a:t>
            </a:r>
            <a:endParaRPr sz="950">
              <a:latin typeface="Arial MT"/>
              <a:cs typeface="Arial MT"/>
            </a:endParaRPr>
          </a:p>
          <a:p>
            <a:pPr marL="374650">
              <a:lnSpc>
                <a:spcPct val="100000"/>
              </a:lnSpc>
              <a:spcBef>
                <a:spcPts val="210"/>
              </a:spcBef>
            </a:pPr>
            <a:r>
              <a:rPr dirty="0" sz="950" spc="-25" b="1" i="1">
                <a:latin typeface="Arial"/>
                <a:cs typeface="Arial"/>
              </a:rPr>
              <a:t>OR</a:t>
            </a:r>
            <a:endParaRPr sz="950">
              <a:latin typeface="Arial"/>
              <a:cs typeface="Arial"/>
            </a:endParaRPr>
          </a:p>
          <a:p>
            <a:pPr marL="374650" marR="3080385">
              <a:lnSpc>
                <a:spcPct val="118400"/>
              </a:lnSpc>
            </a:pPr>
            <a:r>
              <a:rPr dirty="0" sz="950" spc="15">
                <a:latin typeface="Arial MT"/>
                <a:cs typeface="Arial MT"/>
              </a:rPr>
              <a:t>A school </a:t>
            </a:r>
            <a:r>
              <a:rPr dirty="0" sz="950" spc="10">
                <a:latin typeface="Arial MT"/>
                <a:cs typeface="Arial MT"/>
              </a:rPr>
              <a:t>other than his/her </a:t>
            </a:r>
            <a:r>
              <a:rPr dirty="0" sz="950" spc="15">
                <a:latin typeface="Arial MT"/>
                <a:cs typeface="Arial MT"/>
              </a:rPr>
              <a:t>home campus: </a:t>
            </a:r>
            <a:r>
              <a:rPr dirty="0" sz="950" spc="10">
                <a:latin typeface="Arial MT"/>
                <a:cs typeface="Arial MT"/>
              </a:rPr>
              <a:t>Central </a:t>
            </a:r>
            <a:r>
              <a:rPr dirty="0" sz="950" spc="5">
                <a:latin typeface="Arial MT"/>
                <a:cs typeface="Arial MT"/>
              </a:rPr>
              <a:t>Elementary </a:t>
            </a:r>
            <a:r>
              <a:rPr dirty="0" sz="950" spc="10">
                <a:latin typeface="Arial MT"/>
                <a:cs typeface="Arial MT"/>
              </a:rPr>
              <a:t>School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Removal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is </a:t>
            </a:r>
            <a:r>
              <a:rPr dirty="0" sz="950" spc="10">
                <a:latin typeface="Arial MT"/>
                <a:cs typeface="Arial MT"/>
              </a:rPr>
              <a:t>necessary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due</a:t>
            </a:r>
            <a:r>
              <a:rPr dirty="0" sz="950" spc="5">
                <a:latin typeface="Arial MT"/>
                <a:cs typeface="Arial MT"/>
              </a:rPr>
              <a:t> to:</a:t>
            </a:r>
            <a:endParaRPr sz="950">
              <a:latin typeface="Arial MT"/>
              <a:cs typeface="Arial MT"/>
            </a:endParaRPr>
          </a:p>
          <a:p>
            <a:pPr marL="374650">
              <a:lnSpc>
                <a:spcPct val="100000"/>
              </a:lnSpc>
              <a:spcBef>
                <a:spcPts val="210"/>
              </a:spcBef>
            </a:pPr>
            <a:r>
              <a:rPr dirty="0" sz="950" spc="10">
                <a:latin typeface="Arial MT"/>
                <a:cs typeface="Arial MT"/>
              </a:rPr>
              <a:t>Bruce attends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centralized program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meet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his academic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functional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needs.</a:t>
            </a:r>
            <a:endParaRPr sz="950">
              <a:latin typeface="Arial MT"/>
              <a:cs typeface="Arial MT"/>
            </a:endParaRPr>
          </a:p>
          <a:p>
            <a:pPr marL="374650">
              <a:lnSpc>
                <a:spcPct val="100000"/>
              </a:lnSpc>
              <a:spcBef>
                <a:spcPts val="210"/>
              </a:spcBef>
            </a:pPr>
            <a:r>
              <a:rPr dirty="0" sz="950" spc="-25" b="1" i="1">
                <a:latin typeface="Arial"/>
                <a:cs typeface="Arial"/>
              </a:rPr>
              <a:t>OR</a:t>
            </a:r>
            <a:endParaRPr sz="950">
              <a:latin typeface="Arial"/>
              <a:cs typeface="Arial"/>
            </a:endParaRPr>
          </a:p>
          <a:p>
            <a:pPr marL="374650">
              <a:lnSpc>
                <a:spcPct val="100000"/>
              </a:lnSpc>
              <a:spcBef>
                <a:spcPts val="210"/>
              </a:spcBef>
            </a:pPr>
            <a:r>
              <a:rPr dirty="0" sz="950" spc="15">
                <a:latin typeface="Arial MT"/>
                <a:cs typeface="Arial MT"/>
              </a:rPr>
              <a:t>An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20">
                <a:latin typeface="Arial MT"/>
                <a:cs typeface="Arial MT"/>
              </a:rPr>
              <a:t>AEP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or </a:t>
            </a:r>
            <a:r>
              <a:rPr dirty="0" sz="950" spc="10">
                <a:latin typeface="Arial MT"/>
                <a:cs typeface="Arial MT"/>
              </a:rPr>
              <a:t>a </a:t>
            </a:r>
            <a:r>
              <a:rPr dirty="0" sz="950" spc="20">
                <a:latin typeface="Arial MT"/>
                <a:cs typeface="Arial MT"/>
              </a:rPr>
              <a:t>JJAEP:</a:t>
            </a:r>
            <a:endParaRPr sz="950">
              <a:latin typeface="Arial MT"/>
              <a:cs typeface="Arial MT"/>
            </a:endParaRPr>
          </a:p>
          <a:p>
            <a:pPr marL="374650">
              <a:lnSpc>
                <a:spcPct val="100000"/>
              </a:lnSpc>
              <a:spcBef>
                <a:spcPts val="210"/>
              </a:spcBef>
            </a:pPr>
            <a:r>
              <a:rPr dirty="0" sz="950" spc="-25" b="1" i="1">
                <a:latin typeface="Arial"/>
                <a:cs typeface="Arial"/>
              </a:rPr>
              <a:t>OR</a:t>
            </a:r>
            <a:endParaRPr sz="950">
              <a:latin typeface="Arial"/>
              <a:cs typeface="Arial"/>
            </a:endParaRPr>
          </a:p>
          <a:p>
            <a:pPr marL="374650">
              <a:lnSpc>
                <a:spcPct val="100000"/>
              </a:lnSpc>
              <a:spcBef>
                <a:spcPts val="210"/>
              </a:spcBef>
            </a:pPr>
            <a:r>
              <a:rPr dirty="0" sz="950" spc="5">
                <a:latin typeface="Arial MT"/>
                <a:cs typeface="Arial MT"/>
              </a:rPr>
              <a:t>Other:</a:t>
            </a:r>
            <a:endParaRPr sz="950">
              <a:latin typeface="Arial MT"/>
              <a:cs typeface="Arial MT"/>
            </a:endParaRPr>
          </a:p>
          <a:p>
            <a:pPr marL="1089025" marR="5080" indent="-714375">
              <a:lnSpc>
                <a:spcPct val="105300"/>
              </a:lnSpc>
              <a:spcBef>
                <a:spcPts val="975"/>
              </a:spcBef>
              <a:tabLst>
                <a:tab pos="831215" algn="l"/>
              </a:tabLst>
            </a:pPr>
            <a:r>
              <a:rPr dirty="0" sz="950" spc="25">
                <a:latin typeface="Arial MT"/>
                <a:cs typeface="Arial MT"/>
              </a:rPr>
              <a:t>Yes	</a:t>
            </a:r>
            <a:r>
              <a:rPr dirty="0" sz="950" spc="-10">
                <a:latin typeface="Arial MT"/>
                <a:cs typeface="Arial MT"/>
              </a:rPr>
              <a:t>No</a:t>
            </a:r>
            <a:r>
              <a:rPr dirty="0" sz="950" spc="6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15">
                <a:latin typeface="Arial MT"/>
                <a:cs typeface="Arial MT"/>
              </a:rPr>
              <a:t> ARD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committee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assures </a:t>
            </a:r>
            <a:r>
              <a:rPr dirty="0" sz="950" spc="10">
                <a:latin typeface="Arial MT"/>
                <a:cs typeface="Arial MT"/>
              </a:rPr>
              <a:t>that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this/these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placement(s)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is/are</a:t>
            </a:r>
            <a:r>
              <a:rPr dirty="0" sz="950" spc="15">
                <a:latin typeface="Arial MT"/>
                <a:cs typeface="Arial MT"/>
              </a:rPr>
              <a:t> as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close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as possible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home campus.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If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no,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campus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recommendation </a:t>
            </a:r>
            <a:r>
              <a:rPr dirty="0" sz="950" spc="5">
                <a:latin typeface="Arial MT"/>
                <a:cs typeface="Arial MT"/>
              </a:rPr>
              <a:t>is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 non-public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day school,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off</a:t>
            </a:r>
            <a:r>
              <a:rPr dirty="0" sz="950" spc="15">
                <a:latin typeface="Arial MT"/>
                <a:cs typeface="Arial MT"/>
              </a:rPr>
              <a:t> home</a:t>
            </a:r>
            <a:r>
              <a:rPr dirty="0" sz="950" spc="10">
                <a:latin typeface="Arial MT"/>
                <a:cs typeface="Arial MT"/>
              </a:rPr>
              <a:t> campus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or residential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placement.</a:t>
            </a:r>
            <a:endParaRPr sz="950">
              <a:latin typeface="Arial MT"/>
              <a:cs typeface="Arial MT"/>
            </a:endParaRPr>
          </a:p>
          <a:p>
            <a:pPr marL="1089025">
              <a:lnSpc>
                <a:spcPct val="100000"/>
              </a:lnSpc>
              <a:spcBef>
                <a:spcPts val="209"/>
              </a:spcBef>
              <a:tabLst>
                <a:tab pos="1583690" algn="l"/>
                <a:tab pos="4203065" algn="l"/>
              </a:tabLst>
            </a:pPr>
            <a:r>
              <a:rPr dirty="0" sz="950" spc="15">
                <a:latin typeface="Arial MT"/>
                <a:cs typeface="Arial MT"/>
              </a:rPr>
              <a:t>See:	ARD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Supp: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Out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District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Placement  </a:t>
            </a:r>
            <a:r>
              <a:rPr dirty="0" sz="950" spc="50">
                <a:latin typeface="Arial MT"/>
                <a:cs typeface="Arial MT"/>
              </a:rPr>
              <a:t> </a:t>
            </a:r>
            <a:r>
              <a:rPr dirty="0" sz="950" spc="-5">
                <a:latin typeface="Arial MT"/>
                <a:cs typeface="Arial MT"/>
              </a:rPr>
              <a:t>OR	</a:t>
            </a:r>
            <a:r>
              <a:rPr dirty="0" sz="950" spc="10">
                <a:latin typeface="Arial MT"/>
                <a:cs typeface="Arial MT"/>
              </a:rPr>
              <a:t>ARD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Supp: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RDSPD</a:t>
            </a:r>
            <a:endParaRPr sz="950">
              <a:latin typeface="Arial MT"/>
              <a:cs typeface="Arial MT"/>
            </a:endParaRPr>
          </a:p>
          <a:p>
            <a:pPr marL="1089025" marR="12065" indent="-714375">
              <a:lnSpc>
                <a:spcPct val="105300"/>
              </a:lnSpc>
              <a:spcBef>
                <a:spcPts val="900"/>
              </a:spcBef>
              <a:tabLst>
                <a:tab pos="831215" algn="l"/>
              </a:tabLst>
            </a:pPr>
            <a:r>
              <a:rPr dirty="0" sz="950" spc="25">
                <a:latin typeface="Arial MT"/>
                <a:cs typeface="Arial MT"/>
              </a:rPr>
              <a:t>Yes	</a:t>
            </a:r>
            <a:r>
              <a:rPr dirty="0" sz="950" spc="-10">
                <a:latin typeface="Arial MT"/>
                <a:cs typeface="Arial MT"/>
              </a:rPr>
              <a:t>No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 student </a:t>
            </a:r>
            <a:r>
              <a:rPr dirty="0" sz="950" spc="5">
                <a:latin typeface="Arial MT"/>
                <a:cs typeface="Arial MT"/>
              </a:rPr>
              <a:t>will </a:t>
            </a:r>
            <a:r>
              <a:rPr dirty="0" sz="950" spc="10">
                <a:latin typeface="Arial MT"/>
                <a:cs typeface="Arial MT"/>
              </a:rPr>
              <a:t>be removed </a:t>
            </a:r>
            <a:r>
              <a:rPr dirty="0" sz="950" spc="5">
                <a:latin typeface="Arial MT"/>
                <a:cs typeface="Arial MT"/>
              </a:rPr>
              <a:t>from the </a:t>
            </a:r>
            <a:r>
              <a:rPr dirty="0" sz="950" spc="10">
                <a:latin typeface="Arial MT"/>
                <a:cs typeface="Arial MT"/>
              </a:rPr>
              <a:t>general education classroom/campus. </a:t>
            </a:r>
            <a:r>
              <a:rPr dirty="0" sz="950">
                <a:latin typeface="Arial MT"/>
                <a:cs typeface="Arial MT"/>
              </a:rPr>
              <a:t>If </a:t>
            </a:r>
            <a:r>
              <a:rPr dirty="0" sz="950" spc="10">
                <a:latin typeface="Arial MT"/>
                <a:cs typeface="Arial MT"/>
              </a:rPr>
              <a:t>yes, </a:t>
            </a:r>
            <a:r>
              <a:rPr dirty="0" sz="950" spc="5">
                <a:latin typeface="Arial MT"/>
                <a:cs typeface="Arial MT"/>
              </a:rPr>
              <a:t>the </a:t>
            </a:r>
            <a:r>
              <a:rPr dirty="0" sz="950" spc="10">
                <a:latin typeface="Arial MT"/>
                <a:cs typeface="Arial MT"/>
              </a:rPr>
              <a:t>committee considered the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potential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harmful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effects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on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student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or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quality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services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which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student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needs.</a:t>
            </a:r>
            <a:endParaRPr sz="950">
              <a:latin typeface="Arial MT"/>
              <a:cs typeface="Arial MT"/>
            </a:endParaRPr>
          </a:p>
          <a:p>
            <a:pPr marL="1089025" marR="32384">
              <a:lnSpc>
                <a:spcPct val="105300"/>
              </a:lnSpc>
              <a:spcBef>
                <a:spcPts val="145"/>
              </a:spcBef>
            </a:pPr>
            <a:r>
              <a:rPr dirty="0" sz="950" spc="5">
                <a:latin typeface="Arial MT"/>
                <a:cs typeface="Arial MT"/>
              </a:rPr>
              <a:t>Benefits to the</a:t>
            </a:r>
            <a:r>
              <a:rPr dirty="0" sz="950" spc="10">
                <a:latin typeface="Arial MT"/>
                <a:cs typeface="Arial MT"/>
              </a:rPr>
              <a:t> student </a:t>
            </a:r>
            <a:r>
              <a:rPr dirty="0" sz="950" spc="5">
                <a:latin typeface="Arial MT"/>
                <a:cs typeface="Arial MT"/>
              </a:rPr>
              <a:t>outweigh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potential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harmful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effects.</a:t>
            </a:r>
            <a:r>
              <a:rPr dirty="0" sz="950" spc="10">
                <a:latin typeface="Arial MT"/>
                <a:cs typeface="Arial MT"/>
              </a:rPr>
              <a:t> The student </a:t>
            </a:r>
            <a:r>
              <a:rPr dirty="0" sz="950">
                <a:latin typeface="Arial MT"/>
                <a:cs typeface="Arial MT"/>
              </a:rPr>
              <a:t>will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be removed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according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 the</a:t>
            </a:r>
            <a:r>
              <a:rPr dirty="0" sz="950" spc="10">
                <a:latin typeface="Arial MT"/>
                <a:cs typeface="Arial MT"/>
              </a:rPr>
              <a:t> schedule 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of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services.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3200" y="527050"/>
          <a:ext cx="7348855" cy="1343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8325"/>
                <a:gridCol w="666750"/>
                <a:gridCol w="1400175"/>
                <a:gridCol w="657225"/>
                <a:gridCol w="1752600"/>
                <a:gridCol w="1019175"/>
              </a:tblGrid>
              <a:tr h="180975">
                <a:tc gridSpan="6"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 b="1">
                          <a:latin typeface="Arial"/>
                          <a:cs typeface="Arial"/>
                        </a:rPr>
                        <a:t>INSTRUCTION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28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14020">
                        <a:lnSpc>
                          <a:spcPct val="100000"/>
                        </a:lnSpc>
                      </a:pPr>
                      <a:r>
                        <a:rPr dirty="0" sz="800" spc="40" b="1">
                          <a:latin typeface="Arial"/>
                          <a:cs typeface="Arial"/>
                        </a:rPr>
                        <a:t>Course/Curriculum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-45" b="1">
                          <a:latin typeface="Arial"/>
                          <a:cs typeface="Arial"/>
                        </a:rPr>
                        <a:t>TEKS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800" spc="35" b="1">
                          <a:latin typeface="Arial"/>
                          <a:cs typeface="Arial"/>
                        </a:rPr>
                        <a:t>Curriculum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10795">
                        <a:lnSpc>
                          <a:spcPct val="100000"/>
                        </a:lnSpc>
                      </a:pPr>
                      <a:r>
                        <a:rPr dirty="0" sz="800" spc="20" b="1">
                          <a:latin typeface="Arial"/>
                          <a:cs typeface="Arial"/>
                        </a:rPr>
                        <a:t>Location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2069" marR="40640" indent="-1270">
                        <a:lnSpc>
                          <a:spcPct val="109400"/>
                        </a:lnSpc>
                        <a:spcBef>
                          <a:spcPts val="45"/>
                        </a:spcBef>
                      </a:pPr>
                      <a:r>
                        <a:rPr dirty="0" sz="800" spc="35" b="1">
                          <a:latin typeface="Arial"/>
                          <a:cs typeface="Arial"/>
                        </a:rPr>
                        <a:t>Gen </a:t>
                      </a:r>
                      <a:r>
                        <a:rPr dirty="0" sz="80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5" b="1">
                          <a:latin typeface="Arial"/>
                          <a:cs typeface="Arial"/>
                        </a:rPr>
                        <a:t>Ed/Career </a:t>
                      </a:r>
                      <a:r>
                        <a:rPr dirty="0" sz="80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35" b="1">
                          <a:latin typeface="Arial"/>
                          <a:cs typeface="Arial"/>
                        </a:rPr>
                        <a:t>Tech</a:t>
                      </a:r>
                      <a:r>
                        <a:rPr dirty="0" sz="8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40" b="1">
                          <a:latin typeface="Arial"/>
                          <a:cs typeface="Arial"/>
                        </a:rPr>
                        <a:t>Time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dirty="0" sz="800" spc="15" b="1">
                          <a:latin typeface="Arial"/>
                          <a:cs typeface="Arial"/>
                        </a:rPr>
                        <a:t>Duration</a:t>
                      </a:r>
                      <a:r>
                        <a:rPr dirty="0" sz="800" spc="10" b="1">
                          <a:latin typeface="Arial"/>
                          <a:cs typeface="Arial"/>
                        </a:rPr>
                        <a:t> of Special 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Ed</a:t>
                      </a:r>
                      <a:r>
                        <a:rPr dirty="0" sz="8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8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Only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 marR="79375" indent="-38100">
                        <a:lnSpc>
                          <a:spcPct val="109400"/>
                        </a:lnSpc>
                        <a:spcBef>
                          <a:spcPts val="570"/>
                        </a:spcBef>
                      </a:pPr>
                      <a:r>
                        <a:rPr dirty="0" sz="800" spc="30" b="1">
                          <a:latin typeface="Arial"/>
                          <a:cs typeface="Arial"/>
                        </a:rPr>
                        <a:t>Progress/Grade  </a:t>
                      </a:r>
                      <a:r>
                        <a:rPr dirty="0" sz="800" spc="30" b="1">
                          <a:latin typeface="Arial"/>
                          <a:cs typeface="Arial"/>
                        </a:rPr>
                        <a:t>Determined</a:t>
                      </a:r>
                      <a:r>
                        <a:rPr dirty="0" sz="8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35" b="1">
                          <a:latin typeface="Arial"/>
                          <a:cs typeface="Arial"/>
                        </a:rPr>
                        <a:t>By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 gridSpan="6"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3566795" algn="l"/>
                        </a:tabLst>
                      </a:pPr>
                      <a:r>
                        <a:rPr dirty="0" sz="950" spc="5" b="1">
                          <a:latin typeface="Arial"/>
                          <a:cs typeface="Arial"/>
                        </a:rPr>
                        <a:t>178IEP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 b="1">
                          <a:latin typeface="Arial"/>
                          <a:cs typeface="Arial"/>
                        </a:rPr>
                        <a:t>Dates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 b="1">
                          <a:latin typeface="Arial"/>
                          <a:cs typeface="Arial"/>
                        </a:rPr>
                        <a:t>(5/15/22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 b="1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 b="1">
                          <a:latin typeface="Arial"/>
                          <a:cs typeface="Arial"/>
                        </a:rPr>
                        <a:t>8/21/22)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Instructional</a:t>
                      </a:r>
                      <a:r>
                        <a:rPr dirty="0" sz="950" spc="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Day:</a:t>
                      </a:r>
                      <a:r>
                        <a:rPr dirty="0" u="sng" sz="950" spc="1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minutes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 per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day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09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Reading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ALT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5">
                          <a:latin typeface="Arial MT"/>
                          <a:cs typeface="Arial MT"/>
                        </a:rPr>
                        <a:t>Special</a:t>
                      </a:r>
                      <a:r>
                        <a:rPr dirty="0" sz="9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Ed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70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minutes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per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day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5">
                          <a:latin typeface="Arial MT"/>
                          <a:cs typeface="Arial MT"/>
                        </a:rPr>
                        <a:t>SpEd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 gridSpan="6"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3566795" algn="l"/>
                        </a:tabLst>
                      </a:pPr>
                      <a:r>
                        <a:rPr dirty="0" sz="950" spc="5" b="1">
                          <a:latin typeface="Arial"/>
                          <a:cs typeface="Arial"/>
                        </a:rPr>
                        <a:t>178IEP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 b="1">
                          <a:latin typeface="Arial"/>
                          <a:cs typeface="Arial"/>
                        </a:rPr>
                        <a:t>Dates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 b="1">
                          <a:latin typeface="Arial"/>
                          <a:cs typeface="Arial"/>
                        </a:rPr>
                        <a:t>(8/22/22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 b="1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 b="1">
                          <a:latin typeface="Arial"/>
                          <a:cs typeface="Arial"/>
                        </a:rPr>
                        <a:t>5/14/23)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Instructional</a:t>
                      </a:r>
                      <a:r>
                        <a:rPr dirty="0" sz="950" spc="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Day:</a:t>
                      </a:r>
                      <a:r>
                        <a:rPr dirty="0" u="sng" sz="950" spc="1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minutes</a:t>
                      </a:r>
                      <a:r>
                        <a:rPr dirty="0" sz="950" spc="15" b="1">
                          <a:latin typeface="Arial"/>
                          <a:cs typeface="Arial"/>
                        </a:rPr>
                        <a:t> per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20" b="1">
                          <a:latin typeface="Arial"/>
                          <a:cs typeface="Arial"/>
                        </a:rPr>
                        <a:t>day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09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Reading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ALT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5">
                          <a:latin typeface="Arial MT"/>
                          <a:cs typeface="Arial MT"/>
                        </a:rPr>
                        <a:t>Special</a:t>
                      </a:r>
                      <a:r>
                        <a:rPr dirty="0" sz="9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Ed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70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minutes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per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day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5">
                          <a:latin typeface="Arial MT"/>
                          <a:cs typeface="Arial MT"/>
                        </a:rPr>
                        <a:t>SpEd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3200" y="1965325"/>
          <a:ext cx="7348855" cy="847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2125"/>
                <a:gridCol w="1323975"/>
                <a:gridCol w="447675"/>
                <a:gridCol w="1762125"/>
                <a:gridCol w="876300"/>
                <a:gridCol w="581025"/>
                <a:gridCol w="581025"/>
              </a:tblGrid>
              <a:tr h="180975">
                <a:tc gridSpan="7"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 b="1">
                          <a:latin typeface="Arial"/>
                          <a:cs typeface="Arial"/>
                        </a:rPr>
                        <a:t>RELATED</a:t>
                      </a:r>
                      <a:r>
                        <a:rPr dirty="0" sz="9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SERVICES/THERAPY</a:t>
                      </a:r>
                      <a:r>
                        <a:rPr dirty="0" sz="9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INSTRUCTIONAL</a:t>
                      </a:r>
                      <a:r>
                        <a:rPr dirty="0" sz="9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SUPPORT</a:t>
                      </a:r>
                      <a:r>
                        <a:rPr dirty="0" sz="95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SERVICES</a:t>
                      </a:r>
                      <a:r>
                        <a:rPr dirty="0" sz="9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 b="1">
                          <a:latin typeface="Arial"/>
                          <a:cs typeface="Arial"/>
                        </a:rPr>
                        <a:t>(provided 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9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10" b="1">
                          <a:latin typeface="Arial"/>
                          <a:cs typeface="Arial"/>
                        </a:rPr>
                        <a:t>SpEd</a:t>
                      </a:r>
                      <a:r>
                        <a:rPr dirty="0" sz="95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5" b="1">
                          <a:latin typeface="Arial"/>
                          <a:cs typeface="Arial"/>
                        </a:rPr>
                        <a:t>only)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5275"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30" b="1">
                          <a:latin typeface="Arial"/>
                          <a:cs typeface="Arial"/>
                        </a:rPr>
                        <a:t>Service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25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20" b="1">
                          <a:latin typeface="Arial"/>
                          <a:cs typeface="Arial"/>
                        </a:rPr>
                        <a:t>Location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marR="2540" indent="38100">
                        <a:lnSpc>
                          <a:spcPct val="109400"/>
                        </a:lnSpc>
                        <a:spcBef>
                          <a:spcPts val="45"/>
                        </a:spcBef>
                      </a:pPr>
                      <a:r>
                        <a:rPr dirty="0" sz="800" spc="15" b="1">
                          <a:latin typeface="Arial"/>
                          <a:cs typeface="Arial"/>
                        </a:rPr>
                        <a:t>Direct/ </a:t>
                      </a:r>
                      <a:r>
                        <a:rPr dirty="0" sz="80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5" b="1">
                          <a:latin typeface="Arial"/>
                          <a:cs typeface="Arial"/>
                        </a:rPr>
                        <a:t>Consult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15" b="1">
                          <a:latin typeface="Arial"/>
                          <a:cs typeface="Arial"/>
                        </a:rPr>
                        <a:t>Duration</a:t>
                      </a:r>
                      <a:r>
                        <a:rPr dirty="0" sz="800" spc="10" b="1">
                          <a:latin typeface="Arial"/>
                          <a:cs typeface="Arial"/>
                        </a:rPr>
                        <a:t> of Special 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Ed</a:t>
                      </a:r>
                      <a:r>
                        <a:rPr dirty="0" sz="8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8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Only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 marR="3175" indent="-28575">
                        <a:lnSpc>
                          <a:spcPct val="109400"/>
                        </a:lnSpc>
                        <a:spcBef>
                          <a:spcPts val="45"/>
                        </a:spcBef>
                      </a:pPr>
                      <a:r>
                        <a:rPr dirty="0" sz="800" spc="30" b="1">
                          <a:latin typeface="Arial"/>
                          <a:cs typeface="Arial"/>
                        </a:rPr>
                        <a:t>Progress/Grade  </a:t>
                      </a:r>
                      <a:r>
                        <a:rPr dirty="0" sz="800" spc="30" b="1">
                          <a:latin typeface="Arial"/>
                          <a:cs typeface="Arial"/>
                        </a:rPr>
                        <a:t>Determined</a:t>
                      </a:r>
                      <a:r>
                        <a:rPr dirty="0" sz="8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35" b="1">
                          <a:latin typeface="Arial"/>
                          <a:cs typeface="Arial"/>
                        </a:rPr>
                        <a:t>By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 marR="80010" indent="-66675">
                        <a:lnSpc>
                          <a:spcPct val="109400"/>
                        </a:lnSpc>
                        <a:spcBef>
                          <a:spcPts val="45"/>
                        </a:spcBef>
                      </a:pPr>
                      <a:r>
                        <a:rPr dirty="0" sz="800" spc="20" b="1">
                          <a:latin typeface="Arial"/>
                          <a:cs typeface="Arial"/>
                        </a:rPr>
                        <a:t>Service  </a:t>
                      </a:r>
                      <a:r>
                        <a:rPr dirty="0" sz="800" spc="25" b="1">
                          <a:latin typeface="Arial"/>
                          <a:cs typeface="Arial"/>
                        </a:rPr>
                        <a:t>Start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 marR="80010" indent="-95250">
                        <a:lnSpc>
                          <a:spcPct val="109400"/>
                        </a:lnSpc>
                        <a:spcBef>
                          <a:spcPts val="45"/>
                        </a:spcBef>
                      </a:pPr>
                      <a:r>
                        <a:rPr dirty="0" sz="800" spc="20" b="1">
                          <a:latin typeface="Arial"/>
                          <a:cs typeface="Arial"/>
                        </a:rPr>
                        <a:t>Service  </a:t>
                      </a:r>
                      <a:r>
                        <a:rPr dirty="0" sz="800" spc="-15" b="1">
                          <a:latin typeface="Arial"/>
                          <a:cs typeface="Arial"/>
                        </a:rPr>
                        <a:t>End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Occupational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Therapy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Inclusion/Pullout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30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minutes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x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per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week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5/15/22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736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5/14/23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Speech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Therapy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Speech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Room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30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minutes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x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per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week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15">
                          <a:latin typeface="Arial MT"/>
                          <a:cs typeface="Arial MT"/>
                        </a:rPr>
                        <a:t>SpEd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5/15/22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736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5/14/23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07962" y="207962"/>
            <a:ext cx="7334250" cy="219075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200" spc="20" b="1"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07962" y="284162"/>
            <a:ext cx="7334250" cy="219075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200" b="1">
                <a:latin typeface="Arial"/>
                <a:cs typeface="Arial"/>
              </a:rPr>
              <a:t>ARD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SUPPLEMENT: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AUTISM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5" b="1">
                <a:latin typeface="Arial"/>
                <a:cs typeface="Arial"/>
              </a:rPr>
              <a:t>STRATEGIES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0025" y="481965"/>
            <a:ext cx="7273290" cy="797877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950" spc="5">
                <a:latin typeface="Arial MT"/>
                <a:cs typeface="Arial MT"/>
              </a:rPr>
              <a:t>The </a:t>
            </a:r>
            <a:r>
              <a:rPr dirty="0" sz="950">
                <a:latin typeface="Arial MT"/>
                <a:cs typeface="Arial MT"/>
              </a:rPr>
              <a:t>following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strategies were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considered based</a:t>
            </a:r>
            <a:r>
              <a:rPr dirty="0" sz="950" spc="10">
                <a:latin typeface="Arial MT"/>
                <a:cs typeface="Arial MT"/>
              </a:rPr>
              <a:t> on </a:t>
            </a:r>
            <a:r>
              <a:rPr dirty="0" sz="950" spc="5">
                <a:latin typeface="Arial MT"/>
                <a:cs typeface="Arial MT"/>
              </a:rPr>
              <a:t>peer-reviewed and/or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research-based educational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programming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practices:</a:t>
            </a:r>
            <a:endParaRPr sz="950">
              <a:latin typeface="Arial MT"/>
              <a:cs typeface="Arial MT"/>
            </a:endParaRPr>
          </a:p>
          <a:p>
            <a:pPr marL="12700" marR="5080">
              <a:lnSpc>
                <a:spcPct val="105300"/>
              </a:lnSpc>
              <a:spcBef>
                <a:spcPts val="525"/>
              </a:spcBef>
            </a:pPr>
            <a:r>
              <a:rPr dirty="0" sz="950" spc="25" b="1">
                <a:latin typeface="Arial"/>
                <a:cs typeface="Arial"/>
              </a:rPr>
              <a:t>Extended</a:t>
            </a:r>
            <a:r>
              <a:rPr dirty="0" sz="950" spc="45" b="1">
                <a:latin typeface="Arial"/>
                <a:cs typeface="Arial"/>
              </a:rPr>
              <a:t> </a:t>
            </a:r>
            <a:r>
              <a:rPr dirty="0" sz="950" spc="25" b="1">
                <a:latin typeface="Arial"/>
                <a:cs typeface="Arial"/>
              </a:rPr>
              <a:t>educational</a:t>
            </a:r>
            <a:r>
              <a:rPr dirty="0" sz="950" spc="50" b="1">
                <a:latin typeface="Arial"/>
                <a:cs typeface="Arial"/>
              </a:rPr>
              <a:t> </a:t>
            </a:r>
            <a:r>
              <a:rPr dirty="0" sz="950" spc="25" b="1">
                <a:latin typeface="Arial"/>
                <a:cs typeface="Arial"/>
              </a:rPr>
              <a:t>programming</a:t>
            </a:r>
            <a:r>
              <a:rPr dirty="0" sz="950" spc="20" b="1">
                <a:latin typeface="Arial"/>
                <a:cs typeface="Arial"/>
              </a:rPr>
              <a:t> </a:t>
            </a:r>
            <a:r>
              <a:rPr dirty="0" sz="950" spc="10">
                <a:latin typeface="Arial MT"/>
                <a:cs typeface="Arial MT"/>
              </a:rPr>
              <a:t>including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extended day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and/or extended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school year services,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that</a:t>
            </a:r>
            <a:r>
              <a:rPr dirty="0" sz="950" spc="10">
                <a:latin typeface="Arial MT"/>
                <a:cs typeface="Arial MT"/>
              </a:rPr>
              <a:t> considers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 spc="10">
                <a:latin typeface="Arial MT"/>
                <a:cs typeface="Arial MT"/>
              </a:rPr>
              <a:t> duration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programs/settings based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on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assessment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behavior, </a:t>
            </a:r>
            <a:r>
              <a:rPr dirty="0" sz="950" spc="10">
                <a:latin typeface="Arial MT"/>
                <a:cs typeface="Arial MT"/>
              </a:rPr>
              <a:t>social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skills,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communication,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academics,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and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self-help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skills.</a:t>
            </a:r>
            <a:endParaRPr sz="950">
              <a:latin typeface="Arial MT"/>
              <a:cs typeface="Arial MT"/>
            </a:endParaRPr>
          </a:p>
          <a:p>
            <a:pPr marL="298450" indent="-104775">
              <a:lnSpc>
                <a:spcPct val="100000"/>
              </a:lnSpc>
              <a:spcBef>
                <a:spcPts val="209"/>
              </a:spcBef>
              <a:buChar char="•"/>
              <a:tabLst>
                <a:tab pos="298450" algn="l"/>
              </a:tabLst>
            </a:pPr>
            <a:r>
              <a:rPr dirty="0" sz="950" spc="10">
                <a:latin typeface="Arial MT"/>
                <a:cs typeface="Arial MT"/>
              </a:rPr>
              <a:t>None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needed.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Basis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of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Determination:</a:t>
            </a:r>
            <a:endParaRPr sz="950">
              <a:latin typeface="Arial MT"/>
              <a:cs typeface="Arial MT"/>
            </a:endParaRPr>
          </a:p>
          <a:p>
            <a:pPr marL="298450">
              <a:lnSpc>
                <a:spcPct val="100000"/>
              </a:lnSpc>
              <a:spcBef>
                <a:spcPts val="209"/>
              </a:spcBef>
            </a:pPr>
            <a:r>
              <a:rPr dirty="0" sz="950" spc="10">
                <a:latin typeface="Arial MT"/>
                <a:cs typeface="Arial MT"/>
              </a:rPr>
              <a:t>Bruce has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not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demonstrated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regression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at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this</a:t>
            </a:r>
            <a:r>
              <a:rPr dirty="0" sz="950" spc="10">
                <a:latin typeface="Arial MT"/>
                <a:cs typeface="Arial MT"/>
              </a:rPr>
              <a:t> time, monitoring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for</a:t>
            </a:r>
            <a:r>
              <a:rPr dirty="0" sz="950" spc="10">
                <a:latin typeface="Arial MT"/>
                <a:cs typeface="Arial MT"/>
              </a:rPr>
              <a:t> regression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will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continue.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 MT"/>
              <a:cs typeface="Arial MT"/>
            </a:endParaRPr>
          </a:p>
          <a:p>
            <a:pPr marL="12700" marR="500380">
              <a:lnSpc>
                <a:spcPct val="105300"/>
              </a:lnSpc>
              <a:spcBef>
                <a:spcPts val="5"/>
              </a:spcBef>
            </a:pPr>
            <a:r>
              <a:rPr dirty="0" sz="950" spc="10" b="1">
                <a:latin typeface="Arial"/>
                <a:cs typeface="Arial"/>
              </a:rPr>
              <a:t>Daily</a:t>
            </a:r>
            <a:r>
              <a:rPr dirty="0" sz="950" spc="1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schedules </a:t>
            </a:r>
            <a:r>
              <a:rPr dirty="0" sz="950" spc="5">
                <a:latin typeface="Arial MT"/>
                <a:cs typeface="Arial MT"/>
              </a:rPr>
              <a:t>reflecting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minimal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unstructured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time</a:t>
            </a:r>
            <a:r>
              <a:rPr dirty="0" sz="950" spc="10">
                <a:latin typeface="Arial MT"/>
                <a:cs typeface="Arial MT"/>
              </a:rPr>
              <a:t> and </a:t>
            </a:r>
            <a:r>
              <a:rPr dirty="0" sz="950" spc="5">
                <a:latin typeface="Arial MT"/>
                <a:cs typeface="Arial MT"/>
              </a:rPr>
              <a:t>active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engagement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learning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activities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considers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 duration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of 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programs/settings based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on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assessment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behavior,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social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skills,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communication,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academics,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and selfhelp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skills.</a:t>
            </a:r>
            <a:endParaRPr sz="950">
              <a:latin typeface="Arial MT"/>
              <a:cs typeface="Arial MT"/>
            </a:endParaRPr>
          </a:p>
          <a:p>
            <a:pPr marL="298450" indent="-104775">
              <a:lnSpc>
                <a:spcPct val="100000"/>
              </a:lnSpc>
              <a:spcBef>
                <a:spcPts val="209"/>
              </a:spcBef>
              <a:buChar char="•"/>
              <a:tabLst>
                <a:tab pos="298450" algn="l"/>
              </a:tabLst>
            </a:pPr>
            <a:r>
              <a:rPr dirty="0" sz="950" spc="5">
                <a:latin typeface="Arial MT"/>
                <a:cs typeface="Arial MT"/>
              </a:rPr>
              <a:t>Refer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current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Schedule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of</a:t>
            </a:r>
            <a:r>
              <a:rPr dirty="0" sz="950">
                <a:latin typeface="Arial MT"/>
                <a:cs typeface="Arial MT"/>
              </a:rPr>
              <a:t> Services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page.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1100">
              <a:latin typeface="Arial MT"/>
              <a:cs typeface="Arial MT"/>
            </a:endParaRPr>
          </a:p>
          <a:p>
            <a:pPr marL="12700" marR="137160">
              <a:lnSpc>
                <a:spcPct val="105300"/>
              </a:lnSpc>
            </a:pPr>
            <a:r>
              <a:rPr dirty="0" sz="950" spc="20" b="1">
                <a:latin typeface="Arial"/>
                <a:cs typeface="Arial"/>
              </a:rPr>
              <a:t>In-home</a:t>
            </a:r>
            <a:r>
              <a:rPr dirty="0" sz="950" spc="2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and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community-based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training</a:t>
            </a:r>
            <a:r>
              <a:rPr dirty="0" sz="950" spc="10" b="1">
                <a:latin typeface="Arial"/>
                <a:cs typeface="Arial"/>
              </a:rPr>
              <a:t> </a:t>
            </a:r>
            <a:r>
              <a:rPr dirty="0" sz="950" spc="10">
                <a:latin typeface="Arial MT"/>
                <a:cs typeface="Arial MT"/>
              </a:rPr>
              <a:t>or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viable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alternatives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that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assist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 student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with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acquisition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social/behavioral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skills, </a:t>
            </a:r>
            <a:r>
              <a:rPr dirty="0" sz="950" spc="10">
                <a:latin typeface="Arial MT"/>
                <a:cs typeface="Arial MT"/>
              </a:rPr>
              <a:t> including strategies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that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facilitate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maintenance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generalization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such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skills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from</a:t>
            </a:r>
            <a:r>
              <a:rPr dirty="0" sz="950" spc="15">
                <a:latin typeface="Arial MT"/>
                <a:cs typeface="Arial MT"/>
              </a:rPr>
              <a:t> home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school,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school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home,</a:t>
            </a:r>
            <a:r>
              <a:rPr dirty="0" sz="950" spc="15">
                <a:latin typeface="Arial MT"/>
                <a:cs typeface="Arial MT"/>
              </a:rPr>
              <a:t> home </a:t>
            </a:r>
            <a:r>
              <a:rPr dirty="0" sz="950" spc="10">
                <a:latin typeface="Arial MT"/>
                <a:cs typeface="Arial MT"/>
              </a:rPr>
              <a:t>to 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20">
                <a:latin typeface="Arial MT"/>
                <a:cs typeface="Arial MT"/>
              </a:rPr>
              <a:t>community, and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20">
                <a:latin typeface="Arial MT"/>
                <a:cs typeface="Arial MT"/>
              </a:rPr>
              <a:t>school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20">
                <a:latin typeface="Arial MT"/>
                <a:cs typeface="Arial MT"/>
              </a:rPr>
              <a:t>community.</a:t>
            </a:r>
            <a:endParaRPr sz="950">
              <a:latin typeface="Arial MT"/>
              <a:cs typeface="Arial MT"/>
            </a:endParaRPr>
          </a:p>
          <a:p>
            <a:pPr marL="298450" indent="-104775">
              <a:lnSpc>
                <a:spcPct val="100000"/>
              </a:lnSpc>
              <a:spcBef>
                <a:spcPts val="210"/>
              </a:spcBef>
              <a:buChar char="•"/>
              <a:tabLst>
                <a:tab pos="298450" algn="l"/>
              </a:tabLst>
            </a:pPr>
            <a:r>
              <a:rPr dirty="0" sz="950" spc="10">
                <a:latin typeface="Arial MT"/>
                <a:cs typeface="Arial MT"/>
              </a:rPr>
              <a:t>None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needed.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Basis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of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Determination:</a:t>
            </a:r>
            <a:endParaRPr sz="950">
              <a:latin typeface="Arial MT"/>
              <a:cs typeface="Arial MT"/>
            </a:endParaRPr>
          </a:p>
          <a:p>
            <a:pPr marL="298450">
              <a:lnSpc>
                <a:spcPct val="100000"/>
              </a:lnSpc>
              <a:spcBef>
                <a:spcPts val="210"/>
              </a:spcBef>
            </a:pPr>
            <a:r>
              <a:rPr dirty="0" sz="950" spc="15">
                <a:latin typeface="Arial MT"/>
                <a:cs typeface="Arial MT"/>
              </a:rPr>
              <a:t>No concerns note by parents </a:t>
            </a:r>
            <a:r>
              <a:rPr dirty="0" sz="950" spc="10">
                <a:latin typeface="Arial MT"/>
                <a:cs typeface="Arial MT"/>
              </a:rPr>
              <a:t>at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this </a:t>
            </a:r>
            <a:r>
              <a:rPr dirty="0" sz="950" spc="15">
                <a:latin typeface="Arial MT"/>
                <a:cs typeface="Arial MT"/>
              </a:rPr>
              <a:t>time.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950" spc="10" b="1">
                <a:latin typeface="Arial"/>
                <a:cs typeface="Arial"/>
              </a:rPr>
              <a:t>Positive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behavior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support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strategies</a:t>
            </a:r>
            <a:endParaRPr sz="950">
              <a:latin typeface="Arial"/>
              <a:cs typeface="Arial"/>
            </a:endParaRPr>
          </a:p>
          <a:p>
            <a:pPr marL="298450" indent="-104775">
              <a:lnSpc>
                <a:spcPct val="100000"/>
              </a:lnSpc>
              <a:spcBef>
                <a:spcPts val="210"/>
              </a:spcBef>
              <a:buChar char="•"/>
              <a:tabLst>
                <a:tab pos="298450" algn="l"/>
              </a:tabLst>
            </a:pPr>
            <a:r>
              <a:rPr dirty="0" sz="950" spc="5">
                <a:latin typeface="Arial MT"/>
                <a:cs typeface="Arial MT"/>
              </a:rPr>
              <a:t>Refer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student's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behavior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related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goals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objectives.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1100">
              <a:latin typeface="Arial MT"/>
              <a:cs typeface="Arial MT"/>
            </a:endParaRPr>
          </a:p>
          <a:p>
            <a:pPr marL="12700" marR="376555">
              <a:lnSpc>
                <a:spcPct val="105300"/>
              </a:lnSpc>
            </a:pPr>
            <a:r>
              <a:rPr dirty="0" sz="950" spc="5" b="1">
                <a:latin typeface="Arial"/>
                <a:cs typeface="Arial"/>
              </a:rPr>
              <a:t>Staff-to-student ratio</a:t>
            </a:r>
            <a:r>
              <a:rPr dirty="0" sz="950" spc="35" b="1">
                <a:latin typeface="Arial"/>
                <a:cs typeface="Arial"/>
              </a:rPr>
              <a:t> </a:t>
            </a:r>
            <a:r>
              <a:rPr dirty="0" sz="950" spc="5">
                <a:latin typeface="Arial MT"/>
                <a:cs typeface="Arial MT"/>
              </a:rPr>
              <a:t>appropriate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 identified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activities</a:t>
            </a:r>
            <a:r>
              <a:rPr dirty="0" sz="950" spc="10">
                <a:latin typeface="Arial MT"/>
                <a:cs typeface="Arial MT"/>
              </a:rPr>
              <a:t> and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as </a:t>
            </a:r>
            <a:r>
              <a:rPr dirty="0" sz="950" spc="5">
                <a:latin typeface="Arial MT"/>
                <a:cs typeface="Arial MT"/>
              </a:rPr>
              <a:t>needed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 achieve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social/behavioral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progress based</a:t>
            </a:r>
            <a:r>
              <a:rPr dirty="0" sz="950" spc="10">
                <a:latin typeface="Arial MT"/>
                <a:cs typeface="Arial MT"/>
              </a:rPr>
              <a:t> on </a:t>
            </a:r>
            <a:r>
              <a:rPr dirty="0" sz="950">
                <a:latin typeface="Arial MT"/>
                <a:cs typeface="Arial MT"/>
              </a:rPr>
              <a:t>child’s </a:t>
            </a:r>
            <a:r>
              <a:rPr dirty="0" sz="950" spc="5">
                <a:latin typeface="Arial MT"/>
                <a:cs typeface="Arial MT"/>
              </a:rPr>
              <a:t> development </a:t>
            </a:r>
            <a:r>
              <a:rPr dirty="0" sz="950" spc="10">
                <a:latin typeface="Arial MT"/>
                <a:cs typeface="Arial MT"/>
              </a:rPr>
              <a:t>and </a:t>
            </a:r>
            <a:r>
              <a:rPr dirty="0" sz="950" spc="5">
                <a:latin typeface="Arial MT"/>
                <a:cs typeface="Arial MT"/>
              </a:rPr>
              <a:t>learning level (acquisition, fluency, maintenance, generalization) that encourages work towards individual 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independence.</a:t>
            </a:r>
            <a:endParaRPr sz="950">
              <a:latin typeface="Arial MT"/>
              <a:cs typeface="Arial MT"/>
            </a:endParaRPr>
          </a:p>
          <a:p>
            <a:pPr marL="193675" marR="5215890">
              <a:lnSpc>
                <a:spcPct val="105300"/>
              </a:lnSpc>
              <a:spcBef>
                <a:spcPts val="150"/>
              </a:spcBef>
            </a:pPr>
            <a:r>
              <a:rPr dirty="0" sz="950" spc="15">
                <a:latin typeface="Arial MT"/>
                <a:cs typeface="Arial MT"/>
              </a:rPr>
              <a:t>Special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Education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classroom: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3:6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Related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Services: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1:1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Arial MT"/>
              <a:cs typeface="Arial MT"/>
            </a:endParaRPr>
          </a:p>
          <a:p>
            <a:pPr marL="12700" marR="119380">
              <a:lnSpc>
                <a:spcPct val="105300"/>
              </a:lnSpc>
            </a:pPr>
            <a:r>
              <a:rPr dirty="0" sz="950" spc="15" b="1">
                <a:latin typeface="Arial"/>
                <a:cs typeface="Arial"/>
              </a:rPr>
              <a:t>Futures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planning</a:t>
            </a:r>
            <a:r>
              <a:rPr dirty="0" sz="950" spc="25" b="1">
                <a:latin typeface="Arial"/>
                <a:cs typeface="Arial"/>
              </a:rPr>
              <a:t> </a:t>
            </a:r>
            <a:r>
              <a:rPr dirty="0" sz="950" spc="10">
                <a:latin typeface="Arial MT"/>
                <a:cs typeface="Arial MT"/>
              </a:rPr>
              <a:t>(beginning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at any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age)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for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integrated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living,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work,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community,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educational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environments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that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consider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skills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necessary</a:t>
            </a:r>
            <a:r>
              <a:rPr dirty="0" sz="950" spc="5">
                <a:latin typeface="Arial MT"/>
                <a:cs typeface="Arial MT"/>
              </a:rPr>
              <a:t> to function in </a:t>
            </a:r>
            <a:r>
              <a:rPr dirty="0" sz="950" spc="10">
                <a:latin typeface="Arial MT"/>
                <a:cs typeface="Arial MT"/>
              </a:rPr>
              <a:t>current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post-secondary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environments.</a:t>
            </a:r>
            <a:endParaRPr sz="950">
              <a:latin typeface="Arial MT"/>
              <a:cs typeface="Arial MT"/>
            </a:endParaRPr>
          </a:p>
          <a:p>
            <a:pPr marL="298450" indent="-104775">
              <a:lnSpc>
                <a:spcPct val="100000"/>
              </a:lnSpc>
              <a:spcBef>
                <a:spcPts val="210"/>
              </a:spcBef>
              <a:buChar char="•"/>
              <a:tabLst>
                <a:tab pos="298450" algn="l"/>
              </a:tabLst>
            </a:pPr>
            <a:r>
              <a:rPr dirty="0" sz="950" spc="10">
                <a:latin typeface="Arial MT"/>
                <a:cs typeface="Arial MT"/>
              </a:rPr>
              <a:t>None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needed.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Basis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of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Determination:</a:t>
            </a:r>
            <a:endParaRPr sz="950">
              <a:latin typeface="Arial MT"/>
              <a:cs typeface="Arial MT"/>
            </a:endParaRPr>
          </a:p>
          <a:p>
            <a:pPr marL="298450">
              <a:lnSpc>
                <a:spcPct val="100000"/>
              </a:lnSpc>
              <a:spcBef>
                <a:spcPts val="210"/>
              </a:spcBef>
            </a:pPr>
            <a:r>
              <a:rPr dirty="0" sz="950" spc="5">
                <a:latin typeface="Arial MT"/>
                <a:cs typeface="Arial MT"/>
              </a:rPr>
              <a:t>Bruce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is</a:t>
            </a:r>
            <a:r>
              <a:rPr dirty="0" sz="950" spc="10">
                <a:latin typeface="Arial MT"/>
                <a:cs typeface="Arial MT"/>
              </a:rPr>
              <a:t> currently attending</a:t>
            </a:r>
            <a:r>
              <a:rPr dirty="0" sz="950" spc="5">
                <a:latin typeface="Arial MT"/>
                <a:cs typeface="Arial MT"/>
              </a:rPr>
              <a:t> Kindergarten </a:t>
            </a:r>
            <a:r>
              <a:rPr dirty="0" sz="950" spc="10">
                <a:latin typeface="Arial MT"/>
                <a:cs typeface="Arial MT"/>
              </a:rPr>
              <a:t>working on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behaviors and social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interactions.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950" spc="20" b="1">
                <a:latin typeface="Arial"/>
                <a:cs typeface="Arial"/>
              </a:rPr>
              <a:t>Parent/family</a:t>
            </a:r>
            <a:r>
              <a:rPr dirty="0" sz="950" spc="10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training</a:t>
            </a:r>
            <a:r>
              <a:rPr dirty="0" sz="950" spc="1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and support</a:t>
            </a:r>
            <a:endParaRPr sz="950">
              <a:latin typeface="Arial"/>
              <a:cs typeface="Arial"/>
            </a:endParaRPr>
          </a:p>
          <a:p>
            <a:pPr marL="298450" indent="-104775">
              <a:lnSpc>
                <a:spcPct val="100000"/>
              </a:lnSpc>
              <a:spcBef>
                <a:spcPts val="210"/>
              </a:spcBef>
              <a:buChar char="•"/>
              <a:tabLst>
                <a:tab pos="298450" algn="l"/>
              </a:tabLst>
            </a:pPr>
            <a:r>
              <a:rPr dirty="0" sz="950" spc="5">
                <a:latin typeface="Arial MT"/>
                <a:cs typeface="Arial MT"/>
              </a:rPr>
              <a:t>Parent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workshops</a:t>
            </a:r>
            <a:endParaRPr sz="950">
              <a:latin typeface="Arial MT"/>
              <a:cs typeface="Arial MT"/>
            </a:endParaRPr>
          </a:p>
          <a:p>
            <a:pPr marL="298450" indent="-104775">
              <a:lnSpc>
                <a:spcPct val="100000"/>
              </a:lnSpc>
              <a:spcBef>
                <a:spcPts val="210"/>
              </a:spcBef>
              <a:buChar char="•"/>
              <a:tabLst>
                <a:tab pos="298450" algn="l"/>
              </a:tabLst>
            </a:pPr>
            <a:r>
              <a:rPr dirty="0" sz="950">
                <a:latin typeface="Arial MT"/>
                <a:cs typeface="Arial MT"/>
              </a:rPr>
              <a:t>Teacher</a:t>
            </a:r>
            <a:r>
              <a:rPr dirty="0" sz="950" spc="-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conferences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950" spc="15" b="1">
                <a:latin typeface="Arial"/>
                <a:cs typeface="Arial"/>
              </a:rPr>
              <a:t>Communication</a:t>
            </a:r>
            <a:r>
              <a:rPr dirty="0" sz="950" spc="10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interventions</a:t>
            </a:r>
            <a:endParaRPr sz="950">
              <a:latin typeface="Arial"/>
              <a:cs typeface="Arial"/>
            </a:endParaRPr>
          </a:p>
          <a:p>
            <a:pPr marL="298450" indent="-104775">
              <a:lnSpc>
                <a:spcPct val="100000"/>
              </a:lnSpc>
              <a:spcBef>
                <a:spcPts val="210"/>
              </a:spcBef>
              <a:buChar char="•"/>
              <a:tabLst>
                <a:tab pos="298450" algn="l"/>
              </a:tabLst>
            </a:pPr>
            <a:r>
              <a:rPr dirty="0" sz="950" spc="10">
                <a:latin typeface="Arial MT"/>
                <a:cs typeface="Arial MT"/>
              </a:rPr>
              <a:t>Refer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student’s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goals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objectives.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950" spc="20" b="1">
                <a:latin typeface="Arial"/>
                <a:cs typeface="Arial"/>
              </a:rPr>
              <a:t>Social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Skills</a:t>
            </a:r>
            <a:endParaRPr sz="950">
              <a:latin typeface="Arial"/>
              <a:cs typeface="Arial"/>
            </a:endParaRPr>
          </a:p>
          <a:p>
            <a:pPr marL="298450" indent="-104775">
              <a:lnSpc>
                <a:spcPct val="100000"/>
              </a:lnSpc>
              <a:spcBef>
                <a:spcPts val="210"/>
              </a:spcBef>
              <a:buChar char="•"/>
              <a:tabLst>
                <a:tab pos="298450" algn="l"/>
              </a:tabLst>
            </a:pPr>
            <a:r>
              <a:rPr dirty="0" sz="950" spc="10">
                <a:latin typeface="Arial MT"/>
                <a:cs typeface="Arial MT"/>
              </a:rPr>
              <a:t>Refer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student’s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goals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objectives.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 MT"/>
              <a:cs typeface="Arial MT"/>
            </a:endParaRPr>
          </a:p>
          <a:p>
            <a:pPr marL="193675" marR="5168265" indent="-180975">
              <a:lnSpc>
                <a:spcPct val="111800"/>
              </a:lnSpc>
            </a:pPr>
            <a:r>
              <a:rPr dirty="0" sz="950" spc="5" b="1">
                <a:latin typeface="Arial"/>
                <a:cs typeface="Arial"/>
              </a:rPr>
              <a:t>Professional educator/staff support </a:t>
            </a:r>
            <a:r>
              <a:rPr dirty="0" sz="950" spc="-250" b="1"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8A8A8A"/>
                </a:solidFill>
                <a:latin typeface="Arial MT"/>
                <a:cs typeface="Arial MT"/>
              </a:rPr>
              <a:t>Basic </a:t>
            </a:r>
            <a:r>
              <a:rPr dirty="0" sz="950" spc="15">
                <a:solidFill>
                  <a:srgbClr val="8A8A8A"/>
                </a:solidFill>
                <a:latin typeface="Arial MT"/>
                <a:cs typeface="Arial MT"/>
              </a:rPr>
              <a:t>information on ASD </a:t>
            </a:r>
            <a:r>
              <a:rPr dirty="0" sz="950" spc="20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A8A8A"/>
                </a:solidFill>
                <a:latin typeface="Arial MT"/>
                <a:cs typeface="Arial MT"/>
              </a:rPr>
              <a:t>Teaching</a:t>
            </a:r>
            <a:r>
              <a:rPr dirty="0" sz="950" spc="-20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A8A8A"/>
                </a:solidFill>
                <a:latin typeface="Arial MT"/>
                <a:cs typeface="Arial MT"/>
              </a:rPr>
              <a:t>behavior</a:t>
            </a:r>
            <a:r>
              <a:rPr dirty="0" sz="950" spc="-15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A8A8A"/>
                </a:solidFill>
                <a:latin typeface="Arial MT"/>
                <a:cs typeface="Arial MT"/>
              </a:rPr>
              <a:t>strategies</a:t>
            </a:r>
            <a:endParaRPr sz="950">
              <a:latin typeface="Arial MT"/>
              <a:cs typeface="Arial MT"/>
            </a:endParaRPr>
          </a:p>
          <a:p>
            <a:pPr marL="193675" marR="4473575">
              <a:lnSpc>
                <a:spcPct val="105300"/>
              </a:lnSpc>
            </a:pPr>
            <a:r>
              <a:rPr dirty="0" sz="950" spc="5">
                <a:solidFill>
                  <a:srgbClr val="8A8A8A"/>
                </a:solidFill>
                <a:latin typeface="Arial MT"/>
                <a:cs typeface="Arial MT"/>
              </a:rPr>
              <a:t>Training for implementation of the student’s IEP </a:t>
            </a:r>
            <a:r>
              <a:rPr dirty="0" sz="950" spc="-250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A8A8A"/>
                </a:solidFill>
                <a:latin typeface="Arial MT"/>
                <a:cs typeface="Arial MT"/>
              </a:rPr>
              <a:t>Training</a:t>
            </a:r>
            <a:r>
              <a:rPr dirty="0" sz="950" spc="-15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A8A8A"/>
                </a:solidFill>
                <a:latin typeface="Arial MT"/>
                <a:cs typeface="Arial MT"/>
              </a:rPr>
              <a:t>for</a:t>
            </a:r>
            <a:r>
              <a:rPr dirty="0" sz="950" spc="-10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A8A8A"/>
                </a:solidFill>
                <a:latin typeface="Arial MT"/>
                <a:cs typeface="Arial MT"/>
              </a:rPr>
              <a:t>implementation</a:t>
            </a:r>
            <a:r>
              <a:rPr dirty="0" sz="950" spc="-5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 spc="5">
                <a:solidFill>
                  <a:srgbClr val="8A8A8A"/>
                </a:solidFill>
                <a:latin typeface="Arial MT"/>
                <a:cs typeface="Arial MT"/>
              </a:rPr>
              <a:t>of</a:t>
            </a:r>
            <a:r>
              <a:rPr dirty="0" sz="950" spc="-5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A8A8A"/>
                </a:solidFill>
                <a:latin typeface="Arial MT"/>
                <a:cs typeface="Arial MT"/>
              </a:rPr>
              <a:t>BIP</a:t>
            </a:r>
            <a:endParaRPr sz="950">
              <a:latin typeface="Arial MT"/>
              <a:cs typeface="Arial MT"/>
            </a:endParaRPr>
          </a:p>
          <a:p>
            <a:pPr marL="193675">
              <a:lnSpc>
                <a:spcPct val="100000"/>
              </a:lnSpc>
              <a:spcBef>
                <a:spcPts val="60"/>
              </a:spcBef>
            </a:pPr>
            <a:r>
              <a:rPr dirty="0" sz="950" spc="10">
                <a:solidFill>
                  <a:srgbClr val="8A8A8A"/>
                </a:solidFill>
                <a:latin typeface="Arial MT"/>
                <a:cs typeface="Arial MT"/>
              </a:rPr>
              <a:t>Social</a:t>
            </a:r>
            <a:r>
              <a:rPr dirty="0" sz="950" spc="-10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 spc="5">
                <a:solidFill>
                  <a:srgbClr val="8A8A8A"/>
                </a:solidFill>
                <a:latin typeface="Arial MT"/>
                <a:cs typeface="Arial MT"/>
              </a:rPr>
              <a:t>Skills</a:t>
            </a:r>
            <a:r>
              <a:rPr dirty="0" sz="950" spc="-5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8A8A8A"/>
                </a:solidFill>
                <a:latin typeface="Arial MT"/>
                <a:cs typeface="Arial MT"/>
              </a:rPr>
              <a:t>Training</a:t>
            </a:r>
            <a:endParaRPr sz="950">
              <a:latin typeface="Arial MT"/>
              <a:cs typeface="Arial MT"/>
            </a:endParaRPr>
          </a:p>
          <a:p>
            <a:pPr marL="193675" marR="4594860">
              <a:lnSpc>
                <a:spcPct val="105300"/>
              </a:lnSpc>
            </a:pPr>
            <a:r>
              <a:rPr dirty="0" sz="950" spc="10">
                <a:solidFill>
                  <a:srgbClr val="8A8A8A"/>
                </a:solidFill>
                <a:latin typeface="Arial MT"/>
                <a:cs typeface="Arial MT"/>
              </a:rPr>
              <a:t>Consultation</a:t>
            </a:r>
            <a:r>
              <a:rPr dirty="0" sz="950" spc="-10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8A8A8A"/>
                </a:solidFill>
                <a:latin typeface="Arial MT"/>
                <a:cs typeface="Arial MT"/>
              </a:rPr>
              <a:t>with</a:t>
            </a:r>
            <a:r>
              <a:rPr dirty="0" sz="950" spc="-10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8A8A8A"/>
                </a:solidFill>
                <a:latin typeface="Arial MT"/>
                <a:cs typeface="Arial MT"/>
              </a:rPr>
              <a:t>AU</a:t>
            </a:r>
            <a:r>
              <a:rPr dirty="0" sz="950" spc="-5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8A8A8A"/>
                </a:solidFill>
                <a:latin typeface="Arial MT"/>
                <a:cs typeface="Arial MT"/>
              </a:rPr>
              <a:t>Multi-Disciplinary</a:t>
            </a:r>
            <a:r>
              <a:rPr dirty="0" sz="950" spc="-10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 spc="15">
                <a:solidFill>
                  <a:srgbClr val="8A8A8A"/>
                </a:solidFill>
                <a:latin typeface="Arial MT"/>
                <a:cs typeface="Arial MT"/>
              </a:rPr>
              <a:t>Team </a:t>
            </a:r>
            <a:r>
              <a:rPr dirty="0" sz="950" spc="-245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A8A8A"/>
                </a:solidFill>
                <a:latin typeface="Arial MT"/>
                <a:cs typeface="Arial MT"/>
              </a:rPr>
              <a:t>Region</a:t>
            </a:r>
            <a:r>
              <a:rPr dirty="0" sz="950" spc="-25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 spc="5">
                <a:solidFill>
                  <a:srgbClr val="8A8A8A"/>
                </a:solidFill>
                <a:latin typeface="Arial MT"/>
                <a:cs typeface="Arial MT"/>
              </a:rPr>
              <a:t>15</a:t>
            </a:r>
            <a:r>
              <a:rPr dirty="0" sz="950" spc="-20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 spc="-5">
                <a:solidFill>
                  <a:srgbClr val="8A8A8A"/>
                </a:solidFill>
                <a:latin typeface="Arial MT"/>
                <a:cs typeface="Arial MT"/>
              </a:rPr>
              <a:t>Training</a:t>
            </a:r>
            <a:endParaRPr sz="950">
              <a:latin typeface="Arial MT"/>
              <a:cs typeface="Arial MT"/>
            </a:endParaRPr>
          </a:p>
          <a:p>
            <a:pPr marL="193675">
              <a:lnSpc>
                <a:spcPct val="100000"/>
              </a:lnSpc>
              <a:spcBef>
                <a:spcPts val="60"/>
              </a:spcBef>
            </a:pPr>
            <a:r>
              <a:rPr dirty="0" sz="950" spc="5">
                <a:solidFill>
                  <a:srgbClr val="8A8A8A"/>
                </a:solidFill>
                <a:latin typeface="Arial MT"/>
                <a:cs typeface="Arial MT"/>
              </a:rPr>
              <a:t>Support</a:t>
            </a:r>
            <a:r>
              <a:rPr dirty="0" sz="950" spc="-30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 spc="5">
                <a:solidFill>
                  <a:srgbClr val="8A8A8A"/>
                </a:solidFill>
                <a:latin typeface="Arial MT"/>
                <a:cs typeface="Arial MT"/>
              </a:rPr>
              <a:t>from</a:t>
            </a:r>
            <a:r>
              <a:rPr dirty="0" sz="950" spc="-30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8A8A8A"/>
                </a:solidFill>
                <a:latin typeface="Arial MT"/>
                <a:cs typeface="Arial MT"/>
              </a:rPr>
              <a:t>SSC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00025" y="200025"/>
            <a:ext cx="6489065" cy="118364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65"/>
              </a:spcBef>
            </a:pPr>
            <a:r>
              <a:rPr dirty="0" sz="950" spc="15" b="1">
                <a:latin typeface="Arial"/>
                <a:cs typeface="Arial"/>
              </a:rPr>
              <a:t>Teaching</a:t>
            </a:r>
            <a:r>
              <a:rPr dirty="0" sz="950" spc="25" b="1">
                <a:latin typeface="Arial"/>
                <a:cs typeface="Arial"/>
              </a:rPr>
              <a:t> </a:t>
            </a:r>
            <a:r>
              <a:rPr dirty="0" sz="950" spc="15" b="1">
                <a:latin typeface="Arial"/>
                <a:cs typeface="Arial"/>
              </a:rPr>
              <a:t>strategies</a:t>
            </a:r>
            <a:r>
              <a:rPr dirty="0" sz="950" spc="20" b="1">
                <a:latin typeface="Arial"/>
                <a:cs typeface="Arial"/>
              </a:rPr>
              <a:t> </a:t>
            </a:r>
            <a:r>
              <a:rPr dirty="0" sz="950" spc="5">
                <a:latin typeface="Arial MT"/>
                <a:cs typeface="Arial MT"/>
              </a:rPr>
              <a:t>based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on </a:t>
            </a:r>
            <a:r>
              <a:rPr dirty="0" sz="950" spc="5">
                <a:latin typeface="Arial MT"/>
                <a:cs typeface="Arial MT"/>
              </a:rPr>
              <a:t>peer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reviewed,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research-based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practices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for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students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with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Autism.</a:t>
            </a:r>
            <a:r>
              <a:rPr dirty="0" sz="950" spc="10">
                <a:latin typeface="Arial MT"/>
                <a:cs typeface="Arial MT"/>
              </a:rPr>
              <a:t> The </a:t>
            </a:r>
            <a:r>
              <a:rPr dirty="0" sz="950" spc="5">
                <a:latin typeface="Arial MT"/>
                <a:cs typeface="Arial MT"/>
              </a:rPr>
              <a:t>following types </a:t>
            </a:r>
            <a:r>
              <a:rPr dirty="0" sz="950" spc="10">
                <a:latin typeface="Arial MT"/>
                <a:cs typeface="Arial MT"/>
              </a:rPr>
              <a:t> techniques/strategies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are used:</a:t>
            </a:r>
            <a:endParaRPr sz="950">
              <a:latin typeface="Arial MT"/>
              <a:cs typeface="Arial MT"/>
            </a:endParaRPr>
          </a:p>
          <a:p>
            <a:pPr marL="298450" indent="-104775">
              <a:lnSpc>
                <a:spcPct val="100000"/>
              </a:lnSpc>
              <a:spcBef>
                <a:spcPts val="209"/>
              </a:spcBef>
              <a:buChar char="•"/>
              <a:tabLst>
                <a:tab pos="298450" algn="l"/>
              </a:tabLst>
            </a:pPr>
            <a:r>
              <a:rPr dirty="0" sz="950" spc="10">
                <a:latin typeface="Arial MT"/>
                <a:cs typeface="Arial MT"/>
              </a:rPr>
              <a:t>Refer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student’s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goals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objectives.</a:t>
            </a:r>
            <a:endParaRPr sz="950">
              <a:latin typeface="Arial MT"/>
              <a:cs typeface="Arial MT"/>
            </a:endParaRPr>
          </a:p>
          <a:p>
            <a:pPr marL="298450" indent="-104775">
              <a:lnSpc>
                <a:spcPct val="100000"/>
              </a:lnSpc>
              <a:spcBef>
                <a:spcPts val="209"/>
              </a:spcBef>
              <a:buChar char="•"/>
              <a:tabLst>
                <a:tab pos="298450" algn="l"/>
              </a:tabLst>
            </a:pPr>
            <a:r>
              <a:rPr dirty="0" sz="950" spc="-5">
                <a:latin typeface="Arial MT"/>
                <a:cs typeface="Arial MT"/>
              </a:rPr>
              <a:t>Behavior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 spc="-5">
                <a:latin typeface="Arial MT"/>
                <a:cs typeface="Arial MT"/>
              </a:rPr>
              <a:t>management</a:t>
            </a:r>
            <a:endParaRPr sz="950">
              <a:latin typeface="Arial MT"/>
              <a:cs typeface="Arial MT"/>
            </a:endParaRPr>
          </a:p>
          <a:p>
            <a:pPr marL="298450" indent="-104775">
              <a:lnSpc>
                <a:spcPct val="100000"/>
              </a:lnSpc>
              <a:spcBef>
                <a:spcPts val="209"/>
              </a:spcBef>
              <a:buChar char="•"/>
              <a:tabLst>
                <a:tab pos="298450" algn="l"/>
              </a:tabLst>
            </a:pPr>
            <a:r>
              <a:rPr dirty="0" sz="950">
                <a:latin typeface="Arial MT"/>
                <a:cs typeface="Arial MT"/>
              </a:rPr>
              <a:t>Structured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learning</a:t>
            </a:r>
            <a:endParaRPr sz="950">
              <a:latin typeface="Arial MT"/>
              <a:cs typeface="Arial MT"/>
            </a:endParaRPr>
          </a:p>
          <a:p>
            <a:pPr marL="298450" indent="-104775">
              <a:lnSpc>
                <a:spcPct val="100000"/>
              </a:lnSpc>
              <a:spcBef>
                <a:spcPts val="209"/>
              </a:spcBef>
              <a:buChar char="•"/>
              <a:tabLst>
                <a:tab pos="298450" algn="l"/>
              </a:tabLst>
            </a:pPr>
            <a:r>
              <a:rPr dirty="0" sz="950" spc="5">
                <a:latin typeface="Arial MT"/>
                <a:cs typeface="Arial MT"/>
              </a:rPr>
              <a:t>Gross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and/or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fine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motor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training</a:t>
            </a:r>
            <a:endParaRPr sz="950">
              <a:latin typeface="Arial MT"/>
              <a:cs typeface="Arial MT"/>
            </a:endParaRPr>
          </a:p>
          <a:p>
            <a:pPr marL="298450" indent="-104775">
              <a:lnSpc>
                <a:spcPct val="100000"/>
              </a:lnSpc>
              <a:spcBef>
                <a:spcPts val="209"/>
              </a:spcBef>
              <a:buChar char="•"/>
              <a:tabLst>
                <a:tab pos="298450" algn="l"/>
              </a:tabLst>
            </a:pPr>
            <a:r>
              <a:rPr dirty="0" sz="950" spc="10">
                <a:latin typeface="Arial MT"/>
                <a:cs typeface="Arial MT"/>
              </a:rPr>
              <a:t>Visual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supports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0950" y="4975224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6286500" y="0"/>
                </a:moveTo>
                <a:lnTo>
                  <a:pt x="0" y="0"/>
                </a:lnTo>
                <a:lnTo>
                  <a:pt x="0" y="9525"/>
                </a:lnTo>
                <a:lnTo>
                  <a:pt x="6286500" y="9525"/>
                </a:lnTo>
                <a:lnTo>
                  <a:pt x="6286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50950" y="515620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6286500" y="0"/>
                </a:moveTo>
                <a:lnTo>
                  <a:pt x="0" y="0"/>
                </a:lnTo>
                <a:lnTo>
                  <a:pt x="0" y="9525"/>
                </a:lnTo>
                <a:lnTo>
                  <a:pt x="6286500" y="9525"/>
                </a:lnTo>
                <a:lnTo>
                  <a:pt x="6286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7962" y="284162"/>
            <a:ext cx="7334250" cy="219075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200" b="1">
                <a:latin typeface="Arial"/>
                <a:cs typeface="Arial"/>
              </a:rPr>
              <a:t>PERSONAL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5" b="1">
                <a:latin typeface="Arial"/>
                <a:cs typeface="Arial"/>
              </a:rPr>
              <a:t>CARE </a:t>
            </a:r>
            <a:r>
              <a:rPr dirty="0" sz="1200" spc="10" b="1"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0025" y="546002"/>
            <a:ext cx="7281545" cy="490537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200" spc="-5" b="1">
                <a:latin typeface="Arial"/>
                <a:cs typeface="Arial"/>
              </a:rPr>
              <a:t>Summarize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medical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necessity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personal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care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services:</a:t>
            </a:r>
            <a:endParaRPr sz="1200">
              <a:latin typeface="Arial"/>
              <a:cs typeface="Arial"/>
            </a:endParaRPr>
          </a:p>
          <a:p>
            <a:pPr marL="193675" marR="5080">
              <a:lnSpc>
                <a:spcPct val="105300"/>
              </a:lnSpc>
              <a:spcBef>
                <a:spcPts val="250"/>
              </a:spcBef>
            </a:pPr>
            <a:r>
              <a:rPr dirty="0" sz="950" spc="5">
                <a:latin typeface="Arial MT"/>
                <a:cs typeface="Arial MT"/>
              </a:rPr>
              <a:t>Bruce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is</a:t>
            </a:r>
            <a:r>
              <a:rPr dirty="0" sz="950" spc="10">
                <a:latin typeface="Arial MT"/>
                <a:cs typeface="Arial MT"/>
              </a:rPr>
              <a:t> a student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with severe </a:t>
            </a:r>
            <a:r>
              <a:rPr dirty="0" sz="950" spc="5">
                <a:latin typeface="Arial MT"/>
                <a:cs typeface="Arial MT"/>
              </a:rPr>
              <a:t>limitation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 his behavior and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communication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directly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impacting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his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activities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daily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living </a:t>
            </a:r>
            <a:r>
              <a:rPr dirty="0" sz="950" spc="10">
                <a:latin typeface="Arial MT"/>
                <a:cs typeface="Arial MT"/>
              </a:rPr>
              <a:t> throughout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all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settings.</a:t>
            </a:r>
            <a:r>
              <a:rPr dirty="0" sz="950" spc="3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5">
                <a:latin typeface="Arial MT"/>
                <a:cs typeface="Arial MT"/>
              </a:rPr>
              <a:t> severity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of his disabilities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create Bruce to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require monitoring while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performing personal tasks,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verbal </a:t>
            </a:r>
            <a:r>
              <a:rPr dirty="0" sz="950" spc="10">
                <a:latin typeface="Arial MT"/>
                <a:cs typeface="Arial MT"/>
              </a:rPr>
              <a:t> reminders</a:t>
            </a:r>
            <a:r>
              <a:rPr dirty="0" sz="950" spc="5">
                <a:latin typeface="Arial MT"/>
                <a:cs typeface="Arial MT"/>
              </a:rPr>
              <a:t> in</a:t>
            </a:r>
            <a:r>
              <a:rPr dirty="0" sz="950" spc="10">
                <a:latin typeface="Arial MT"/>
                <a:cs typeface="Arial MT"/>
              </a:rPr>
              <a:t> order </a:t>
            </a:r>
            <a:r>
              <a:rPr dirty="0" sz="950" spc="5">
                <a:latin typeface="Arial MT"/>
                <a:cs typeface="Arial MT"/>
              </a:rPr>
              <a:t>to</a:t>
            </a:r>
            <a:r>
              <a:rPr dirty="0" sz="950" spc="10">
                <a:latin typeface="Arial MT"/>
                <a:cs typeface="Arial MT"/>
              </a:rPr>
              <a:t> perform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personal </a:t>
            </a:r>
            <a:r>
              <a:rPr dirty="0" sz="950" spc="5">
                <a:latin typeface="Arial MT"/>
                <a:cs typeface="Arial MT"/>
              </a:rPr>
              <a:t>tasks,</a:t>
            </a:r>
            <a:r>
              <a:rPr dirty="0" sz="950" spc="10">
                <a:latin typeface="Arial MT"/>
                <a:cs typeface="Arial MT"/>
              </a:rPr>
              <a:t> physical assistance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performing personal </a:t>
            </a:r>
            <a:r>
              <a:rPr dirty="0" sz="950" spc="5">
                <a:latin typeface="Arial MT"/>
                <a:cs typeface="Arial MT"/>
              </a:rPr>
              <a:t>tasks,</a:t>
            </a:r>
            <a:r>
              <a:rPr dirty="0" sz="950" spc="10">
                <a:latin typeface="Arial MT"/>
                <a:cs typeface="Arial MT"/>
              </a:rPr>
              <a:t> supervision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 redirection to 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facilitate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safety/safety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others,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assistance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performing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personal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hygiene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activities,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requires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program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that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provides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constant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direction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throughout the </a:t>
            </a:r>
            <a:r>
              <a:rPr dirty="0" sz="950" spc="10">
                <a:latin typeface="Arial MT"/>
                <a:cs typeface="Arial MT"/>
              </a:rPr>
              <a:t>length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5">
                <a:latin typeface="Arial MT"/>
                <a:cs typeface="Arial MT"/>
              </a:rPr>
              <a:t> the </a:t>
            </a:r>
            <a:r>
              <a:rPr dirty="0" sz="950" spc="10">
                <a:latin typeface="Arial MT"/>
                <a:cs typeface="Arial MT"/>
              </a:rPr>
              <a:t>student's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day.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200" spc="-5" b="1">
                <a:latin typeface="Arial"/>
                <a:cs typeface="Arial"/>
              </a:rPr>
              <a:t>Personal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Services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required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student:</a:t>
            </a:r>
            <a:r>
              <a:rPr dirty="0" u="sng" sz="1200" spc="88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200" spc="-4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Yes</a:t>
            </a:r>
            <a:r>
              <a:rPr dirty="0" u="sng" sz="1200" spc="-1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5" b="1">
                <a:latin typeface="Arial"/>
                <a:cs typeface="Arial"/>
              </a:rPr>
              <a:t>Personal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Care Time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 day: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u="sng" sz="1200" spc="-1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Not</a:t>
            </a:r>
            <a:r>
              <a:rPr dirty="0" u="sng" sz="1200" spc="-4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to</a:t>
            </a:r>
            <a:r>
              <a:rPr dirty="0" u="sng" sz="1200" spc="-4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exceed</a:t>
            </a:r>
            <a:r>
              <a:rPr dirty="0" u="sng" sz="1200" spc="-3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200" spc="-1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390</a:t>
            </a:r>
            <a:r>
              <a:rPr dirty="0" u="sng" sz="1200" spc="-3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minutes</a:t>
            </a:r>
            <a:r>
              <a:rPr dirty="0" u="sng" sz="1200" spc="-4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200" spc="-1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per</a:t>
            </a:r>
            <a:r>
              <a:rPr dirty="0" u="sng" sz="1200" spc="-3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day</a:t>
            </a:r>
            <a:endParaRPr sz="1200">
              <a:latin typeface="Arial MT"/>
              <a:cs typeface="Arial MT"/>
            </a:endParaRPr>
          </a:p>
          <a:p>
            <a:pPr marL="384175" marR="4144010" indent="-180975">
              <a:lnSpc>
                <a:spcPct val="118400"/>
              </a:lnSpc>
              <a:spcBef>
                <a:spcPts val="175"/>
              </a:spcBef>
            </a:pP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Services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are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required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complete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950" spc="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following: </a:t>
            </a:r>
            <a:r>
              <a:rPr dirty="0" sz="950" spc="-250" b="1">
                <a:latin typeface="Arial"/>
                <a:cs typeface="Arial"/>
              </a:rPr>
              <a:t> </a:t>
            </a:r>
            <a:r>
              <a:rPr dirty="0" sz="950" spc="5" b="1">
                <a:latin typeface="Arial"/>
                <a:cs typeface="Arial"/>
              </a:rPr>
              <a:t>Activities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spc="5" b="1">
                <a:latin typeface="Arial"/>
                <a:cs typeface="Arial"/>
              </a:rPr>
              <a:t>of</a:t>
            </a:r>
            <a:r>
              <a:rPr dirty="0" sz="950" b="1">
                <a:latin typeface="Arial"/>
                <a:cs typeface="Arial"/>
              </a:rPr>
              <a:t> </a:t>
            </a:r>
            <a:r>
              <a:rPr dirty="0" sz="950" spc="5" b="1">
                <a:latin typeface="Arial"/>
                <a:cs typeface="Arial"/>
              </a:rPr>
              <a:t>Daily</a:t>
            </a:r>
            <a:r>
              <a:rPr dirty="0" sz="950" b="1">
                <a:latin typeface="Arial"/>
                <a:cs typeface="Arial"/>
              </a:rPr>
              <a:t> </a:t>
            </a:r>
            <a:r>
              <a:rPr dirty="0" sz="950" spc="5" b="1">
                <a:latin typeface="Arial"/>
                <a:cs typeface="Arial"/>
              </a:rPr>
              <a:t>Living</a:t>
            </a:r>
            <a:r>
              <a:rPr dirty="0" sz="950" b="1">
                <a:latin typeface="Arial"/>
                <a:cs typeface="Arial"/>
              </a:rPr>
              <a:t> </a:t>
            </a:r>
            <a:r>
              <a:rPr dirty="0" sz="950" spc="5" b="1">
                <a:latin typeface="Arial"/>
                <a:cs typeface="Arial"/>
              </a:rPr>
              <a:t>(ADLs):</a:t>
            </a:r>
            <a:endParaRPr sz="950">
              <a:latin typeface="Arial"/>
              <a:cs typeface="Arial"/>
            </a:endParaRPr>
          </a:p>
          <a:p>
            <a:pPr marL="479425" indent="-85725">
              <a:lnSpc>
                <a:spcPct val="100000"/>
              </a:lnSpc>
              <a:spcBef>
                <a:spcPts val="210"/>
              </a:spcBef>
              <a:buChar char="•"/>
              <a:tabLst>
                <a:tab pos="479425" algn="l"/>
              </a:tabLst>
            </a:pPr>
            <a:r>
              <a:rPr dirty="0" sz="950" spc="5">
                <a:latin typeface="Arial MT"/>
                <a:cs typeface="Arial MT"/>
              </a:rPr>
              <a:t>Communicating</a:t>
            </a:r>
            <a:endParaRPr sz="950">
              <a:latin typeface="Arial MT"/>
              <a:cs typeface="Arial MT"/>
            </a:endParaRPr>
          </a:p>
          <a:p>
            <a:pPr marL="479425" indent="-85725">
              <a:lnSpc>
                <a:spcPct val="100000"/>
              </a:lnSpc>
              <a:spcBef>
                <a:spcPts val="210"/>
              </a:spcBef>
              <a:buChar char="•"/>
              <a:tabLst>
                <a:tab pos="479425" algn="l"/>
              </a:tabLst>
            </a:pPr>
            <a:r>
              <a:rPr dirty="0" sz="950" spc="5">
                <a:latin typeface="Arial MT"/>
                <a:cs typeface="Arial MT"/>
              </a:rPr>
              <a:t>Pragmatic/Social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Language</a:t>
            </a:r>
            <a:endParaRPr sz="950">
              <a:latin typeface="Arial MT"/>
              <a:cs typeface="Arial MT"/>
            </a:endParaRPr>
          </a:p>
          <a:p>
            <a:pPr marL="479425" indent="-85725">
              <a:lnSpc>
                <a:spcPct val="100000"/>
              </a:lnSpc>
              <a:spcBef>
                <a:spcPts val="210"/>
              </a:spcBef>
              <a:buChar char="•"/>
              <a:tabLst>
                <a:tab pos="479425" algn="l"/>
              </a:tabLst>
            </a:pPr>
            <a:r>
              <a:rPr dirty="0" sz="950">
                <a:latin typeface="Arial MT"/>
                <a:cs typeface="Arial MT"/>
              </a:rPr>
              <a:t>Toileting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(including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diapering)</a:t>
            </a:r>
            <a:endParaRPr sz="950">
              <a:latin typeface="Arial MT"/>
              <a:cs typeface="Arial MT"/>
            </a:endParaRPr>
          </a:p>
          <a:p>
            <a:pPr marL="384175">
              <a:lnSpc>
                <a:spcPct val="100000"/>
              </a:lnSpc>
              <a:spcBef>
                <a:spcPts val="960"/>
              </a:spcBef>
            </a:pPr>
            <a:r>
              <a:rPr dirty="0" sz="950" spc="10" b="1">
                <a:latin typeface="Arial"/>
                <a:cs typeface="Arial"/>
              </a:rPr>
              <a:t>Instrumental</a:t>
            </a:r>
            <a:r>
              <a:rPr dirty="0" sz="950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Activities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of</a:t>
            </a:r>
            <a:r>
              <a:rPr dirty="0" sz="950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Daily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Living</a:t>
            </a:r>
            <a:r>
              <a:rPr dirty="0" sz="950" b="1">
                <a:latin typeface="Arial"/>
                <a:cs typeface="Arial"/>
              </a:rPr>
              <a:t> </a:t>
            </a:r>
            <a:r>
              <a:rPr dirty="0" sz="950" spc="10" b="1">
                <a:latin typeface="Arial"/>
                <a:cs typeface="Arial"/>
              </a:rPr>
              <a:t>(IADLs):</a:t>
            </a:r>
            <a:endParaRPr sz="950">
              <a:latin typeface="Arial"/>
              <a:cs typeface="Arial"/>
            </a:endParaRPr>
          </a:p>
          <a:p>
            <a:pPr marL="479425" indent="-85725">
              <a:lnSpc>
                <a:spcPct val="100000"/>
              </a:lnSpc>
              <a:spcBef>
                <a:spcPts val="210"/>
              </a:spcBef>
              <a:buChar char="•"/>
              <a:tabLst>
                <a:tab pos="479425" algn="l"/>
              </a:tabLst>
            </a:pPr>
            <a:r>
              <a:rPr dirty="0" sz="950" spc="5">
                <a:latin typeface="Arial MT"/>
                <a:cs typeface="Arial MT"/>
              </a:rPr>
              <a:t>Maneuvering/Community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Participation</a:t>
            </a:r>
            <a:endParaRPr sz="950">
              <a:latin typeface="Arial MT"/>
              <a:cs typeface="Arial MT"/>
            </a:endParaRPr>
          </a:p>
          <a:p>
            <a:pPr marL="479425" indent="-85725">
              <a:lnSpc>
                <a:spcPct val="100000"/>
              </a:lnSpc>
              <a:spcBef>
                <a:spcPts val="210"/>
              </a:spcBef>
              <a:buChar char="•"/>
              <a:tabLst>
                <a:tab pos="479425" algn="l"/>
              </a:tabLst>
            </a:pPr>
            <a:r>
              <a:rPr dirty="0" sz="950" spc="5">
                <a:latin typeface="Arial MT"/>
                <a:cs typeface="Arial MT"/>
              </a:rPr>
              <a:t>Personal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Hygiene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950">
              <a:latin typeface="Arial MT"/>
              <a:cs typeface="Arial MT"/>
            </a:endParaRPr>
          </a:p>
          <a:p>
            <a:pPr marL="203200">
              <a:lnSpc>
                <a:spcPct val="100000"/>
              </a:lnSpc>
            </a:pP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Services</a:t>
            </a:r>
            <a:r>
              <a:rPr dirty="0" u="sng" sz="95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occur</a:t>
            </a:r>
            <a:r>
              <a:rPr dirty="0" u="sng" sz="95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95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form of:</a:t>
            </a:r>
            <a:endParaRPr sz="950">
              <a:latin typeface="Arial"/>
              <a:cs typeface="Arial"/>
            </a:endParaRPr>
          </a:p>
          <a:p>
            <a:pPr marL="288925">
              <a:lnSpc>
                <a:spcPct val="100000"/>
              </a:lnSpc>
              <a:spcBef>
                <a:spcPts val="210"/>
              </a:spcBef>
            </a:pPr>
            <a:r>
              <a:rPr dirty="0" sz="950" spc="10">
                <a:latin typeface="Arial MT"/>
                <a:cs typeface="Arial MT"/>
              </a:rPr>
              <a:t>Redirection, prompting, cueing,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monitoring </a:t>
            </a:r>
            <a:r>
              <a:rPr dirty="0" sz="950" spc="5">
                <a:latin typeface="Arial MT"/>
                <a:cs typeface="Arial MT"/>
              </a:rPr>
              <a:t>all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throughout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 spc="10">
                <a:latin typeface="Arial MT"/>
                <a:cs typeface="Arial MT"/>
              </a:rPr>
              <a:t> day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various settings </a:t>
            </a:r>
            <a:r>
              <a:rPr dirty="0" sz="950" spc="5">
                <a:latin typeface="Arial MT"/>
                <a:cs typeface="Arial MT"/>
              </a:rPr>
              <a:t>throughout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campus.</a:t>
            </a:r>
            <a:endParaRPr sz="950">
              <a:latin typeface="Arial MT"/>
              <a:cs typeface="Arial MT"/>
            </a:endParaRPr>
          </a:p>
          <a:p>
            <a:pPr marL="469900" indent="-85725">
              <a:lnSpc>
                <a:spcPct val="100000"/>
              </a:lnSpc>
              <a:spcBef>
                <a:spcPts val="210"/>
              </a:spcBef>
              <a:buChar char="•"/>
              <a:tabLst>
                <a:tab pos="469900" algn="l"/>
              </a:tabLst>
            </a:pPr>
            <a:r>
              <a:rPr dirty="0" sz="950" spc="5">
                <a:latin typeface="Arial MT"/>
                <a:cs typeface="Arial MT"/>
              </a:rPr>
              <a:t>Services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are provided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throughout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school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day</a:t>
            </a:r>
            <a:r>
              <a:rPr dirty="0" sz="950" spc="5">
                <a:latin typeface="Arial MT"/>
                <a:cs typeface="Arial MT"/>
              </a:rPr>
              <a:t> in </a:t>
            </a:r>
            <a:r>
              <a:rPr dirty="0" sz="950" spc="10">
                <a:latin typeface="Arial MT"/>
                <a:cs typeface="Arial MT"/>
              </a:rPr>
              <a:t>a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group setting</a:t>
            </a:r>
            <a:endParaRPr sz="950">
              <a:latin typeface="Arial MT"/>
              <a:cs typeface="Arial MT"/>
            </a:endParaRPr>
          </a:p>
          <a:p>
            <a:pPr marL="469900" indent="-85725">
              <a:lnSpc>
                <a:spcPct val="100000"/>
              </a:lnSpc>
              <a:spcBef>
                <a:spcPts val="210"/>
              </a:spcBef>
              <a:buChar char="•"/>
              <a:tabLst>
                <a:tab pos="469900" algn="l"/>
              </a:tabLst>
            </a:pPr>
            <a:r>
              <a:rPr dirty="0" sz="950">
                <a:latin typeface="Arial MT"/>
                <a:cs typeface="Arial MT"/>
              </a:rPr>
              <a:t>Services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are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provided</a:t>
            </a:r>
            <a:r>
              <a:rPr dirty="0" sz="950">
                <a:latin typeface="Arial MT"/>
                <a:cs typeface="Arial MT"/>
              </a:rPr>
              <a:t> throughout the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school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day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on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individual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basis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Arial MT"/>
              <a:cs typeface="Arial MT"/>
            </a:endParaRPr>
          </a:p>
          <a:p>
            <a:pPr marL="203200" marR="565150">
              <a:lnSpc>
                <a:spcPct val="105300"/>
              </a:lnSpc>
            </a:pP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Service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assistance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required</a:t>
            </a:r>
            <a:r>
              <a:rPr dirty="0" u="sng" sz="950" spc="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throughout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day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because</a:t>
            </a:r>
            <a:r>
              <a:rPr dirty="0" u="sng" sz="950" spc="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student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exhibits</a:t>
            </a:r>
            <a:r>
              <a:rPr dirty="0" u="sng" sz="950" spc="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one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more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dirty="0" u="sng" sz="950" spc="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following </a:t>
            </a:r>
            <a:r>
              <a:rPr dirty="0" sz="950" spc="-250" b="1"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eligibilities:</a:t>
            </a:r>
            <a:endParaRPr sz="950">
              <a:latin typeface="Arial"/>
              <a:cs typeface="Arial"/>
            </a:endParaRPr>
          </a:p>
          <a:p>
            <a:pPr marL="384175">
              <a:lnSpc>
                <a:spcPct val="100000"/>
              </a:lnSpc>
              <a:spcBef>
                <a:spcPts val="210"/>
              </a:spcBef>
            </a:pPr>
            <a:r>
              <a:rPr dirty="0" sz="950" spc="5">
                <a:latin typeface="Arial MT"/>
                <a:cs typeface="Arial MT"/>
              </a:rPr>
              <a:t>Condition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1: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25">
                <a:latin typeface="Arial MT"/>
                <a:cs typeface="Arial MT"/>
              </a:rPr>
              <a:t>Autism</a:t>
            </a:r>
            <a:endParaRPr sz="950">
              <a:latin typeface="Arial MT"/>
              <a:cs typeface="Arial MT"/>
            </a:endParaRPr>
          </a:p>
          <a:p>
            <a:pPr marL="384175">
              <a:lnSpc>
                <a:spcPct val="100000"/>
              </a:lnSpc>
              <a:spcBef>
                <a:spcPts val="285"/>
              </a:spcBef>
            </a:pPr>
            <a:r>
              <a:rPr dirty="0" baseline="2923" sz="1425" spc="7">
                <a:latin typeface="Arial MT"/>
                <a:cs typeface="Arial MT"/>
              </a:rPr>
              <a:t>Condition</a:t>
            </a:r>
            <a:r>
              <a:rPr dirty="0" baseline="2923" sz="1425" spc="-22">
                <a:latin typeface="Arial MT"/>
                <a:cs typeface="Arial MT"/>
              </a:rPr>
              <a:t> </a:t>
            </a:r>
            <a:r>
              <a:rPr dirty="0" baseline="2923" sz="1425" spc="7">
                <a:latin typeface="Arial MT"/>
                <a:cs typeface="Arial MT"/>
              </a:rPr>
              <a:t>2:</a:t>
            </a:r>
            <a:r>
              <a:rPr dirty="0" baseline="2923" sz="1425" spc="37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Speech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Impairment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Arial MT"/>
              <a:cs typeface="Arial MT"/>
            </a:endParaRPr>
          </a:p>
          <a:p>
            <a:pPr marL="203200">
              <a:lnSpc>
                <a:spcPct val="100000"/>
              </a:lnSpc>
            </a:pP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Failure</a:t>
            </a:r>
            <a:r>
              <a:rPr dirty="0" u="sng" sz="950" spc="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provide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personal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care</a:t>
            </a:r>
            <a:r>
              <a:rPr dirty="0" u="sng" sz="950" spc="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assistance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may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result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with</a:t>
            </a:r>
            <a:r>
              <a:rPr dirty="0" u="sng" sz="950" spc="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difficulties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any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950" spc="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following</a:t>
            </a:r>
            <a:r>
              <a:rPr dirty="0" u="sng" sz="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areas: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1025" y="5425440"/>
            <a:ext cx="3580765" cy="156845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98425" indent="-85725">
              <a:lnSpc>
                <a:spcPct val="100000"/>
              </a:lnSpc>
              <a:spcBef>
                <a:spcPts val="305"/>
              </a:spcBef>
              <a:buChar char="•"/>
              <a:tabLst>
                <a:tab pos="98425" algn="l"/>
              </a:tabLst>
            </a:pPr>
            <a:r>
              <a:rPr dirty="0" sz="950" spc="10">
                <a:latin typeface="Arial MT"/>
                <a:cs typeface="Arial MT"/>
              </a:rPr>
              <a:t>Attending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Tasks</a:t>
            </a:r>
            <a:endParaRPr sz="950">
              <a:latin typeface="Arial MT"/>
              <a:cs typeface="Arial MT"/>
            </a:endParaRPr>
          </a:p>
          <a:p>
            <a:pPr marL="98425" indent="-85725">
              <a:lnSpc>
                <a:spcPct val="100000"/>
              </a:lnSpc>
              <a:spcBef>
                <a:spcPts val="210"/>
              </a:spcBef>
              <a:buChar char="•"/>
              <a:tabLst>
                <a:tab pos="98425" algn="l"/>
              </a:tabLst>
            </a:pPr>
            <a:r>
              <a:rPr dirty="0" sz="950" spc="-20">
                <a:latin typeface="Arial MT"/>
                <a:cs typeface="Arial MT"/>
              </a:rPr>
              <a:t>Behavior</a:t>
            </a:r>
            <a:endParaRPr sz="950">
              <a:latin typeface="Arial MT"/>
              <a:cs typeface="Arial MT"/>
            </a:endParaRPr>
          </a:p>
          <a:p>
            <a:pPr marL="98425" indent="-85725">
              <a:lnSpc>
                <a:spcPct val="100000"/>
              </a:lnSpc>
              <a:spcBef>
                <a:spcPts val="210"/>
              </a:spcBef>
              <a:buChar char="•"/>
              <a:tabLst>
                <a:tab pos="98425" algn="l"/>
              </a:tabLst>
            </a:pPr>
            <a:r>
              <a:rPr dirty="0" sz="950" spc="5">
                <a:latin typeface="Arial MT"/>
                <a:cs typeface="Arial MT"/>
              </a:rPr>
              <a:t>Communicating</a:t>
            </a:r>
            <a:endParaRPr sz="950">
              <a:latin typeface="Arial MT"/>
              <a:cs typeface="Arial MT"/>
            </a:endParaRPr>
          </a:p>
          <a:p>
            <a:pPr marL="98425" indent="-85725">
              <a:lnSpc>
                <a:spcPct val="100000"/>
              </a:lnSpc>
              <a:spcBef>
                <a:spcPts val="210"/>
              </a:spcBef>
              <a:buChar char="•"/>
              <a:tabLst>
                <a:tab pos="98425" algn="l"/>
              </a:tabLst>
            </a:pPr>
            <a:r>
              <a:rPr dirty="0" sz="950" spc="5">
                <a:latin typeface="Arial MT"/>
                <a:cs typeface="Arial MT"/>
              </a:rPr>
              <a:t>Elopement</a:t>
            </a:r>
            <a:endParaRPr sz="950">
              <a:latin typeface="Arial MT"/>
              <a:cs typeface="Arial MT"/>
            </a:endParaRPr>
          </a:p>
          <a:p>
            <a:pPr marL="98425" indent="-85725">
              <a:lnSpc>
                <a:spcPct val="100000"/>
              </a:lnSpc>
              <a:spcBef>
                <a:spcPts val="210"/>
              </a:spcBef>
              <a:buChar char="•"/>
              <a:tabLst>
                <a:tab pos="98425" algn="l"/>
              </a:tabLst>
            </a:pPr>
            <a:r>
              <a:rPr dirty="0" sz="950">
                <a:latin typeface="Arial MT"/>
                <a:cs typeface="Arial MT"/>
              </a:rPr>
              <a:t>Impulsivity</a:t>
            </a:r>
            <a:endParaRPr sz="950">
              <a:latin typeface="Arial MT"/>
              <a:cs typeface="Arial MT"/>
            </a:endParaRPr>
          </a:p>
          <a:p>
            <a:pPr marL="98425" indent="-85725">
              <a:lnSpc>
                <a:spcPct val="100000"/>
              </a:lnSpc>
              <a:spcBef>
                <a:spcPts val="210"/>
              </a:spcBef>
              <a:buChar char="•"/>
              <a:tabLst>
                <a:tab pos="98425" algn="l"/>
              </a:tabLst>
            </a:pPr>
            <a:r>
              <a:rPr dirty="0" sz="950" spc="10">
                <a:latin typeface="Arial MT"/>
                <a:cs typeface="Arial MT"/>
              </a:rPr>
              <a:t>Failure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 Access Curriculum/Complete </a:t>
            </a:r>
            <a:r>
              <a:rPr dirty="0" sz="950" spc="15">
                <a:latin typeface="Arial MT"/>
                <a:cs typeface="Arial MT"/>
              </a:rPr>
              <a:t>ADLs</a:t>
            </a:r>
            <a:r>
              <a:rPr dirty="0" sz="950" spc="10">
                <a:latin typeface="Arial MT"/>
                <a:cs typeface="Arial MT"/>
              </a:rPr>
              <a:t> or IADLs</a:t>
            </a:r>
            <a:endParaRPr sz="950">
              <a:latin typeface="Arial MT"/>
              <a:cs typeface="Arial MT"/>
            </a:endParaRPr>
          </a:p>
          <a:p>
            <a:pPr marL="98425" indent="-85725">
              <a:lnSpc>
                <a:spcPct val="100000"/>
              </a:lnSpc>
              <a:spcBef>
                <a:spcPts val="210"/>
              </a:spcBef>
              <a:buChar char="•"/>
              <a:tabLst>
                <a:tab pos="98425" algn="l"/>
              </a:tabLst>
            </a:pPr>
            <a:r>
              <a:rPr dirty="0" sz="950">
                <a:latin typeface="Arial MT"/>
                <a:cs typeface="Arial MT"/>
              </a:rPr>
              <a:t>Maneuvering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Throughout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Schools/Community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Environments</a:t>
            </a:r>
            <a:endParaRPr sz="950">
              <a:latin typeface="Arial MT"/>
              <a:cs typeface="Arial MT"/>
            </a:endParaRPr>
          </a:p>
          <a:p>
            <a:pPr marL="98425" indent="-85725">
              <a:lnSpc>
                <a:spcPct val="100000"/>
              </a:lnSpc>
              <a:spcBef>
                <a:spcPts val="210"/>
              </a:spcBef>
              <a:buChar char="•"/>
              <a:tabLst>
                <a:tab pos="98425" algn="l"/>
              </a:tabLst>
            </a:pPr>
            <a:r>
              <a:rPr dirty="0" sz="950" spc="-5">
                <a:latin typeface="Arial MT"/>
                <a:cs typeface="Arial MT"/>
              </a:rPr>
              <a:t>Toileting</a:t>
            </a:r>
            <a:endParaRPr sz="950">
              <a:latin typeface="Arial MT"/>
              <a:cs typeface="Arial MT"/>
            </a:endParaRPr>
          </a:p>
          <a:p>
            <a:pPr marL="98425" indent="-85725">
              <a:lnSpc>
                <a:spcPct val="100000"/>
              </a:lnSpc>
              <a:spcBef>
                <a:spcPts val="210"/>
              </a:spcBef>
              <a:buChar char="•"/>
              <a:tabLst>
                <a:tab pos="98425" algn="l"/>
              </a:tabLst>
            </a:pPr>
            <a:r>
              <a:rPr dirty="0" sz="950">
                <a:latin typeface="Arial MT"/>
                <a:cs typeface="Arial MT"/>
              </a:rPr>
              <a:t>Understanding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67200" y="5448300"/>
            <a:ext cx="72009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98425" indent="-85725">
              <a:lnSpc>
                <a:spcPct val="100000"/>
              </a:lnSpc>
              <a:spcBef>
                <a:spcPts val="125"/>
              </a:spcBef>
              <a:buChar char="•"/>
              <a:tabLst>
                <a:tab pos="98425" algn="l"/>
              </a:tabLst>
            </a:pPr>
            <a:r>
              <a:rPr dirty="0" sz="950" spc="5">
                <a:latin typeface="Arial MT"/>
                <a:cs typeface="Arial MT"/>
              </a:rPr>
              <a:t>Withdrawal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09550" y="295275"/>
            <a:ext cx="7321550" cy="8085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79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Bruce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Banner-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DELIBERATIONS</a:t>
            </a:r>
            <a:endParaRPr sz="1200">
              <a:latin typeface="Arial"/>
              <a:cs typeface="Arial"/>
            </a:endParaRPr>
          </a:p>
          <a:p>
            <a:pPr marL="12700" marR="43180">
              <a:lnSpc>
                <a:spcPct val="109400"/>
              </a:lnSpc>
              <a:spcBef>
                <a:spcPts val="1120"/>
              </a:spcBef>
            </a:pPr>
            <a:r>
              <a:rPr dirty="0" sz="800" spc="35" b="1">
                <a:latin typeface="Arial"/>
                <a:cs typeface="Arial"/>
              </a:rPr>
              <a:t>Committee</a:t>
            </a:r>
            <a:r>
              <a:rPr dirty="0" sz="800" spc="70" b="1">
                <a:latin typeface="Arial"/>
                <a:cs typeface="Arial"/>
              </a:rPr>
              <a:t> </a:t>
            </a:r>
            <a:r>
              <a:rPr dirty="0" sz="800" spc="30" b="1">
                <a:latin typeface="Arial"/>
                <a:cs typeface="Arial"/>
              </a:rPr>
              <a:t>deliberations:</a:t>
            </a:r>
            <a:r>
              <a:rPr dirty="0" sz="800" spc="70" b="1">
                <a:latin typeface="Arial"/>
                <a:cs typeface="Arial"/>
              </a:rPr>
              <a:t> </a:t>
            </a:r>
            <a:r>
              <a:rPr dirty="0" sz="800" spc="30" b="1">
                <a:latin typeface="Arial"/>
                <a:cs typeface="Arial"/>
              </a:rPr>
              <a:t>Minutes</a:t>
            </a:r>
            <a:r>
              <a:rPr dirty="0" sz="800" spc="70" b="1">
                <a:latin typeface="Arial"/>
                <a:cs typeface="Arial"/>
              </a:rPr>
              <a:t> </a:t>
            </a:r>
            <a:r>
              <a:rPr dirty="0" sz="800" spc="30" b="1">
                <a:latin typeface="Arial"/>
                <a:cs typeface="Arial"/>
              </a:rPr>
              <a:t>should</a:t>
            </a:r>
            <a:r>
              <a:rPr dirty="0" sz="800" spc="70" b="1">
                <a:latin typeface="Arial"/>
                <a:cs typeface="Arial"/>
              </a:rPr>
              <a:t> </a:t>
            </a:r>
            <a:r>
              <a:rPr dirty="0" sz="800" spc="35" b="1">
                <a:latin typeface="Arial"/>
                <a:cs typeface="Arial"/>
              </a:rPr>
              <a:t>summarize</a:t>
            </a:r>
            <a:r>
              <a:rPr dirty="0" sz="800" spc="75" b="1">
                <a:latin typeface="Arial"/>
                <a:cs typeface="Arial"/>
              </a:rPr>
              <a:t> </a:t>
            </a:r>
            <a:r>
              <a:rPr dirty="0" sz="800" spc="35" b="1">
                <a:latin typeface="Arial"/>
                <a:cs typeface="Arial"/>
              </a:rPr>
              <a:t>deliberations</a:t>
            </a:r>
            <a:r>
              <a:rPr dirty="0" sz="800" spc="70" b="1">
                <a:latin typeface="Arial"/>
                <a:cs typeface="Arial"/>
              </a:rPr>
              <a:t> </a:t>
            </a:r>
            <a:r>
              <a:rPr dirty="0" sz="800" spc="35" b="1">
                <a:latin typeface="Arial"/>
                <a:cs typeface="Arial"/>
              </a:rPr>
              <a:t>made</a:t>
            </a:r>
            <a:r>
              <a:rPr dirty="0" sz="800" spc="70" b="1">
                <a:latin typeface="Arial"/>
                <a:cs typeface="Arial"/>
              </a:rPr>
              <a:t> </a:t>
            </a:r>
            <a:r>
              <a:rPr dirty="0" sz="800" spc="30" b="1">
                <a:latin typeface="Arial"/>
                <a:cs typeface="Arial"/>
              </a:rPr>
              <a:t>during</a:t>
            </a:r>
            <a:r>
              <a:rPr dirty="0" sz="800" spc="70" b="1">
                <a:latin typeface="Arial"/>
                <a:cs typeface="Arial"/>
              </a:rPr>
              <a:t> </a:t>
            </a:r>
            <a:r>
              <a:rPr dirty="0" sz="800" spc="25" b="1">
                <a:latin typeface="Arial"/>
                <a:cs typeface="Arial"/>
              </a:rPr>
              <a:t>the</a:t>
            </a:r>
            <a:r>
              <a:rPr dirty="0" sz="800" spc="70" b="1">
                <a:latin typeface="Arial"/>
                <a:cs typeface="Arial"/>
              </a:rPr>
              <a:t> </a:t>
            </a:r>
            <a:r>
              <a:rPr dirty="0" sz="800" spc="30" b="1">
                <a:latin typeface="Arial"/>
                <a:cs typeface="Arial"/>
              </a:rPr>
              <a:t>course</a:t>
            </a:r>
            <a:r>
              <a:rPr dirty="0" sz="800" spc="75" b="1">
                <a:latin typeface="Arial"/>
                <a:cs typeface="Arial"/>
              </a:rPr>
              <a:t> </a:t>
            </a:r>
            <a:r>
              <a:rPr dirty="0" sz="800" spc="20" b="1">
                <a:latin typeface="Arial"/>
                <a:cs typeface="Arial"/>
              </a:rPr>
              <a:t>of</a:t>
            </a:r>
            <a:r>
              <a:rPr dirty="0" sz="800" spc="70" b="1">
                <a:latin typeface="Arial"/>
                <a:cs typeface="Arial"/>
              </a:rPr>
              <a:t> </a:t>
            </a:r>
            <a:r>
              <a:rPr dirty="0" sz="800" spc="25" b="1">
                <a:latin typeface="Arial"/>
                <a:cs typeface="Arial"/>
              </a:rPr>
              <a:t>the</a:t>
            </a:r>
            <a:r>
              <a:rPr dirty="0" sz="800" spc="70" b="1">
                <a:latin typeface="Arial"/>
                <a:cs typeface="Arial"/>
              </a:rPr>
              <a:t> </a:t>
            </a:r>
            <a:r>
              <a:rPr dirty="0" sz="800" spc="30" b="1">
                <a:latin typeface="Arial"/>
                <a:cs typeface="Arial"/>
              </a:rPr>
              <a:t>ARD</a:t>
            </a:r>
            <a:r>
              <a:rPr dirty="0" sz="800" spc="70" b="1">
                <a:latin typeface="Arial"/>
                <a:cs typeface="Arial"/>
              </a:rPr>
              <a:t> </a:t>
            </a:r>
            <a:r>
              <a:rPr dirty="0" sz="800" spc="30" b="1">
                <a:latin typeface="Arial"/>
                <a:cs typeface="Arial"/>
              </a:rPr>
              <a:t>meeting.</a:t>
            </a:r>
            <a:r>
              <a:rPr dirty="0" sz="800" spc="70" b="1">
                <a:latin typeface="Arial"/>
                <a:cs typeface="Arial"/>
              </a:rPr>
              <a:t> </a:t>
            </a:r>
            <a:r>
              <a:rPr dirty="0" sz="800" spc="30" b="1">
                <a:latin typeface="Arial"/>
                <a:cs typeface="Arial"/>
              </a:rPr>
              <a:t>Minutes</a:t>
            </a:r>
            <a:r>
              <a:rPr dirty="0" sz="800" spc="75" b="1">
                <a:latin typeface="Arial"/>
                <a:cs typeface="Arial"/>
              </a:rPr>
              <a:t> </a:t>
            </a:r>
            <a:r>
              <a:rPr dirty="0" sz="800" spc="25" b="1">
                <a:latin typeface="Arial"/>
                <a:cs typeface="Arial"/>
              </a:rPr>
              <a:t>are</a:t>
            </a:r>
            <a:r>
              <a:rPr dirty="0" sz="800" spc="70" b="1">
                <a:latin typeface="Arial"/>
                <a:cs typeface="Arial"/>
              </a:rPr>
              <a:t> </a:t>
            </a:r>
            <a:r>
              <a:rPr dirty="0" sz="800" spc="25" b="1">
                <a:latin typeface="Arial"/>
                <a:cs typeface="Arial"/>
              </a:rPr>
              <a:t>not</a:t>
            </a:r>
            <a:r>
              <a:rPr dirty="0" sz="800" spc="70" b="1">
                <a:latin typeface="Arial"/>
                <a:cs typeface="Arial"/>
              </a:rPr>
              <a:t> </a:t>
            </a:r>
            <a:r>
              <a:rPr dirty="0" sz="800" spc="35" b="1">
                <a:latin typeface="Arial"/>
                <a:cs typeface="Arial"/>
              </a:rPr>
              <a:t>intended </a:t>
            </a:r>
            <a:r>
              <a:rPr dirty="0" sz="800" spc="-204" b="1">
                <a:latin typeface="Arial"/>
                <a:cs typeface="Arial"/>
              </a:rPr>
              <a:t> </a:t>
            </a:r>
            <a:r>
              <a:rPr dirty="0" sz="800" spc="15" b="1">
                <a:latin typeface="Arial"/>
                <a:cs typeface="Arial"/>
              </a:rPr>
              <a:t>to</a:t>
            </a:r>
            <a:r>
              <a:rPr dirty="0" sz="800" spc="40" b="1">
                <a:latin typeface="Arial"/>
                <a:cs typeface="Arial"/>
              </a:rPr>
              <a:t> </a:t>
            </a:r>
            <a:r>
              <a:rPr dirty="0" sz="800" spc="20" b="1">
                <a:latin typeface="Arial"/>
                <a:cs typeface="Arial"/>
              </a:rPr>
              <a:t>be</a:t>
            </a:r>
            <a:r>
              <a:rPr dirty="0" sz="800" spc="40" b="1">
                <a:latin typeface="Arial"/>
                <a:cs typeface="Arial"/>
              </a:rPr>
              <a:t> </a:t>
            </a:r>
            <a:r>
              <a:rPr dirty="0" sz="800" spc="10" b="1">
                <a:latin typeface="Arial"/>
                <a:cs typeface="Arial"/>
              </a:rPr>
              <a:t>a</a:t>
            </a:r>
            <a:r>
              <a:rPr dirty="0" sz="800" spc="40" b="1">
                <a:latin typeface="Arial"/>
                <a:cs typeface="Arial"/>
              </a:rPr>
              <a:t> </a:t>
            </a:r>
            <a:r>
              <a:rPr dirty="0" sz="800" spc="20" b="1">
                <a:latin typeface="Arial"/>
                <a:cs typeface="Arial"/>
              </a:rPr>
              <a:t>script</a:t>
            </a:r>
            <a:r>
              <a:rPr dirty="0" sz="800" spc="45" b="1">
                <a:latin typeface="Arial"/>
                <a:cs typeface="Arial"/>
              </a:rPr>
              <a:t> </a:t>
            </a:r>
            <a:r>
              <a:rPr dirty="0" sz="800" spc="15" b="1">
                <a:latin typeface="Arial"/>
                <a:cs typeface="Arial"/>
              </a:rPr>
              <a:t>of</a:t>
            </a:r>
            <a:r>
              <a:rPr dirty="0" sz="800" spc="40" b="1">
                <a:latin typeface="Arial"/>
                <a:cs typeface="Arial"/>
              </a:rPr>
              <a:t> </a:t>
            </a:r>
            <a:r>
              <a:rPr dirty="0" sz="800" spc="15" b="1">
                <a:latin typeface="Arial"/>
                <a:cs typeface="Arial"/>
              </a:rPr>
              <a:t>all</a:t>
            </a:r>
            <a:r>
              <a:rPr dirty="0" sz="800" spc="40" b="1">
                <a:latin typeface="Arial"/>
                <a:cs typeface="Arial"/>
              </a:rPr>
              <a:t> </a:t>
            </a:r>
            <a:r>
              <a:rPr dirty="0" sz="800" spc="25" b="1">
                <a:latin typeface="Arial"/>
                <a:cs typeface="Arial"/>
              </a:rPr>
              <a:t>conversations</a:t>
            </a:r>
            <a:r>
              <a:rPr dirty="0" sz="800" spc="40" b="1">
                <a:latin typeface="Arial"/>
                <a:cs typeface="Arial"/>
              </a:rPr>
              <a:t> </a:t>
            </a:r>
            <a:r>
              <a:rPr dirty="0" sz="800" spc="20" b="1">
                <a:latin typeface="Arial"/>
                <a:cs typeface="Arial"/>
              </a:rPr>
              <a:t>or</a:t>
            </a:r>
            <a:r>
              <a:rPr dirty="0" sz="800" spc="45" b="1">
                <a:latin typeface="Arial"/>
                <a:cs typeface="Arial"/>
              </a:rPr>
              <a:t> </a:t>
            </a:r>
            <a:r>
              <a:rPr dirty="0" sz="800" spc="20" b="1">
                <a:latin typeface="Arial"/>
                <a:cs typeface="Arial"/>
              </a:rPr>
              <a:t>specific</a:t>
            </a:r>
            <a:r>
              <a:rPr dirty="0" sz="800" spc="40" b="1">
                <a:latin typeface="Arial"/>
                <a:cs typeface="Arial"/>
              </a:rPr>
              <a:t> </a:t>
            </a:r>
            <a:r>
              <a:rPr dirty="0" sz="800" spc="25" b="1">
                <a:latin typeface="Arial"/>
                <a:cs typeface="Arial"/>
              </a:rPr>
              <a:t>comments</a:t>
            </a:r>
            <a:r>
              <a:rPr dirty="0" sz="800" spc="40" b="1">
                <a:latin typeface="Arial"/>
                <a:cs typeface="Arial"/>
              </a:rPr>
              <a:t> </a:t>
            </a:r>
            <a:r>
              <a:rPr dirty="0" sz="800" spc="25" b="1">
                <a:latin typeface="Arial"/>
                <a:cs typeface="Arial"/>
              </a:rPr>
              <a:t>made</a:t>
            </a:r>
            <a:r>
              <a:rPr dirty="0" sz="800" spc="40" b="1">
                <a:latin typeface="Arial"/>
                <a:cs typeface="Arial"/>
              </a:rPr>
              <a:t> </a:t>
            </a:r>
            <a:r>
              <a:rPr dirty="0" sz="800" spc="25" b="1">
                <a:latin typeface="Arial"/>
                <a:cs typeface="Arial"/>
              </a:rPr>
              <a:t>during</a:t>
            </a:r>
            <a:r>
              <a:rPr dirty="0" sz="800" spc="45" b="1">
                <a:latin typeface="Arial"/>
                <a:cs typeface="Arial"/>
              </a:rPr>
              <a:t> </a:t>
            </a:r>
            <a:r>
              <a:rPr dirty="0" sz="800" spc="20" b="1">
                <a:latin typeface="Arial"/>
                <a:cs typeface="Arial"/>
              </a:rPr>
              <a:t>the</a:t>
            </a:r>
            <a:r>
              <a:rPr dirty="0" sz="800" spc="40" b="1">
                <a:latin typeface="Arial"/>
                <a:cs typeface="Arial"/>
              </a:rPr>
              <a:t> </a:t>
            </a:r>
            <a:r>
              <a:rPr dirty="0" sz="800" spc="25" b="1">
                <a:latin typeface="Arial"/>
                <a:cs typeface="Arial"/>
              </a:rPr>
              <a:t>ARD/IEP</a:t>
            </a:r>
            <a:r>
              <a:rPr dirty="0" sz="800" spc="40" b="1">
                <a:latin typeface="Arial"/>
                <a:cs typeface="Arial"/>
              </a:rPr>
              <a:t> </a:t>
            </a:r>
            <a:r>
              <a:rPr dirty="0" sz="800" spc="25" b="1">
                <a:latin typeface="Arial"/>
                <a:cs typeface="Arial"/>
              </a:rPr>
              <a:t>process.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Arial"/>
              <a:cs typeface="Arial"/>
            </a:endParaRPr>
          </a:p>
          <a:p>
            <a:pPr marL="12700" marR="25400">
              <a:lnSpc>
                <a:spcPct val="109400"/>
              </a:lnSpc>
              <a:spcBef>
                <a:spcPts val="5"/>
              </a:spcBef>
            </a:pPr>
            <a:r>
              <a:rPr dirty="0" sz="800" spc="35" b="1">
                <a:latin typeface="Arial"/>
                <a:cs typeface="Arial"/>
              </a:rPr>
              <a:t>Committee</a:t>
            </a:r>
            <a:r>
              <a:rPr dirty="0" sz="800" spc="80" b="1">
                <a:latin typeface="Arial"/>
                <a:cs typeface="Arial"/>
              </a:rPr>
              <a:t> </a:t>
            </a:r>
            <a:r>
              <a:rPr dirty="0" sz="800" spc="30" b="1">
                <a:latin typeface="Arial"/>
                <a:cs typeface="Arial"/>
              </a:rPr>
              <a:t>deliberations:</a:t>
            </a:r>
            <a:r>
              <a:rPr dirty="0" sz="800" spc="15" b="1">
                <a:latin typeface="Arial"/>
                <a:cs typeface="Arial"/>
              </a:rPr>
              <a:t> </a:t>
            </a:r>
            <a:r>
              <a:rPr dirty="0" sz="800">
                <a:latin typeface="Arial MT"/>
                <a:cs typeface="Arial MT"/>
              </a:rPr>
              <a:t>Minutes should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summarize deliberations</a:t>
            </a:r>
            <a:r>
              <a:rPr dirty="0" sz="800" spc="5">
                <a:latin typeface="Arial MT"/>
                <a:cs typeface="Arial MT"/>
              </a:rPr>
              <a:t> made</a:t>
            </a:r>
            <a:r>
              <a:rPr dirty="0" sz="800">
                <a:latin typeface="Arial MT"/>
                <a:cs typeface="Arial MT"/>
              </a:rPr>
              <a:t> during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course</a:t>
            </a:r>
            <a:r>
              <a:rPr dirty="0" sz="800" spc="5">
                <a:latin typeface="Arial MT"/>
                <a:cs typeface="Arial MT"/>
              </a:rPr>
              <a:t> of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ARD</a:t>
            </a:r>
            <a:r>
              <a:rPr dirty="0" sz="800">
                <a:latin typeface="Arial MT"/>
                <a:cs typeface="Arial MT"/>
              </a:rPr>
              <a:t> meeting. Minutes</a:t>
            </a:r>
            <a:r>
              <a:rPr dirty="0" sz="800" spc="5">
                <a:latin typeface="Arial MT"/>
                <a:cs typeface="Arial MT"/>
              </a:rPr>
              <a:t> are</a:t>
            </a:r>
            <a:r>
              <a:rPr dirty="0" sz="800">
                <a:latin typeface="Arial MT"/>
                <a:cs typeface="Arial MT"/>
              </a:rPr>
              <a:t> not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intended </a:t>
            </a:r>
            <a:r>
              <a:rPr dirty="0" sz="800" spc="5">
                <a:latin typeface="Arial MT"/>
                <a:cs typeface="Arial MT"/>
              </a:rPr>
              <a:t>to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be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a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script </a:t>
            </a:r>
            <a:r>
              <a:rPr dirty="0" sz="800" spc="5">
                <a:latin typeface="Arial MT"/>
                <a:cs typeface="Arial MT"/>
              </a:rPr>
              <a:t>of </a:t>
            </a:r>
            <a:r>
              <a:rPr dirty="0" sz="800" spc="-5">
                <a:latin typeface="Arial MT"/>
                <a:cs typeface="Arial MT"/>
              </a:rPr>
              <a:t>all </a:t>
            </a:r>
            <a:r>
              <a:rPr dirty="0" sz="800">
                <a:latin typeface="Arial MT"/>
                <a:cs typeface="Arial MT"/>
              </a:rPr>
              <a:t> conversations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or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specific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comments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made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during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ARD/IEP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process.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800" spc="5">
                <a:latin typeface="Arial MT"/>
                <a:cs typeface="Arial MT"/>
              </a:rPr>
              <a:t>Confidentiality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statement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was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read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and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agreed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upon.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 spc="10">
                <a:latin typeface="Arial MT"/>
                <a:cs typeface="Arial MT"/>
              </a:rPr>
              <a:t>ARDC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members </a:t>
            </a:r>
            <a:r>
              <a:rPr dirty="0" sz="800" spc="5">
                <a:latin typeface="Arial MT"/>
                <a:cs typeface="Arial MT"/>
              </a:rPr>
              <a:t>were asked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if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they were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recording the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meeting</a:t>
            </a:r>
            <a:r>
              <a:rPr dirty="0" sz="800" spc="10">
                <a:latin typeface="Arial MT"/>
                <a:cs typeface="Arial MT"/>
              </a:rPr>
              <a:t> and</a:t>
            </a:r>
            <a:r>
              <a:rPr dirty="0" sz="800" spc="5">
                <a:latin typeface="Arial MT"/>
                <a:cs typeface="Arial MT"/>
              </a:rPr>
              <a:t> all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were in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agreement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that they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were not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800" b="1">
                <a:latin typeface="Arial"/>
                <a:cs typeface="Arial"/>
              </a:rPr>
              <a:t>ARD</a:t>
            </a:r>
            <a:r>
              <a:rPr dirty="0" sz="800" spc="-5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Date:</a:t>
            </a:r>
            <a:r>
              <a:rPr dirty="0" sz="800" spc="-40" b="1">
                <a:latin typeface="Arial"/>
                <a:cs typeface="Arial"/>
              </a:rPr>
              <a:t> </a:t>
            </a:r>
            <a:r>
              <a:rPr dirty="0" sz="800">
                <a:latin typeface="Arial MT"/>
                <a:cs typeface="Arial MT"/>
              </a:rPr>
              <a:t>11/5/20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30" b="1">
                <a:latin typeface="Arial"/>
                <a:cs typeface="Arial"/>
              </a:rPr>
              <a:t>Purpose:</a:t>
            </a:r>
            <a:r>
              <a:rPr dirty="0" sz="800" b="1">
                <a:latin typeface="Arial"/>
                <a:cs typeface="Arial"/>
              </a:rPr>
              <a:t> </a:t>
            </a:r>
            <a:r>
              <a:rPr dirty="0" sz="800" spc="5">
                <a:latin typeface="Arial MT"/>
                <a:cs typeface="Arial MT"/>
              </a:rPr>
              <a:t>Annual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ARD,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reviewing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AU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evaluation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5" b="1">
                <a:latin typeface="Arial"/>
                <a:cs typeface="Arial"/>
              </a:rPr>
              <a:t>Eligibility</a:t>
            </a:r>
            <a:r>
              <a:rPr dirty="0" sz="800" spc="5" b="1">
                <a:latin typeface="Arial"/>
                <a:cs typeface="Arial"/>
              </a:rPr>
              <a:t>:</a:t>
            </a:r>
            <a:r>
              <a:rPr dirty="0" sz="800" spc="5" b="1">
                <a:latin typeface="Arial"/>
                <a:cs typeface="Arial"/>
              </a:rPr>
              <a:t> </a:t>
            </a:r>
            <a:r>
              <a:rPr dirty="0" sz="800" spc="-45">
                <a:latin typeface="Arial MT"/>
                <a:cs typeface="Arial MT"/>
              </a:rPr>
              <a:t>SI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45" b="1">
                <a:latin typeface="Arial"/>
                <a:cs typeface="Arial"/>
              </a:rPr>
              <a:t>FIE</a:t>
            </a:r>
            <a:r>
              <a:rPr dirty="0" sz="800" spc="5" b="1">
                <a:latin typeface="Arial"/>
                <a:cs typeface="Arial"/>
              </a:rPr>
              <a:t>:</a:t>
            </a:r>
            <a:r>
              <a:rPr dirty="0" sz="800" spc="-45" b="1">
                <a:latin typeface="Arial"/>
                <a:cs typeface="Arial"/>
              </a:rPr>
              <a:t> </a:t>
            </a:r>
            <a:r>
              <a:rPr dirty="0" sz="800">
                <a:latin typeface="Arial MT"/>
                <a:cs typeface="Arial MT"/>
              </a:rPr>
              <a:t>10/29/20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Arial MT"/>
              <a:cs typeface="Arial MT"/>
            </a:endParaRPr>
          </a:p>
          <a:p>
            <a:pPr marL="12700" marR="219075">
              <a:lnSpc>
                <a:spcPct val="109400"/>
              </a:lnSpc>
            </a:pPr>
            <a:r>
              <a:rPr dirty="0" sz="800" spc="35" b="1">
                <a:latin typeface="Arial"/>
                <a:cs typeface="Arial"/>
              </a:rPr>
              <a:t>Attendees: </a:t>
            </a:r>
            <a:r>
              <a:rPr dirty="0" sz="800">
                <a:latin typeface="Arial MT"/>
                <a:cs typeface="Arial MT"/>
              </a:rPr>
              <a:t>Diagnostician- Kerri Carleton, Special Education Teacher- </a:t>
            </a:r>
            <a:r>
              <a:rPr dirty="0" sz="800" spc="5">
                <a:latin typeface="Arial MT"/>
                <a:cs typeface="Arial MT"/>
              </a:rPr>
              <a:t>Case </a:t>
            </a:r>
            <a:r>
              <a:rPr dirty="0" sz="800">
                <a:latin typeface="Arial MT"/>
                <a:cs typeface="Arial MT"/>
              </a:rPr>
              <a:t>Manager, </a:t>
            </a:r>
            <a:r>
              <a:rPr dirty="0" sz="800" spc="5">
                <a:latin typeface="Arial MT"/>
                <a:cs typeface="Arial MT"/>
              </a:rPr>
              <a:t>Speech </a:t>
            </a:r>
            <a:r>
              <a:rPr dirty="0" sz="800">
                <a:latin typeface="Arial MT"/>
                <a:cs typeface="Arial MT"/>
              </a:rPr>
              <a:t>Therapist- </a:t>
            </a:r>
            <a:r>
              <a:rPr dirty="0" sz="800" spc="5">
                <a:latin typeface="Arial MT"/>
                <a:cs typeface="Arial MT"/>
              </a:rPr>
              <a:t>Beth </a:t>
            </a:r>
            <a:r>
              <a:rPr dirty="0" sz="800">
                <a:latin typeface="Arial MT"/>
                <a:cs typeface="Arial MT"/>
              </a:rPr>
              <a:t>Keys, Occupational Therapist- Sally Smith, 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LSSP</a:t>
            </a:r>
            <a:r>
              <a:rPr dirty="0" sz="800" spc="5">
                <a:latin typeface="Arial MT"/>
                <a:cs typeface="Arial MT"/>
              </a:rPr>
              <a:t> (by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phone)</a:t>
            </a:r>
            <a:r>
              <a:rPr dirty="0" sz="800" spc="10">
                <a:latin typeface="Arial MT"/>
                <a:cs typeface="Arial MT"/>
              </a:rPr>
              <a:t> – </a:t>
            </a:r>
            <a:r>
              <a:rPr dirty="0" sz="800" spc="5">
                <a:latin typeface="Arial MT"/>
                <a:cs typeface="Arial MT"/>
              </a:rPr>
              <a:t>Debra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Whitmore, </a:t>
            </a:r>
            <a:r>
              <a:rPr dirty="0" sz="800" spc="10">
                <a:latin typeface="Arial MT"/>
                <a:cs typeface="Arial MT"/>
              </a:rPr>
              <a:t>Gen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Ed</a:t>
            </a:r>
            <a:r>
              <a:rPr dirty="0" sz="800" spc="5">
                <a:latin typeface="Arial MT"/>
                <a:cs typeface="Arial MT"/>
              </a:rPr>
              <a:t> teacher excusal,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parents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were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not in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meeting-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It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was </a:t>
            </a:r>
            <a:r>
              <a:rPr dirty="0" sz="800" spc="5">
                <a:latin typeface="Arial MT"/>
                <a:cs typeface="Arial MT"/>
              </a:rPr>
              <a:t>agreed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that they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would</a:t>
            </a:r>
            <a:r>
              <a:rPr dirty="0" sz="800" spc="10">
                <a:latin typeface="Arial MT"/>
                <a:cs typeface="Arial MT"/>
              </a:rPr>
              <a:t> be </a:t>
            </a:r>
            <a:r>
              <a:rPr dirty="0" sz="800" spc="5">
                <a:latin typeface="Arial MT"/>
                <a:cs typeface="Arial MT"/>
              </a:rPr>
              <a:t>contacted</a:t>
            </a:r>
            <a:r>
              <a:rPr dirty="0" sz="800" spc="10">
                <a:latin typeface="Arial MT"/>
                <a:cs typeface="Arial MT"/>
              </a:rPr>
              <a:t> by </a:t>
            </a:r>
            <a:r>
              <a:rPr dirty="0" sz="800" spc="5">
                <a:latin typeface="Arial MT"/>
                <a:cs typeface="Arial MT"/>
              </a:rPr>
              <a:t>phone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of all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the </a:t>
            </a:r>
            <a:r>
              <a:rPr dirty="0" sz="800" spc="-204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results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at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a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later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date.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Arial MT"/>
              <a:cs typeface="Arial MT"/>
            </a:endParaRPr>
          </a:p>
          <a:p>
            <a:pPr marL="12700" marR="417195">
              <a:lnSpc>
                <a:spcPct val="109400"/>
              </a:lnSpc>
            </a:pPr>
            <a:r>
              <a:rPr dirty="0" sz="800" spc="25" b="1">
                <a:latin typeface="Arial"/>
                <a:cs typeface="Arial"/>
              </a:rPr>
              <a:t>Parent </a:t>
            </a:r>
            <a:r>
              <a:rPr dirty="0" sz="800" spc="30" b="1">
                <a:latin typeface="Arial"/>
                <a:cs typeface="Arial"/>
              </a:rPr>
              <a:t>Concerns: </a:t>
            </a:r>
            <a:r>
              <a:rPr dirty="0" sz="800" spc="15">
                <a:latin typeface="Arial MT"/>
                <a:cs typeface="Arial MT"/>
              </a:rPr>
              <a:t>Mom </a:t>
            </a:r>
            <a:r>
              <a:rPr dirty="0" sz="800" spc="10">
                <a:latin typeface="Arial MT"/>
                <a:cs typeface="Arial MT"/>
              </a:rPr>
              <a:t>and Dad </a:t>
            </a:r>
            <a:r>
              <a:rPr dirty="0" sz="800" spc="5">
                <a:latin typeface="Arial MT"/>
                <a:cs typeface="Arial MT"/>
              </a:rPr>
              <a:t>would like </a:t>
            </a:r>
            <a:r>
              <a:rPr dirty="0" sz="800">
                <a:latin typeface="Arial MT"/>
                <a:cs typeface="Arial MT"/>
              </a:rPr>
              <a:t>for </a:t>
            </a:r>
            <a:r>
              <a:rPr dirty="0" sz="800" spc="5">
                <a:latin typeface="Arial MT"/>
                <a:cs typeface="Arial MT"/>
              </a:rPr>
              <a:t>Bruce to </a:t>
            </a:r>
            <a:r>
              <a:rPr dirty="0" sz="800" spc="10">
                <a:latin typeface="Arial MT"/>
                <a:cs typeface="Arial MT"/>
              </a:rPr>
              <a:t>be </a:t>
            </a:r>
            <a:r>
              <a:rPr dirty="0" sz="800" spc="5">
                <a:latin typeface="Arial MT"/>
                <a:cs typeface="Arial MT"/>
              </a:rPr>
              <a:t>able to communicate his wants </a:t>
            </a:r>
            <a:r>
              <a:rPr dirty="0" sz="800" spc="10">
                <a:latin typeface="Arial MT"/>
                <a:cs typeface="Arial MT"/>
              </a:rPr>
              <a:t>and </a:t>
            </a:r>
            <a:r>
              <a:rPr dirty="0" sz="800" spc="5">
                <a:latin typeface="Arial MT"/>
                <a:cs typeface="Arial MT"/>
              </a:rPr>
              <a:t>needs, express his emotions appropriately, </a:t>
            </a:r>
            <a:r>
              <a:rPr dirty="0" sz="800" spc="10">
                <a:latin typeface="Arial MT"/>
                <a:cs typeface="Arial MT"/>
              </a:rPr>
              <a:t>and </a:t>
            </a:r>
            <a:r>
              <a:rPr dirty="0" sz="800" spc="5">
                <a:latin typeface="Arial MT"/>
                <a:cs typeface="Arial MT"/>
              </a:rPr>
              <a:t>learn </a:t>
            </a:r>
            <a:r>
              <a:rPr dirty="0" sz="800" spc="-2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appropriate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behavior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in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social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situations.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 spc="-10" b="1">
                <a:latin typeface="Arial"/>
                <a:cs typeface="Arial"/>
              </a:rPr>
              <a:t>LSSP: </a:t>
            </a:r>
            <a:r>
              <a:rPr dirty="0" sz="800" spc="5">
                <a:latin typeface="Arial MT"/>
                <a:cs typeface="Arial MT"/>
              </a:rPr>
              <a:t>Observations, records, parent info, previous eval-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pulled all info together. </a:t>
            </a:r>
            <a:r>
              <a:rPr dirty="0" sz="800" spc="10">
                <a:latin typeface="Arial MT"/>
                <a:cs typeface="Arial MT"/>
              </a:rPr>
              <a:t>He</a:t>
            </a:r>
            <a:r>
              <a:rPr dirty="0" sz="800" spc="5">
                <a:latin typeface="Arial MT"/>
                <a:cs typeface="Arial MT"/>
              </a:rPr>
              <a:t> qualifies </a:t>
            </a:r>
            <a:r>
              <a:rPr dirty="0" sz="800" spc="10">
                <a:latin typeface="Arial MT"/>
                <a:cs typeface="Arial MT"/>
              </a:rPr>
              <a:t>as a</a:t>
            </a:r>
            <a:r>
              <a:rPr dirty="0" sz="800" spc="5">
                <a:latin typeface="Arial MT"/>
                <a:cs typeface="Arial MT"/>
              </a:rPr>
              <a:t> student with Autism.</a:t>
            </a:r>
            <a:endParaRPr sz="800">
              <a:latin typeface="Arial MT"/>
              <a:cs typeface="Arial MT"/>
            </a:endParaRPr>
          </a:p>
          <a:p>
            <a:pPr marL="12700" marR="161925">
              <a:lnSpc>
                <a:spcPct val="109400"/>
              </a:lnSpc>
            </a:pPr>
            <a:r>
              <a:rPr dirty="0" sz="800" spc="10">
                <a:latin typeface="Arial MT"/>
                <a:cs typeface="Arial MT"/>
              </a:rPr>
              <a:t>He </a:t>
            </a:r>
            <a:r>
              <a:rPr dirty="0" sz="800" spc="5">
                <a:latin typeface="Arial MT"/>
                <a:cs typeface="Arial MT"/>
              </a:rPr>
              <a:t>doesn't have </a:t>
            </a:r>
            <a:r>
              <a:rPr dirty="0" sz="800" spc="10">
                <a:latin typeface="Arial MT"/>
                <a:cs typeface="Arial MT"/>
              </a:rPr>
              <a:t>eye </a:t>
            </a:r>
            <a:r>
              <a:rPr dirty="0" sz="800" spc="5">
                <a:latin typeface="Arial MT"/>
                <a:cs typeface="Arial MT"/>
              </a:rPr>
              <a:t>contact. </a:t>
            </a:r>
            <a:r>
              <a:rPr dirty="0" sz="800" spc="10">
                <a:latin typeface="Arial MT"/>
                <a:cs typeface="Arial MT"/>
              </a:rPr>
              <a:t>He </a:t>
            </a:r>
            <a:r>
              <a:rPr dirty="0" sz="800" spc="5">
                <a:latin typeface="Arial MT"/>
                <a:cs typeface="Arial MT"/>
              </a:rPr>
              <a:t>points to items out of reach. </a:t>
            </a:r>
            <a:r>
              <a:rPr dirty="0" sz="800" spc="10">
                <a:latin typeface="Arial MT"/>
                <a:cs typeface="Arial MT"/>
              </a:rPr>
              <a:t>He </a:t>
            </a:r>
            <a:r>
              <a:rPr dirty="0" sz="800" spc="5">
                <a:latin typeface="Arial MT"/>
                <a:cs typeface="Arial MT"/>
              </a:rPr>
              <a:t>is delayed in speech. </a:t>
            </a:r>
            <a:r>
              <a:rPr dirty="0" sz="800" spc="10">
                <a:latin typeface="Arial MT"/>
                <a:cs typeface="Arial MT"/>
              </a:rPr>
              <a:t>He </a:t>
            </a:r>
            <a:r>
              <a:rPr dirty="0" sz="800" spc="5">
                <a:latin typeface="Arial MT"/>
                <a:cs typeface="Arial MT"/>
              </a:rPr>
              <a:t>loves spinning lights </a:t>
            </a:r>
            <a:r>
              <a:rPr dirty="0" sz="800" spc="10">
                <a:latin typeface="Arial MT"/>
                <a:cs typeface="Arial MT"/>
              </a:rPr>
              <a:t>and </a:t>
            </a:r>
            <a:r>
              <a:rPr dirty="0" sz="800" spc="5">
                <a:latin typeface="Arial MT"/>
                <a:cs typeface="Arial MT"/>
              </a:rPr>
              <a:t>loves </a:t>
            </a:r>
            <a:r>
              <a:rPr dirty="0" sz="800" spc="10">
                <a:latin typeface="Arial MT"/>
                <a:cs typeface="Arial MT"/>
              </a:rPr>
              <a:t>deep </a:t>
            </a:r>
            <a:r>
              <a:rPr dirty="0" sz="800" spc="5">
                <a:latin typeface="Arial MT"/>
                <a:cs typeface="Arial MT"/>
              </a:rPr>
              <a:t>pressure. </a:t>
            </a:r>
            <a:r>
              <a:rPr dirty="0" sz="800" spc="10">
                <a:latin typeface="Arial MT"/>
                <a:cs typeface="Arial MT"/>
              </a:rPr>
              <a:t>Has </a:t>
            </a:r>
            <a:r>
              <a:rPr dirty="0" sz="800">
                <a:latin typeface="Arial MT"/>
                <a:cs typeface="Arial MT"/>
              </a:rPr>
              <a:t>difficulty 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attending </a:t>
            </a:r>
            <a:r>
              <a:rPr dirty="0" sz="800" spc="5">
                <a:latin typeface="Arial MT"/>
                <a:cs typeface="Arial MT"/>
              </a:rPr>
              <a:t>to </a:t>
            </a:r>
            <a:r>
              <a:rPr dirty="0" sz="800" spc="10">
                <a:latin typeface="Arial MT"/>
                <a:cs typeface="Arial MT"/>
              </a:rPr>
              <a:t>a </a:t>
            </a:r>
            <a:r>
              <a:rPr dirty="0" sz="800">
                <a:latin typeface="Arial MT"/>
                <a:cs typeface="Arial MT"/>
              </a:rPr>
              <a:t>task. </a:t>
            </a:r>
            <a:r>
              <a:rPr dirty="0" sz="800" spc="5">
                <a:latin typeface="Arial MT"/>
                <a:cs typeface="Arial MT"/>
              </a:rPr>
              <a:t>His </a:t>
            </a:r>
            <a:r>
              <a:rPr dirty="0" sz="800" spc="-5">
                <a:latin typeface="Arial MT"/>
                <a:cs typeface="Arial MT"/>
              </a:rPr>
              <a:t>eligibility </a:t>
            </a:r>
            <a:r>
              <a:rPr dirty="0" sz="800">
                <a:latin typeface="Arial MT"/>
                <a:cs typeface="Arial MT"/>
              </a:rPr>
              <a:t>should </a:t>
            </a:r>
            <a:r>
              <a:rPr dirty="0" sz="800" spc="5">
                <a:latin typeface="Arial MT"/>
                <a:cs typeface="Arial MT"/>
              </a:rPr>
              <a:t>be changed from </a:t>
            </a:r>
            <a:r>
              <a:rPr dirty="0" sz="800" spc="10">
                <a:latin typeface="Arial MT"/>
                <a:cs typeface="Arial MT"/>
              </a:rPr>
              <a:t>NCEC </a:t>
            </a:r>
            <a:r>
              <a:rPr dirty="0" sz="800" spc="5">
                <a:latin typeface="Arial MT"/>
                <a:cs typeface="Arial MT"/>
              </a:rPr>
              <a:t>to AU. </a:t>
            </a:r>
            <a:r>
              <a:rPr dirty="0" sz="800" spc="10">
                <a:latin typeface="Arial MT"/>
                <a:cs typeface="Arial MT"/>
              </a:rPr>
              <a:t>He </a:t>
            </a:r>
            <a:r>
              <a:rPr dirty="0" sz="800" spc="5">
                <a:latin typeface="Arial MT"/>
                <a:cs typeface="Arial MT"/>
              </a:rPr>
              <a:t>needs </a:t>
            </a:r>
            <a:r>
              <a:rPr dirty="0" sz="800">
                <a:latin typeface="Arial MT"/>
                <a:cs typeface="Arial MT"/>
              </a:rPr>
              <a:t>pictures for communication, </a:t>
            </a:r>
            <a:r>
              <a:rPr dirty="0" sz="800" spc="10">
                <a:latin typeface="Arial MT"/>
                <a:cs typeface="Arial MT"/>
              </a:rPr>
              <a:t>a </a:t>
            </a:r>
            <a:r>
              <a:rPr dirty="0" sz="800">
                <a:latin typeface="Arial MT"/>
                <a:cs typeface="Arial MT"/>
              </a:rPr>
              <a:t>picture schedule, planned sensory breaks, </a:t>
            </a:r>
            <a:r>
              <a:rPr dirty="0" sz="800" spc="5">
                <a:latin typeface="Arial MT"/>
                <a:cs typeface="Arial MT"/>
              </a:rPr>
              <a:t> verbal and </a:t>
            </a:r>
            <a:r>
              <a:rPr dirty="0" sz="800">
                <a:latin typeface="Arial MT"/>
                <a:cs typeface="Arial MT"/>
              </a:rPr>
              <a:t>behavioral </a:t>
            </a:r>
            <a:r>
              <a:rPr dirty="0" sz="800" spc="5">
                <a:latin typeface="Arial MT"/>
                <a:cs typeface="Arial MT"/>
              </a:rPr>
              <a:t>routine. </a:t>
            </a:r>
            <a:r>
              <a:rPr dirty="0" sz="800">
                <a:latin typeface="Arial MT"/>
                <a:cs typeface="Arial MT"/>
              </a:rPr>
              <a:t>Verbalizations </a:t>
            </a:r>
            <a:r>
              <a:rPr dirty="0" sz="800" spc="5">
                <a:latin typeface="Arial MT"/>
                <a:cs typeface="Arial MT"/>
              </a:rPr>
              <a:t>need to be </a:t>
            </a:r>
            <a:r>
              <a:rPr dirty="0" sz="800">
                <a:latin typeface="Arial MT"/>
                <a:cs typeface="Arial MT"/>
              </a:rPr>
              <a:t>decreased. Counseling is also </a:t>
            </a:r>
            <a:r>
              <a:rPr dirty="0" sz="800" spc="10">
                <a:latin typeface="Arial MT"/>
                <a:cs typeface="Arial MT"/>
              </a:rPr>
              <a:t>recommended </a:t>
            </a:r>
            <a:r>
              <a:rPr dirty="0" sz="800" spc="5">
                <a:latin typeface="Arial MT"/>
                <a:cs typeface="Arial MT"/>
              </a:rPr>
              <a:t>at </a:t>
            </a:r>
            <a:r>
              <a:rPr dirty="0" sz="800">
                <a:latin typeface="Arial MT"/>
                <a:cs typeface="Arial MT"/>
              </a:rPr>
              <a:t>this time. </a:t>
            </a:r>
            <a:r>
              <a:rPr dirty="0" sz="800" spc="10">
                <a:latin typeface="Arial MT"/>
                <a:cs typeface="Arial MT"/>
              </a:rPr>
              <a:t>2X 6 </a:t>
            </a:r>
            <a:r>
              <a:rPr dirty="0" sz="800" spc="5">
                <a:latin typeface="Arial MT"/>
                <a:cs typeface="Arial MT"/>
              </a:rPr>
              <a:t>weeks </a:t>
            </a:r>
            <a:r>
              <a:rPr dirty="0" sz="800">
                <a:latin typeface="Arial MT"/>
                <a:cs typeface="Arial MT"/>
              </a:rPr>
              <a:t>direct </a:t>
            </a:r>
            <a:r>
              <a:rPr dirty="0" sz="800" spc="5">
                <a:latin typeface="Arial MT"/>
                <a:cs typeface="Arial MT"/>
              </a:rPr>
              <a:t>and 30 minutes consult 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15">
                <a:latin typeface="Arial MT"/>
                <a:cs typeface="Arial MT"/>
              </a:rPr>
              <a:t>per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6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15">
                <a:latin typeface="Arial MT"/>
                <a:cs typeface="Arial MT"/>
              </a:rPr>
              <a:t>weeks.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Arial MT"/>
              <a:cs typeface="Arial MT"/>
            </a:endParaRPr>
          </a:p>
          <a:p>
            <a:pPr marL="12700" marR="24765">
              <a:lnSpc>
                <a:spcPct val="109400"/>
              </a:lnSpc>
              <a:spcBef>
                <a:spcPts val="5"/>
              </a:spcBef>
            </a:pPr>
            <a:r>
              <a:rPr dirty="0" sz="800" spc="20" b="1">
                <a:latin typeface="Arial"/>
                <a:cs typeface="Arial"/>
              </a:rPr>
              <a:t>Speech:</a:t>
            </a:r>
            <a:r>
              <a:rPr dirty="0" sz="800" spc="30" b="1">
                <a:latin typeface="Arial"/>
                <a:cs typeface="Arial"/>
              </a:rPr>
              <a:t> </a:t>
            </a:r>
            <a:r>
              <a:rPr dirty="0" sz="800" spc="10">
                <a:latin typeface="Arial MT"/>
                <a:cs typeface="Arial MT"/>
              </a:rPr>
              <a:t>He has a</a:t>
            </a:r>
            <a:r>
              <a:rPr dirty="0" sz="800" spc="5">
                <a:latin typeface="Arial MT"/>
                <a:cs typeface="Arial MT"/>
              </a:rPr>
              <a:t> lot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of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great </a:t>
            </a:r>
            <a:r>
              <a:rPr dirty="0" sz="800">
                <a:latin typeface="Arial MT"/>
                <a:cs typeface="Arial MT"/>
              </a:rPr>
              <a:t>skills.</a:t>
            </a:r>
            <a:r>
              <a:rPr dirty="0" sz="800" spc="10">
                <a:latin typeface="Arial MT"/>
                <a:cs typeface="Arial MT"/>
              </a:rPr>
              <a:t> He </a:t>
            </a:r>
            <a:r>
              <a:rPr dirty="0" sz="800" spc="5">
                <a:latin typeface="Arial MT"/>
                <a:cs typeface="Arial MT"/>
              </a:rPr>
              <a:t>is consistent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with</a:t>
            </a:r>
            <a:r>
              <a:rPr dirty="0" sz="800" spc="10">
                <a:latin typeface="Arial MT"/>
                <a:cs typeface="Arial MT"/>
              </a:rPr>
              <a:t> a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PECS </a:t>
            </a:r>
            <a:r>
              <a:rPr dirty="0" sz="800" spc="5">
                <a:latin typeface="Arial MT"/>
                <a:cs typeface="Arial MT"/>
              </a:rPr>
              <a:t>exchange. </a:t>
            </a:r>
            <a:r>
              <a:rPr dirty="0" sz="800" spc="10">
                <a:latin typeface="Arial MT"/>
                <a:cs typeface="Arial MT"/>
              </a:rPr>
              <a:t>He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imitate </a:t>
            </a:r>
            <a:r>
              <a:rPr dirty="0" sz="800" spc="10">
                <a:latin typeface="Arial MT"/>
                <a:cs typeface="Arial MT"/>
              </a:rPr>
              <a:t>a </a:t>
            </a:r>
            <a:r>
              <a:rPr dirty="0" sz="800" spc="5">
                <a:latin typeface="Arial MT"/>
                <a:cs typeface="Arial MT"/>
              </a:rPr>
              <a:t>3-word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utterance. </a:t>
            </a:r>
            <a:r>
              <a:rPr dirty="0" sz="800" spc="10">
                <a:latin typeface="Arial MT"/>
                <a:cs typeface="Arial MT"/>
              </a:rPr>
              <a:t>He can </a:t>
            </a:r>
            <a:r>
              <a:rPr dirty="0" sz="800" spc="5">
                <a:latin typeface="Arial MT"/>
                <a:cs typeface="Arial MT"/>
              </a:rPr>
              <a:t>independently choose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what</a:t>
            </a:r>
            <a:r>
              <a:rPr dirty="0" sz="800" spc="10">
                <a:latin typeface="Arial MT"/>
                <a:cs typeface="Arial MT"/>
              </a:rPr>
              <a:t> he</a:t>
            </a:r>
            <a:r>
              <a:rPr dirty="0" sz="800" spc="5">
                <a:latin typeface="Arial MT"/>
                <a:cs typeface="Arial MT"/>
              </a:rPr>
              <a:t> wants. </a:t>
            </a:r>
            <a:r>
              <a:rPr dirty="0" sz="800" spc="10">
                <a:latin typeface="Arial MT"/>
                <a:cs typeface="Arial MT"/>
              </a:rPr>
              <a:t> He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can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sit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from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5-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20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minutes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depending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his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interest.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He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loves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being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on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your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lap.</a:t>
            </a:r>
            <a:endParaRPr sz="800">
              <a:latin typeface="Arial MT"/>
              <a:cs typeface="Arial MT"/>
            </a:endParaRPr>
          </a:p>
          <a:p>
            <a:pPr marL="12700" marR="26670">
              <a:lnSpc>
                <a:spcPct val="109400"/>
              </a:lnSpc>
            </a:pPr>
            <a:r>
              <a:rPr dirty="0" sz="800" spc="15">
                <a:latin typeface="Arial MT"/>
                <a:cs typeface="Arial MT"/>
              </a:rPr>
              <a:t>He</a:t>
            </a:r>
            <a:r>
              <a:rPr dirty="0" sz="800" spc="10">
                <a:latin typeface="Arial MT"/>
                <a:cs typeface="Arial MT"/>
              </a:rPr>
              <a:t> protests when he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doesn't want </a:t>
            </a:r>
            <a:r>
              <a:rPr dirty="0" sz="800" spc="5">
                <a:latin typeface="Arial MT"/>
                <a:cs typeface="Arial MT"/>
              </a:rPr>
              <a:t>to</a:t>
            </a:r>
            <a:r>
              <a:rPr dirty="0" sz="800" spc="10">
                <a:latin typeface="Arial MT"/>
                <a:cs typeface="Arial MT"/>
              </a:rPr>
              <a:t> do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something. </a:t>
            </a:r>
            <a:r>
              <a:rPr dirty="0" sz="800" spc="15">
                <a:latin typeface="Arial MT"/>
                <a:cs typeface="Arial MT"/>
              </a:rPr>
              <a:t>He</a:t>
            </a:r>
            <a:r>
              <a:rPr dirty="0" sz="800" spc="10">
                <a:latin typeface="Arial MT"/>
                <a:cs typeface="Arial MT"/>
              </a:rPr>
              <a:t> does well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with choices. Speech </a:t>
            </a:r>
            <a:r>
              <a:rPr dirty="0" sz="800" spc="5">
                <a:latin typeface="Arial MT"/>
                <a:cs typeface="Arial MT"/>
              </a:rPr>
              <a:t>will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continue </a:t>
            </a:r>
            <a:r>
              <a:rPr dirty="0" sz="800" spc="5">
                <a:latin typeface="Arial MT"/>
                <a:cs typeface="Arial MT"/>
              </a:rPr>
              <a:t>toward</a:t>
            </a:r>
            <a:r>
              <a:rPr dirty="0" sz="800" spc="10">
                <a:latin typeface="Arial MT"/>
                <a:cs typeface="Arial MT"/>
              </a:rPr>
              <a:t> a Level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1 PECS system.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Use pictures </a:t>
            </a:r>
            <a:r>
              <a:rPr dirty="0" sz="800" spc="5">
                <a:latin typeface="Arial MT"/>
                <a:cs typeface="Arial MT"/>
              </a:rPr>
              <a:t>to</a:t>
            </a:r>
            <a:r>
              <a:rPr dirty="0" sz="800" spc="10">
                <a:latin typeface="Arial MT"/>
                <a:cs typeface="Arial MT"/>
              </a:rPr>
              <a:t> get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what </a:t>
            </a:r>
            <a:r>
              <a:rPr dirty="0" sz="800" spc="-21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he wants, use pictures to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ask </a:t>
            </a:r>
            <a:r>
              <a:rPr dirty="0" sz="800" spc="5">
                <a:latin typeface="Arial MT"/>
                <a:cs typeface="Arial MT"/>
              </a:rPr>
              <a:t>for </a:t>
            </a:r>
            <a:r>
              <a:rPr dirty="0" sz="800" spc="10">
                <a:latin typeface="Arial MT"/>
                <a:cs typeface="Arial MT"/>
              </a:rPr>
              <a:t>help, and respond appropriately </a:t>
            </a:r>
            <a:r>
              <a:rPr dirty="0" sz="800" spc="5">
                <a:latin typeface="Arial MT"/>
                <a:cs typeface="Arial MT"/>
              </a:rPr>
              <a:t>for </a:t>
            </a:r>
            <a:r>
              <a:rPr dirty="0" sz="800" spc="10">
                <a:latin typeface="Arial MT"/>
                <a:cs typeface="Arial MT"/>
              </a:rPr>
              <a:t>transition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cues.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10">
                <a:latin typeface="Arial MT"/>
                <a:cs typeface="Arial MT"/>
              </a:rPr>
              <a:t>30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minutes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5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out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of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6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weeks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Arial MT"/>
              <a:cs typeface="Arial MT"/>
            </a:endParaRPr>
          </a:p>
          <a:p>
            <a:pPr marL="12700" marR="5080">
              <a:lnSpc>
                <a:spcPct val="109400"/>
              </a:lnSpc>
            </a:pPr>
            <a:r>
              <a:rPr dirty="0" sz="800" spc="-15" b="1">
                <a:latin typeface="Arial"/>
                <a:cs typeface="Arial"/>
              </a:rPr>
              <a:t>OT:</a:t>
            </a:r>
            <a:r>
              <a:rPr dirty="0" sz="800" spc="15" b="1">
                <a:latin typeface="Arial"/>
                <a:cs typeface="Arial"/>
              </a:rPr>
              <a:t> </a:t>
            </a:r>
            <a:r>
              <a:rPr dirty="0" sz="800" spc="5">
                <a:latin typeface="Arial MT"/>
                <a:cs typeface="Arial MT"/>
              </a:rPr>
              <a:t>observations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in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classroom,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forms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from</a:t>
            </a:r>
            <a:r>
              <a:rPr dirty="0" sz="800" spc="10">
                <a:latin typeface="Arial MT"/>
                <a:cs typeface="Arial MT"/>
              </a:rPr>
              <a:t> Speech and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classroom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teacher.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Academics</a:t>
            </a:r>
            <a:r>
              <a:rPr dirty="0" sz="800" spc="10">
                <a:latin typeface="Arial MT"/>
                <a:cs typeface="Arial MT"/>
              </a:rPr>
              <a:t> and </a:t>
            </a:r>
            <a:r>
              <a:rPr dirty="0" sz="800" spc="5">
                <a:latin typeface="Arial MT"/>
                <a:cs typeface="Arial MT"/>
              </a:rPr>
              <a:t>transitions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are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sometimes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difficult.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Preference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of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activity.</a:t>
            </a:r>
            <a:r>
              <a:rPr dirty="0" sz="800" spc="10">
                <a:latin typeface="Arial MT"/>
                <a:cs typeface="Arial MT"/>
              </a:rPr>
              <a:t> Seems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to 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be </a:t>
            </a:r>
            <a:r>
              <a:rPr dirty="0" sz="800">
                <a:latin typeface="Arial MT"/>
                <a:cs typeface="Arial MT"/>
              </a:rPr>
              <a:t>right </a:t>
            </a:r>
            <a:r>
              <a:rPr dirty="0" sz="800" spc="5">
                <a:latin typeface="Arial MT"/>
                <a:cs typeface="Arial MT"/>
              </a:rPr>
              <a:t>hand </a:t>
            </a:r>
            <a:r>
              <a:rPr dirty="0" sz="800">
                <a:latin typeface="Arial MT"/>
                <a:cs typeface="Arial MT"/>
              </a:rPr>
              <a:t>dominant. </a:t>
            </a:r>
            <a:r>
              <a:rPr dirty="0" sz="800" spc="5">
                <a:latin typeface="Arial MT"/>
                <a:cs typeface="Arial MT"/>
              </a:rPr>
              <a:t>Can </a:t>
            </a:r>
            <a:r>
              <a:rPr dirty="0" sz="800">
                <a:latin typeface="Arial MT"/>
                <a:cs typeface="Arial MT"/>
              </a:rPr>
              <a:t>put together </a:t>
            </a:r>
            <a:r>
              <a:rPr dirty="0" sz="800" spc="10">
                <a:latin typeface="Arial MT"/>
                <a:cs typeface="Arial MT"/>
              </a:rPr>
              <a:t>a </a:t>
            </a:r>
            <a:r>
              <a:rPr dirty="0" sz="800">
                <a:latin typeface="Arial MT"/>
                <a:cs typeface="Arial MT"/>
              </a:rPr>
              <a:t>10-piece </a:t>
            </a:r>
            <a:r>
              <a:rPr dirty="0" sz="800" spc="5">
                <a:latin typeface="Arial MT"/>
                <a:cs typeface="Arial MT"/>
              </a:rPr>
              <a:t>number </a:t>
            </a:r>
            <a:r>
              <a:rPr dirty="0" sz="800">
                <a:latin typeface="Arial MT"/>
                <a:cs typeface="Arial MT"/>
              </a:rPr>
              <a:t>puzzle. Requires </a:t>
            </a:r>
            <a:r>
              <a:rPr dirty="0" sz="800" spc="5">
                <a:latin typeface="Arial MT"/>
                <a:cs typeface="Arial MT"/>
              </a:rPr>
              <a:t>hand </a:t>
            </a:r>
            <a:r>
              <a:rPr dirty="0" sz="800">
                <a:latin typeface="Arial MT"/>
                <a:cs typeface="Arial MT"/>
              </a:rPr>
              <a:t>over </a:t>
            </a:r>
            <a:r>
              <a:rPr dirty="0" sz="800" spc="5">
                <a:latin typeface="Arial MT"/>
                <a:cs typeface="Arial MT"/>
              </a:rPr>
              <a:t>hand to use </a:t>
            </a:r>
            <a:r>
              <a:rPr dirty="0" sz="800">
                <a:latin typeface="Arial MT"/>
                <a:cs typeface="Arial MT"/>
              </a:rPr>
              <a:t>scissors. </a:t>
            </a:r>
            <a:r>
              <a:rPr dirty="0" sz="800" spc="5">
                <a:latin typeface="Arial MT"/>
                <a:cs typeface="Arial MT"/>
              </a:rPr>
              <a:t>Needs maximum </a:t>
            </a:r>
            <a:r>
              <a:rPr dirty="0" sz="800">
                <a:latin typeface="Arial MT"/>
                <a:cs typeface="Arial MT"/>
              </a:rPr>
              <a:t>assistance. Will imitate </a:t>
            </a:r>
            <a:r>
              <a:rPr dirty="0" sz="800" spc="-5">
                <a:latin typeface="Arial MT"/>
                <a:cs typeface="Arial MT"/>
              </a:rPr>
              <a:t>vertical 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lines.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He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utilizes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restroom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and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self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feeds.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May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need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help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to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open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a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wrapper.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He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has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constant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movement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in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his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space.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He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is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over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responsive-to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tactile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input.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10">
                <a:latin typeface="Arial MT"/>
                <a:cs typeface="Arial MT"/>
              </a:rPr>
              <a:t>30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min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5</a:t>
            </a:r>
            <a:r>
              <a:rPr dirty="0" sz="800" spc="5">
                <a:latin typeface="Arial MT"/>
                <a:cs typeface="Arial MT"/>
              </a:rPr>
              <a:t> out of</a:t>
            </a:r>
            <a:r>
              <a:rPr dirty="0" sz="800" spc="10">
                <a:latin typeface="Arial MT"/>
                <a:cs typeface="Arial MT"/>
              </a:rPr>
              <a:t> 6</a:t>
            </a:r>
            <a:r>
              <a:rPr dirty="0" sz="800" spc="5">
                <a:latin typeface="Arial MT"/>
                <a:cs typeface="Arial MT"/>
              </a:rPr>
              <a:t> weeks. Goals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10">
                <a:latin typeface="Arial MT"/>
                <a:cs typeface="Arial MT"/>
              </a:rPr>
              <a:t> be</a:t>
            </a:r>
            <a:r>
              <a:rPr dirty="0" sz="800" spc="5">
                <a:latin typeface="Arial MT"/>
                <a:cs typeface="Arial MT"/>
              </a:rPr>
              <a:t> to actively participate in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classroom for </a:t>
            </a:r>
            <a:r>
              <a:rPr dirty="0" sz="800" spc="10">
                <a:latin typeface="Arial MT"/>
                <a:cs typeface="Arial MT"/>
              </a:rPr>
              <a:t>3</a:t>
            </a:r>
            <a:r>
              <a:rPr dirty="0" sz="800" spc="5">
                <a:latin typeface="Arial MT"/>
                <a:cs typeface="Arial MT"/>
              </a:rPr>
              <a:t> or</a:t>
            </a:r>
            <a:r>
              <a:rPr dirty="0" sz="800" spc="10">
                <a:latin typeface="Arial MT"/>
                <a:cs typeface="Arial MT"/>
              </a:rPr>
              <a:t> more</a:t>
            </a:r>
            <a:r>
              <a:rPr dirty="0" sz="800" spc="5">
                <a:latin typeface="Arial MT"/>
                <a:cs typeface="Arial MT"/>
              </a:rPr>
              <a:t> minutes </a:t>
            </a:r>
            <a:r>
              <a:rPr dirty="0" sz="800" spc="10">
                <a:latin typeface="Arial MT"/>
                <a:cs typeface="Arial MT"/>
              </a:rPr>
              <a:t>and</a:t>
            </a:r>
            <a:r>
              <a:rPr dirty="0" sz="800" spc="5">
                <a:latin typeface="Arial MT"/>
                <a:cs typeface="Arial MT"/>
              </a:rPr>
              <a:t> pre </a:t>
            </a:r>
            <a:r>
              <a:rPr dirty="0" sz="800">
                <a:latin typeface="Arial MT"/>
                <a:cs typeface="Arial MT"/>
              </a:rPr>
              <a:t>writing.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Arial MT"/>
              <a:cs typeface="Arial MT"/>
            </a:endParaRPr>
          </a:p>
          <a:p>
            <a:pPr marL="12700" marR="132080">
              <a:lnSpc>
                <a:spcPct val="109400"/>
              </a:lnSpc>
            </a:pPr>
            <a:r>
              <a:rPr dirty="0" sz="800" spc="5" b="1">
                <a:latin typeface="Arial"/>
                <a:cs typeface="Arial"/>
              </a:rPr>
              <a:t>Special Education:</a:t>
            </a:r>
            <a:r>
              <a:rPr dirty="0" sz="800" spc="20" b="1">
                <a:latin typeface="Arial"/>
                <a:cs typeface="Arial"/>
              </a:rPr>
              <a:t> </a:t>
            </a:r>
            <a:r>
              <a:rPr dirty="0" sz="800" spc="5">
                <a:latin typeface="Arial MT"/>
                <a:cs typeface="Arial MT"/>
              </a:rPr>
              <a:t>Bruce</a:t>
            </a:r>
            <a:r>
              <a:rPr dirty="0" sz="800" spc="10">
                <a:latin typeface="Arial MT"/>
                <a:cs typeface="Arial MT"/>
              </a:rPr>
              <a:t> has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done well </a:t>
            </a:r>
            <a:r>
              <a:rPr dirty="0" sz="800" spc="5">
                <a:latin typeface="Arial MT"/>
                <a:cs typeface="Arial MT"/>
              </a:rPr>
              <a:t>in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the</a:t>
            </a:r>
            <a:r>
              <a:rPr dirty="0" sz="800" spc="10">
                <a:latin typeface="Arial MT"/>
                <a:cs typeface="Arial MT"/>
              </a:rPr>
              <a:t> classroom over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the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last</a:t>
            </a:r>
            <a:r>
              <a:rPr dirty="0" sz="800" spc="10">
                <a:latin typeface="Arial MT"/>
                <a:cs typeface="Arial MT"/>
              </a:rPr>
              <a:t> 6 weeks.</a:t>
            </a:r>
            <a:r>
              <a:rPr dirty="0" sz="800" spc="15">
                <a:latin typeface="Arial MT"/>
                <a:cs typeface="Arial MT"/>
              </a:rPr>
              <a:t> He</a:t>
            </a:r>
            <a:r>
              <a:rPr dirty="0" sz="800" spc="10">
                <a:latin typeface="Arial MT"/>
                <a:cs typeface="Arial MT"/>
              </a:rPr>
              <a:t> has met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his goals </a:t>
            </a:r>
            <a:r>
              <a:rPr dirty="0" sz="800" spc="5">
                <a:latin typeface="Arial MT"/>
                <a:cs typeface="Arial MT"/>
              </a:rPr>
              <a:t>that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were carried over </a:t>
            </a:r>
            <a:r>
              <a:rPr dirty="0" sz="800" spc="5">
                <a:latin typeface="Arial MT"/>
                <a:cs typeface="Arial MT"/>
              </a:rPr>
              <a:t>from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his previous school 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district.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He</a:t>
            </a:r>
            <a:r>
              <a:rPr dirty="0" sz="800" spc="5">
                <a:latin typeface="Arial MT"/>
                <a:cs typeface="Arial MT"/>
              </a:rPr>
              <a:t> is able to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identify shapes, trace the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first</a:t>
            </a:r>
            <a:r>
              <a:rPr dirty="0" sz="800" spc="5">
                <a:latin typeface="Arial MT"/>
                <a:cs typeface="Arial MT"/>
              </a:rPr>
              <a:t> letter of his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name, follow </a:t>
            </a:r>
            <a:r>
              <a:rPr dirty="0" sz="800" spc="10">
                <a:latin typeface="Arial MT"/>
                <a:cs typeface="Arial MT"/>
              </a:rPr>
              <a:t>2</a:t>
            </a:r>
            <a:r>
              <a:rPr dirty="0" sz="800" spc="5">
                <a:latin typeface="Arial MT"/>
                <a:cs typeface="Arial MT"/>
              </a:rPr>
              <a:t> step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directions, </a:t>
            </a:r>
            <a:r>
              <a:rPr dirty="0" sz="800" spc="10">
                <a:latin typeface="Arial MT"/>
                <a:cs typeface="Arial MT"/>
              </a:rPr>
              <a:t>and</a:t>
            </a:r>
            <a:r>
              <a:rPr dirty="0" sz="800" spc="5">
                <a:latin typeface="Arial MT"/>
                <a:cs typeface="Arial MT"/>
              </a:rPr>
              <a:t> matches his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colors. </a:t>
            </a:r>
            <a:r>
              <a:rPr dirty="0" sz="800" spc="10">
                <a:latin typeface="Arial MT"/>
                <a:cs typeface="Arial MT"/>
              </a:rPr>
              <a:t>He</a:t>
            </a:r>
            <a:r>
              <a:rPr dirty="0" sz="800" spc="5">
                <a:latin typeface="Arial MT"/>
                <a:cs typeface="Arial MT"/>
              </a:rPr>
              <a:t> is also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able to identify all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letters of 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the alphabet. Bruce </a:t>
            </a:r>
            <a:r>
              <a:rPr dirty="0" sz="800" spc="10">
                <a:latin typeface="Arial MT"/>
                <a:cs typeface="Arial MT"/>
              </a:rPr>
              <a:t>has had a </a:t>
            </a:r>
            <a:r>
              <a:rPr dirty="0" sz="800">
                <a:latin typeface="Arial MT"/>
                <a:cs typeface="Arial MT"/>
              </a:rPr>
              <a:t>difficult </a:t>
            </a:r>
            <a:r>
              <a:rPr dirty="0" sz="800" spc="5">
                <a:latin typeface="Arial MT"/>
                <a:cs typeface="Arial MT"/>
              </a:rPr>
              <a:t>time following </a:t>
            </a:r>
            <a:r>
              <a:rPr dirty="0" sz="800" spc="10">
                <a:latin typeface="Arial MT"/>
                <a:cs typeface="Arial MT"/>
              </a:rPr>
              <a:t>a </a:t>
            </a:r>
            <a:r>
              <a:rPr dirty="0" sz="800" spc="5">
                <a:latin typeface="Arial MT"/>
                <a:cs typeface="Arial MT"/>
              </a:rPr>
              <a:t>routine in the classroom </a:t>
            </a:r>
            <a:r>
              <a:rPr dirty="0" sz="800" spc="10">
                <a:latin typeface="Arial MT"/>
                <a:cs typeface="Arial MT"/>
              </a:rPr>
              <a:t>and </a:t>
            </a:r>
            <a:r>
              <a:rPr dirty="0" sz="800" spc="5">
                <a:latin typeface="Arial MT"/>
                <a:cs typeface="Arial MT"/>
              </a:rPr>
              <a:t>struggles to attend to </a:t>
            </a:r>
            <a:r>
              <a:rPr dirty="0" sz="800" spc="10">
                <a:latin typeface="Arial MT"/>
                <a:cs typeface="Arial MT"/>
              </a:rPr>
              <a:t>a </a:t>
            </a:r>
            <a:r>
              <a:rPr dirty="0" sz="800" spc="5">
                <a:latin typeface="Arial MT"/>
                <a:cs typeface="Arial MT"/>
              </a:rPr>
              <a:t>task for </a:t>
            </a:r>
            <a:r>
              <a:rPr dirty="0" sz="800" spc="10">
                <a:latin typeface="Arial MT"/>
                <a:cs typeface="Arial MT"/>
              </a:rPr>
              <a:t>more </a:t>
            </a:r>
            <a:r>
              <a:rPr dirty="0" sz="800" spc="5">
                <a:latin typeface="Arial MT"/>
                <a:cs typeface="Arial MT"/>
              </a:rPr>
              <a:t>than </a:t>
            </a:r>
            <a:r>
              <a:rPr dirty="0" sz="800" spc="10">
                <a:latin typeface="Arial MT"/>
                <a:cs typeface="Arial MT"/>
              </a:rPr>
              <a:t>a </a:t>
            </a:r>
            <a:r>
              <a:rPr dirty="0" sz="800" spc="5">
                <a:latin typeface="Arial MT"/>
                <a:cs typeface="Arial MT"/>
              </a:rPr>
              <a:t>few minutes. </a:t>
            </a:r>
            <a:r>
              <a:rPr dirty="0" sz="800" spc="10">
                <a:latin typeface="Arial MT"/>
                <a:cs typeface="Arial MT"/>
              </a:rPr>
              <a:t>He has </a:t>
            </a:r>
            <a:r>
              <a:rPr dirty="0" sz="800" spc="5">
                <a:latin typeface="Arial MT"/>
                <a:cs typeface="Arial MT"/>
              </a:rPr>
              <a:t>also 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begun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hitting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others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when</a:t>
            </a:r>
            <a:r>
              <a:rPr dirty="0" sz="800" spc="5">
                <a:latin typeface="Arial MT"/>
                <a:cs typeface="Arial MT"/>
              </a:rPr>
              <a:t> they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are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in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his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path or</a:t>
            </a:r>
            <a:r>
              <a:rPr dirty="0" sz="800">
                <a:latin typeface="Arial MT"/>
                <a:cs typeface="Arial MT"/>
              </a:rPr>
              <a:t> if </a:t>
            </a:r>
            <a:r>
              <a:rPr dirty="0" sz="800" spc="10">
                <a:latin typeface="Arial MT"/>
                <a:cs typeface="Arial MT"/>
              </a:rPr>
              <a:t>he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is asked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to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do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something </a:t>
            </a:r>
            <a:r>
              <a:rPr dirty="0" sz="800" spc="10">
                <a:latin typeface="Arial MT"/>
                <a:cs typeface="Arial MT"/>
              </a:rPr>
              <a:t>he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does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not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want to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do.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800" spc="10" b="1">
                <a:latin typeface="Arial"/>
                <a:cs typeface="Arial"/>
              </a:rPr>
              <a:t>Behavioral:</a:t>
            </a:r>
            <a:r>
              <a:rPr dirty="0" sz="800" spc="5" b="1">
                <a:latin typeface="Arial"/>
                <a:cs typeface="Arial"/>
              </a:rPr>
              <a:t> </a:t>
            </a:r>
            <a:r>
              <a:rPr dirty="0" sz="800" spc="15">
                <a:latin typeface="Arial MT"/>
                <a:cs typeface="Arial MT"/>
              </a:rPr>
              <a:t>Can</a:t>
            </a:r>
            <a:r>
              <a:rPr dirty="0" sz="800" spc="10">
                <a:latin typeface="Arial MT"/>
                <a:cs typeface="Arial MT"/>
              </a:rPr>
              <a:t> follow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the gen ed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code of conduct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with help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processing visuals/ social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stories.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800" spc="25" b="1">
                <a:latin typeface="Arial"/>
                <a:cs typeface="Arial"/>
              </a:rPr>
              <a:t>Attendance: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spc="5">
                <a:latin typeface="Arial MT"/>
                <a:cs typeface="Arial MT"/>
              </a:rPr>
              <a:t>Bruce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has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good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attendance.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Arial MT"/>
              <a:cs typeface="Arial MT"/>
            </a:endParaRPr>
          </a:p>
          <a:p>
            <a:pPr marL="12700" marR="142240">
              <a:lnSpc>
                <a:spcPct val="109400"/>
              </a:lnSpc>
            </a:pPr>
            <a:r>
              <a:rPr dirty="0" sz="800" spc="25" b="1">
                <a:latin typeface="Arial"/>
                <a:cs typeface="Arial"/>
              </a:rPr>
              <a:t>Least</a:t>
            </a:r>
            <a:r>
              <a:rPr dirty="0" sz="800" spc="45" b="1">
                <a:latin typeface="Arial"/>
                <a:cs typeface="Arial"/>
              </a:rPr>
              <a:t> </a:t>
            </a:r>
            <a:r>
              <a:rPr dirty="0" sz="800" spc="25" b="1">
                <a:latin typeface="Arial"/>
                <a:cs typeface="Arial"/>
              </a:rPr>
              <a:t>Restrictive</a:t>
            </a:r>
            <a:r>
              <a:rPr dirty="0" sz="800" spc="50" b="1">
                <a:latin typeface="Arial"/>
                <a:cs typeface="Arial"/>
              </a:rPr>
              <a:t> </a:t>
            </a:r>
            <a:r>
              <a:rPr dirty="0" sz="800" spc="25" b="1">
                <a:latin typeface="Arial"/>
                <a:cs typeface="Arial"/>
              </a:rPr>
              <a:t>Environment:</a:t>
            </a:r>
            <a:r>
              <a:rPr dirty="0" sz="800" spc="20" b="1">
                <a:latin typeface="Arial"/>
                <a:cs typeface="Arial"/>
              </a:rPr>
              <a:t> </a:t>
            </a:r>
            <a:r>
              <a:rPr dirty="0" sz="800" spc="5">
                <a:latin typeface="Arial MT"/>
                <a:cs typeface="Arial MT"/>
              </a:rPr>
              <a:t>discussion</a:t>
            </a:r>
            <a:r>
              <a:rPr dirty="0" sz="800" spc="10">
                <a:latin typeface="Arial MT"/>
                <a:cs typeface="Arial MT"/>
              </a:rPr>
              <a:t> on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LRE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was </a:t>
            </a:r>
            <a:r>
              <a:rPr dirty="0" sz="800" spc="5">
                <a:latin typeface="Arial MT"/>
                <a:cs typeface="Arial MT"/>
              </a:rPr>
              <a:t>held </a:t>
            </a:r>
            <a:r>
              <a:rPr dirty="0" sz="800" spc="10">
                <a:latin typeface="Arial MT"/>
                <a:cs typeface="Arial MT"/>
              </a:rPr>
              <a:t>and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ARDC </a:t>
            </a:r>
            <a:r>
              <a:rPr dirty="0" sz="800" spc="5">
                <a:latin typeface="Arial MT"/>
                <a:cs typeface="Arial MT"/>
              </a:rPr>
              <a:t>agreed this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placement offers Bruce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the best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opportunity for success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in the least 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restrictive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environment.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800" spc="20" b="1">
                <a:latin typeface="Arial"/>
                <a:cs typeface="Arial"/>
              </a:rPr>
              <a:t>Schedule:</a:t>
            </a:r>
            <a:r>
              <a:rPr dirty="0" sz="800" spc="35" b="1">
                <a:latin typeface="Arial"/>
                <a:cs typeface="Arial"/>
              </a:rPr>
              <a:t> </a:t>
            </a:r>
            <a:r>
              <a:rPr dirty="0" sz="800" spc="5">
                <a:latin typeface="Arial MT"/>
                <a:cs typeface="Arial MT"/>
              </a:rPr>
              <a:t>Bruce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5">
                <a:latin typeface="Arial MT"/>
                <a:cs typeface="Arial MT"/>
              </a:rPr>
              <a:t> attend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5">
                <a:latin typeface="Arial MT"/>
                <a:cs typeface="Arial MT"/>
              </a:rPr>
              <a:t> FLC class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with Mrs. </a:t>
            </a:r>
            <a:r>
              <a:rPr dirty="0" sz="800">
                <a:latin typeface="Arial MT"/>
                <a:cs typeface="Arial MT"/>
              </a:rPr>
              <a:t>Brooks</a:t>
            </a:r>
            <a:r>
              <a:rPr dirty="0" sz="800" spc="5">
                <a:latin typeface="Arial MT"/>
                <a:cs typeface="Arial MT"/>
              </a:rPr>
              <a:t> at Central </a:t>
            </a:r>
            <a:r>
              <a:rPr dirty="0" sz="800">
                <a:latin typeface="Arial MT"/>
                <a:cs typeface="Arial MT"/>
              </a:rPr>
              <a:t>Elementary.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He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attend </a:t>
            </a:r>
            <a:r>
              <a:rPr dirty="0" sz="800">
                <a:latin typeface="Arial MT"/>
                <a:cs typeface="Arial MT"/>
              </a:rPr>
              <a:t>Gymnastics</a:t>
            </a:r>
            <a:r>
              <a:rPr dirty="0" sz="800" spc="5">
                <a:latin typeface="Arial MT"/>
                <a:cs typeface="Arial MT"/>
              </a:rPr>
              <a:t> (3x month).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Arial MT"/>
              <a:cs typeface="Arial MT"/>
            </a:endParaRPr>
          </a:p>
          <a:p>
            <a:pPr marL="12700" marR="123825">
              <a:lnSpc>
                <a:spcPct val="109400"/>
              </a:lnSpc>
            </a:pPr>
            <a:r>
              <a:rPr dirty="0" sz="800" spc="5">
                <a:latin typeface="Arial MT"/>
                <a:cs typeface="Arial MT"/>
              </a:rPr>
              <a:t>Level </a:t>
            </a:r>
            <a:r>
              <a:rPr dirty="0" sz="800" spc="10">
                <a:latin typeface="Arial MT"/>
                <a:cs typeface="Arial MT"/>
              </a:rPr>
              <a:t>3 </a:t>
            </a:r>
            <a:r>
              <a:rPr dirty="0" sz="800" spc="5">
                <a:latin typeface="Arial MT"/>
                <a:cs typeface="Arial MT"/>
              </a:rPr>
              <a:t>inclusion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support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is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being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provided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through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consultation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between</a:t>
            </a:r>
            <a:r>
              <a:rPr dirty="0" sz="800" spc="10">
                <a:latin typeface="Arial MT"/>
                <a:cs typeface="Arial MT"/>
              </a:rPr>
              <a:t> a </a:t>
            </a:r>
            <a:r>
              <a:rPr dirty="0" sz="800" spc="5">
                <a:latin typeface="Arial MT"/>
                <a:cs typeface="Arial MT"/>
              </a:rPr>
              <a:t>special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education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teacher </a:t>
            </a:r>
            <a:r>
              <a:rPr dirty="0" sz="800" spc="10">
                <a:latin typeface="Arial MT"/>
                <a:cs typeface="Arial MT"/>
              </a:rPr>
              <a:t>and a </a:t>
            </a:r>
            <a:r>
              <a:rPr dirty="0" sz="800" spc="5">
                <a:latin typeface="Arial MT"/>
                <a:cs typeface="Arial MT"/>
              </a:rPr>
              <a:t>general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teacher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for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guidance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in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the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appropriated 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implementation </a:t>
            </a:r>
            <a:r>
              <a:rPr dirty="0" sz="800" spc="5">
                <a:latin typeface="Arial MT"/>
                <a:cs typeface="Arial MT"/>
              </a:rPr>
              <a:t>of </a:t>
            </a:r>
            <a:r>
              <a:rPr dirty="0" sz="800">
                <a:latin typeface="Arial MT"/>
                <a:cs typeface="Arial MT"/>
              </a:rPr>
              <a:t>the IEP. </a:t>
            </a:r>
            <a:r>
              <a:rPr dirty="0" sz="800" spc="5">
                <a:latin typeface="Arial MT"/>
                <a:cs typeface="Arial MT"/>
              </a:rPr>
              <a:t>In </a:t>
            </a:r>
            <a:r>
              <a:rPr dirty="0" sz="800">
                <a:latin typeface="Arial MT"/>
                <a:cs typeface="Arial MT"/>
              </a:rPr>
              <a:t>addition, the special education teacher will provide direct support </a:t>
            </a:r>
            <a:r>
              <a:rPr dirty="0" sz="800" spc="5">
                <a:latin typeface="Arial MT"/>
                <a:cs typeface="Arial MT"/>
              </a:rPr>
              <a:t>to </a:t>
            </a:r>
            <a:r>
              <a:rPr dirty="0" sz="800">
                <a:latin typeface="Arial MT"/>
                <a:cs typeface="Arial MT"/>
              </a:rPr>
              <a:t>the student for instructional assistance in meeting </a:t>
            </a:r>
            <a:r>
              <a:rPr dirty="0" sz="800" spc="-5">
                <a:latin typeface="Arial MT"/>
                <a:cs typeface="Arial MT"/>
              </a:rPr>
              <a:t>their </a:t>
            </a:r>
            <a:r>
              <a:rPr dirty="0" sz="800">
                <a:latin typeface="Arial MT"/>
                <a:cs typeface="Arial MT"/>
              </a:rPr>
              <a:t> academic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and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functional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needs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through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modified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curriculum.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800" spc="25" b="1">
                <a:latin typeface="Arial"/>
                <a:cs typeface="Arial"/>
              </a:rPr>
              <a:t>Transportation:</a:t>
            </a:r>
            <a:r>
              <a:rPr dirty="0" sz="800" b="1">
                <a:latin typeface="Arial"/>
                <a:cs typeface="Arial"/>
              </a:rPr>
              <a:t> </a:t>
            </a:r>
            <a:r>
              <a:rPr dirty="0" sz="800">
                <a:latin typeface="Arial MT"/>
                <a:cs typeface="Arial MT"/>
              </a:rPr>
              <a:t>will </a:t>
            </a:r>
            <a:r>
              <a:rPr dirty="0" sz="800" spc="10">
                <a:latin typeface="Arial MT"/>
                <a:cs typeface="Arial MT"/>
              </a:rPr>
              <a:t>be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provided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10">
                <a:latin typeface="Arial MT"/>
                <a:cs typeface="Arial MT"/>
              </a:rPr>
              <a:t>by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Central</a:t>
            </a:r>
            <a:r>
              <a:rPr dirty="0" sz="800">
                <a:latin typeface="Arial MT"/>
                <a:cs typeface="Arial MT"/>
              </a:rPr>
              <a:t> </a:t>
            </a:r>
            <a:r>
              <a:rPr dirty="0" sz="800" spc="5">
                <a:latin typeface="Arial MT"/>
                <a:cs typeface="Arial MT"/>
              </a:rPr>
              <a:t>Schools.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3200" y="727075"/>
          <a:ext cx="7348855" cy="1733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0700"/>
                <a:gridCol w="1838325"/>
                <a:gridCol w="1781175"/>
                <a:gridCol w="352425"/>
                <a:gridCol w="495300"/>
                <a:gridCol w="1076325"/>
              </a:tblGrid>
              <a:tr h="29527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40" b="1">
                          <a:latin typeface="Arial"/>
                          <a:cs typeface="Arial"/>
                        </a:rPr>
                        <a:t>Name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25" b="1">
                          <a:latin typeface="Arial"/>
                          <a:cs typeface="Arial"/>
                        </a:rPr>
                        <a:t>Position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30" b="1">
                          <a:latin typeface="Arial"/>
                          <a:cs typeface="Arial"/>
                        </a:rPr>
                        <a:t>Signature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50" b="1">
                          <a:latin typeface="Arial"/>
                          <a:cs typeface="Arial"/>
                        </a:rPr>
                        <a:t>Agree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800" spc="25" b="1">
                          <a:latin typeface="Arial"/>
                          <a:cs typeface="Arial"/>
                        </a:rPr>
                        <a:t>Disagree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2570" marR="222250" indent="28575">
                        <a:lnSpc>
                          <a:spcPct val="109400"/>
                        </a:lnSpc>
                        <a:spcBef>
                          <a:spcPts val="45"/>
                        </a:spcBef>
                      </a:pPr>
                      <a:r>
                        <a:rPr dirty="0" sz="800" spc="35" b="1">
                          <a:latin typeface="Arial"/>
                          <a:cs typeface="Arial"/>
                        </a:rPr>
                        <a:t>Method </a:t>
                      </a:r>
                      <a:r>
                        <a:rPr dirty="0" sz="800" spc="40" b="1">
                          <a:latin typeface="Arial"/>
                          <a:cs typeface="Arial"/>
                        </a:rPr>
                        <a:t>of </a:t>
                      </a:r>
                      <a:r>
                        <a:rPr dirty="0" sz="800" spc="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5" b="1">
                          <a:latin typeface="Arial"/>
                          <a:cs typeface="Arial"/>
                        </a:rPr>
                        <a:t>Attendance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Janice</a:t>
                      </a:r>
                      <a:r>
                        <a:rPr dirty="0" sz="95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Banner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Parent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10">
                          <a:latin typeface="Arial MT"/>
                          <a:cs typeface="Arial MT"/>
                        </a:rPr>
                        <a:t>Did</a:t>
                      </a:r>
                      <a:r>
                        <a:rPr dirty="0" sz="9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9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Attend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Case</a:t>
                      </a:r>
                      <a:r>
                        <a:rPr dirty="0" sz="95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Manager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Special</a:t>
                      </a:r>
                      <a:r>
                        <a:rPr dirty="0" sz="9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Education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Teacher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Person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15">
                          <a:latin typeface="Arial MT"/>
                          <a:cs typeface="Arial MT"/>
                        </a:rPr>
                        <a:t>Sally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20">
                          <a:latin typeface="Arial MT"/>
                          <a:cs typeface="Arial MT"/>
                        </a:rPr>
                        <a:t>Smith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Occupational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Therapist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Person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20">
                          <a:latin typeface="Arial MT"/>
                          <a:cs typeface="Arial MT"/>
                        </a:rPr>
                        <a:t>Beth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25">
                          <a:latin typeface="Arial MT"/>
                          <a:cs typeface="Arial MT"/>
                        </a:rPr>
                        <a:t>Keys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Speech</a:t>
                      </a:r>
                      <a:r>
                        <a:rPr dirty="0" sz="95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Therapist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Person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Kerri</a:t>
                      </a:r>
                      <a:r>
                        <a:rPr dirty="0" sz="95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Carleton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Educational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0">
                          <a:latin typeface="Arial MT"/>
                          <a:cs typeface="Arial MT"/>
                        </a:rPr>
                        <a:t>Diagnostician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Person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5">
                          <a:latin typeface="Arial MT"/>
                          <a:cs typeface="Arial MT"/>
                        </a:rPr>
                        <a:t>Debra</a:t>
                      </a:r>
                      <a:r>
                        <a:rPr dirty="0" sz="9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latin typeface="Arial MT"/>
                          <a:cs typeface="Arial MT"/>
                        </a:rPr>
                        <a:t>Whitmore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30">
                          <a:latin typeface="Arial MT"/>
                          <a:cs typeface="Arial MT"/>
                        </a:rPr>
                        <a:t>LSSP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950" spc="15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15">
                          <a:latin typeface="Arial MT"/>
                          <a:cs typeface="Arial MT"/>
                        </a:rPr>
                        <a:t>Phone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765425" y="5899150"/>
            <a:ext cx="4781550" cy="9525"/>
          </a:xfrm>
          <a:custGeom>
            <a:avLst/>
            <a:gdLst/>
            <a:ahLst/>
            <a:cxnLst/>
            <a:rect l="l" t="t" r="r" b="b"/>
            <a:pathLst>
              <a:path w="4781550" h="9525">
                <a:moveTo>
                  <a:pt x="4781550" y="0"/>
                </a:moveTo>
                <a:lnTo>
                  <a:pt x="0" y="0"/>
                </a:lnTo>
                <a:lnTo>
                  <a:pt x="0" y="9525"/>
                </a:lnTo>
                <a:lnTo>
                  <a:pt x="4781550" y="9525"/>
                </a:lnTo>
                <a:lnTo>
                  <a:pt x="4781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65425" y="7327900"/>
            <a:ext cx="685800" cy="9525"/>
          </a:xfrm>
          <a:custGeom>
            <a:avLst/>
            <a:gdLst/>
            <a:ahLst/>
            <a:cxnLst/>
            <a:rect l="l" t="t" r="r" b="b"/>
            <a:pathLst>
              <a:path w="685800" h="9525">
                <a:moveTo>
                  <a:pt x="685800" y="0"/>
                </a:moveTo>
                <a:lnTo>
                  <a:pt x="0" y="0"/>
                </a:lnTo>
                <a:lnTo>
                  <a:pt x="0" y="9525"/>
                </a:lnTo>
                <a:lnTo>
                  <a:pt x="685800" y="9525"/>
                </a:lnTo>
                <a:lnTo>
                  <a:pt x="685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13175" y="7327900"/>
            <a:ext cx="685800" cy="9525"/>
          </a:xfrm>
          <a:custGeom>
            <a:avLst/>
            <a:gdLst/>
            <a:ahLst/>
            <a:cxnLst/>
            <a:rect l="l" t="t" r="r" b="b"/>
            <a:pathLst>
              <a:path w="685800" h="9525">
                <a:moveTo>
                  <a:pt x="685800" y="0"/>
                </a:moveTo>
                <a:lnTo>
                  <a:pt x="0" y="0"/>
                </a:lnTo>
                <a:lnTo>
                  <a:pt x="0" y="9525"/>
                </a:lnTo>
                <a:lnTo>
                  <a:pt x="685800" y="9525"/>
                </a:lnTo>
                <a:lnTo>
                  <a:pt x="685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08550" y="7327900"/>
            <a:ext cx="2638425" cy="9525"/>
          </a:xfrm>
          <a:custGeom>
            <a:avLst/>
            <a:gdLst/>
            <a:ahLst/>
            <a:cxnLst/>
            <a:rect l="l" t="t" r="r" b="b"/>
            <a:pathLst>
              <a:path w="2638425" h="9525">
                <a:moveTo>
                  <a:pt x="2638425" y="0"/>
                </a:moveTo>
                <a:lnTo>
                  <a:pt x="0" y="0"/>
                </a:lnTo>
                <a:lnTo>
                  <a:pt x="0" y="9525"/>
                </a:lnTo>
                <a:lnTo>
                  <a:pt x="2638425" y="9525"/>
                </a:lnTo>
                <a:lnTo>
                  <a:pt x="26384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7575" y="8013700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5219700" y="0"/>
                </a:moveTo>
                <a:lnTo>
                  <a:pt x="0" y="0"/>
                </a:lnTo>
                <a:lnTo>
                  <a:pt x="0" y="9525"/>
                </a:lnTo>
                <a:lnTo>
                  <a:pt x="5219700" y="9525"/>
                </a:lnTo>
                <a:lnTo>
                  <a:pt x="5219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451600" y="8013700"/>
            <a:ext cx="1095375" cy="9525"/>
          </a:xfrm>
          <a:custGeom>
            <a:avLst/>
            <a:gdLst/>
            <a:ahLst/>
            <a:cxnLst/>
            <a:rect l="l" t="t" r="r" b="b"/>
            <a:pathLst>
              <a:path w="1095375" h="9525">
                <a:moveTo>
                  <a:pt x="1095375" y="0"/>
                </a:moveTo>
                <a:lnTo>
                  <a:pt x="0" y="0"/>
                </a:lnTo>
                <a:lnTo>
                  <a:pt x="0" y="9525"/>
                </a:lnTo>
                <a:lnTo>
                  <a:pt x="1095375" y="9525"/>
                </a:lnTo>
                <a:lnTo>
                  <a:pt x="10953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7962" y="284162"/>
            <a:ext cx="7334250" cy="219075"/>
          </a:xfrm>
          <a:prstGeom prst="rect">
            <a:avLst/>
          </a:prstGeom>
          <a:solidFill>
            <a:srgbClr val="CCCCCC"/>
          </a:solidFill>
          <a:ln w="952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"/>
              </a:spcBef>
            </a:pPr>
            <a:r>
              <a:rPr dirty="0" sz="1200" b="1">
                <a:latin typeface="Arial"/>
                <a:cs typeface="Arial"/>
              </a:rPr>
              <a:t>MEETING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PARTICIPANTS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025" y="552450"/>
            <a:ext cx="67373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5" b="1">
                <a:latin typeface="Arial"/>
                <a:cs typeface="Arial"/>
              </a:rPr>
              <a:t>Signatures</a:t>
            </a:r>
            <a:endParaRPr sz="9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7225" y="1308100"/>
            <a:ext cx="123825" cy="12382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7225" y="1546225"/>
            <a:ext cx="123825" cy="12382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7225" y="1784350"/>
            <a:ext cx="123825" cy="12382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7225" y="2022475"/>
            <a:ext cx="123825" cy="1238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7225" y="2260600"/>
            <a:ext cx="123825" cy="12382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725" y="3575050"/>
            <a:ext cx="123825" cy="12382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725" y="3746500"/>
            <a:ext cx="123825" cy="12382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725" y="3917950"/>
            <a:ext cx="123825" cy="12382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725" y="4089400"/>
            <a:ext cx="123825" cy="12382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725" y="4479925"/>
            <a:ext cx="123825" cy="12382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4651375"/>
            <a:ext cx="123825" cy="12382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4975225"/>
            <a:ext cx="123825" cy="12382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00025" y="2482214"/>
            <a:ext cx="7309484" cy="280670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79375" indent="-66675">
              <a:lnSpc>
                <a:spcPct val="100000"/>
              </a:lnSpc>
              <a:spcBef>
                <a:spcPts val="305"/>
              </a:spcBef>
              <a:buChar char="•"/>
              <a:tabLst>
                <a:tab pos="79375" algn="l"/>
              </a:tabLst>
            </a:pPr>
            <a:r>
              <a:rPr dirty="0" sz="950" spc="15">
                <a:latin typeface="Arial MT"/>
                <a:cs typeface="Arial MT"/>
              </a:rPr>
              <a:t>A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copy of</a:t>
            </a:r>
            <a:r>
              <a:rPr dirty="0" sz="950" spc="5">
                <a:latin typeface="Arial MT"/>
                <a:cs typeface="Arial MT"/>
              </a:rPr>
              <a:t> this</a:t>
            </a:r>
            <a:r>
              <a:rPr dirty="0" sz="950" spc="10">
                <a:latin typeface="Arial MT"/>
                <a:cs typeface="Arial MT"/>
              </a:rPr>
              <a:t> document </a:t>
            </a:r>
            <a:r>
              <a:rPr dirty="0" sz="950" spc="5">
                <a:latin typeface="Arial MT"/>
                <a:cs typeface="Arial MT"/>
              </a:rPr>
              <a:t>will </a:t>
            </a:r>
            <a:r>
              <a:rPr dirty="0" sz="950" spc="10">
                <a:latin typeface="Arial MT"/>
                <a:cs typeface="Arial MT"/>
              </a:rPr>
              <a:t>be given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 the parent/guardian/adult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student.</a:t>
            </a:r>
            <a:endParaRPr sz="950">
              <a:latin typeface="Arial MT"/>
              <a:cs typeface="Arial MT"/>
            </a:endParaRPr>
          </a:p>
          <a:p>
            <a:pPr marL="79375" indent="-66675">
              <a:lnSpc>
                <a:spcPct val="100000"/>
              </a:lnSpc>
              <a:spcBef>
                <a:spcPts val="210"/>
              </a:spcBef>
              <a:buChar char="•"/>
              <a:tabLst>
                <a:tab pos="79375" algn="l"/>
              </a:tabLst>
            </a:pPr>
            <a:r>
              <a:rPr dirty="0" sz="950" spc="10">
                <a:latin typeface="Arial MT"/>
                <a:cs typeface="Arial MT"/>
              </a:rPr>
              <a:t>NOTICE: Seven years after your child </a:t>
            </a:r>
            <a:r>
              <a:rPr dirty="0" sz="950" spc="5">
                <a:latin typeface="Arial MT"/>
                <a:cs typeface="Arial MT"/>
              </a:rPr>
              <a:t>is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dismissed </a:t>
            </a:r>
            <a:r>
              <a:rPr dirty="0" sz="950" spc="5">
                <a:latin typeface="Arial MT"/>
                <a:cs typeface="Arial MT"/>
              </a:rPr>
              <a:t>from</a:t>
            </a:r>
            <a:r>
              <a:rPr dirty="0" sz="950" spc="10">
                <a:latin typeface="Arial MT"/>
                <a:cs typeface="Arial MT"/>
              </a:rPr>
              <a:t> special education services, his/her records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will</a:t>
            </a:r>
            <a:r>
              <a:rPr dirty="0" sz="950" spc="10">
                <a:latin typeface="Arial MT"/>
                <a:cs typeface="Arial MT"/>
              </a:rPr>
              <a:t> be destroyed.</a:t>
            </a:r>
            <a:endParaRPr sz="950">
              <a:latin typeface="Arial MT"/>
              <a:cs typeface="Arial MT"/>
            </a:endParaRPr>
          </a:p>
          <a:p>
            <a:pPr marL="79375" marR="233045" indent="-66675">
              <a:lnSpc>
                <a:spcPct val="105300"/>
              </a:lnSpc>
              <a:spcBef>
                <a:spcPts val="150"/>
              </a:spcBef>
              <a:buChar char="•"/>
              <a:tabLst>
                <a:tab pos="79375" algn="l"/>
              </a:tabLst>
            </a:pPr>
            <a:r>
              <a:rPr dirty="0" sz="950" spc="10">
                <a:latin typeface="Arial MT"/>
                <a:cs typeface="Arial MT"/>
              </a:rPr>
              <a:t>The committee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assures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that each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teacher </a:t>
            </a:r>
            <a:r>
              <a:rPr dirty="0" sz="950" spc="15">
                <a:latin typeface="Arial MT"/>
                <a:cs typeface="Arial MT"/>
              </a:rPr>
              <a:t>who </a:t>
            </a:r>
            <a:r>
              <a:rPr dirty="0" sz="950" spc="10">
                <a:latin typeface="Arial MT"/>
                <a:cs typeface="Arial MT"/>
              </a:rPr>
              <a:t>provides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instruction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 </a:t>
            </a:r>
            <a:r>
              <a:rPr dirty="0" sz="950" spc="5">
                <a:latin typeface="Arial MT"/>
                <a:cs typeface="Arial MT"/>
              </a:rPr>
              <a:t>this</a:t>
            </a:r>
            <a:r>
              <a:rPr dirty="0" sz="950" spc="10">
                <a:latin typeface="Arial MT"/>
                <a:cs typeface="Arial MT"/>
              </a:rPr>
              <a:t> student,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will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receive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relevant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sections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 student’s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current IEP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 that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each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teacher</a:t>
            </a:r>
            <a:r>
              <a:rPr dirty="0" sz="950" spc="5">
                <a:latin typeface="Arial MT"/>
                <a:cs typeface="Arial MT"/>
              </a:rPr>
              <a:t> will</a:t>
            </a:r>
            <a:r>
              <a:rPr dirty="0" sz="950" spc="10">
                <a:latin typeface="Arial MT"/>
                <a:cs typeface="Arial MT"/>
              </a:rPr>
              <a:t> be informed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 specific responsibilities related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implementing the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IEP.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950" spc="20" b="1">
                <a:latin typeface="Arial"/>
                <a:cs typeface="Arial"/>
              </a:rPr>
              <a:t>Procedural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 spc="20" b="1">
                <a:latin typeface="Arial"/>
                <a:cs typeface="Arial"/>
              </a:rPr>
              <a:t>Safeguards</a:t>
            </a:r>
            <a:endParaRPr sz="950">
              <a:latin typeface="Arial"/>
              <a:cs typeface="Arial"/>
            </a:endParaRPr>
          </a:p>
          <a:p>
            <a:pPr marL="193675" marR="3999229" indent="-180975">
              <a:lnSpc>
                <a:spcPct val="118400"/>
              </a:lnSpc>
            </a:pPr>
            <a:r>
              <a:rPr dirty="0" sz="950" spc="5">
                <a:latin typeface="Arial MT"/>
                <a:cs typeface="Arial MT"/>
              </a:rPr>
              <a:t>Offered to the Parent/Guardian/Adult student </a:t>
            </a:r>
            <a:r>
              <a:rPr dirty="0" sz="950" spc="10">
                <a:latin typeface="Arial MT"/>
                <a:cs typeface="Arial MT"/>
              </a:rPr>
              <a:t>and </a:t>
            </a:r>
            <a:r>
              <a:rPr dirty="0" sz="950" spc="5">
                <a:latin typeface="Arial MT"/>
                <a:cs typeface="Arial MT"/>
              </a:rPr>
              <a:t>they were: </a:t>
            </a:r>
            <a:r>
              <a:rPr dirty="0" sz="950" spc="-25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Accepted</a:t>
            </a:r>
            <a:endParaRPr sz="950">
              <a:latin typeface="Arial MT"/>
              <a:cs typeface="Arial MT"/>
            </a:endParaRPr>
          </a:p>
          <a:p>
            <a:pPr marL="193675">
              <a:lnSpc>
                <a:spcPct val="100000"/>
              </a:lnSpc>
              <a:spcBef>
                <a:spcPts val="209"/>
              </a:spcBef>
            </a:pPr>
            <a:r>
              <a:rPr dirty="0" sz="950">
                <a:latin typeface="Arial MT"/>
                <a:cs typeface="Arial MT"/>
              </a:rPr>
              <a:t>Declined</a:t>
            </a:r>
            <a:endParaRPr sz="950">
              <a:latin typeface="Arial MT"/>
              <a:cs typeface="Arial MT"/>
            </a:endParaRPr>
          </a:p>
          <a:p>
            <a:pPr marL="193675">
              <a:lnSpc>
                <a:spcPct val="100000"/>
              </a:lnSpc>
              <a:spcBef>
                <a:spcPts val="209"/>
              </a:spcBef>
            </a:pPr>
            <a:r>
              <a:rPr dirty="0" sz="950" spc="10">
                <a:latin typeface="Arial MT"/>
                <a:cs typeface="Arial MT"/>
              </a:rPr>
              <a:t>Sent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home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IEP</a:t>
            </a:r>
            <a:endParaRPr sz="950">
              <a:latin typeface="Arial MT"/>
              <a:cs typeface="Arial MT"/>
            </a:endParaRPr>
          </a:p>
          <a:p>
            <a:pPr marL="193675">
              <a:lnSpc>
                <a:spcPct val="100000"/>
              </a:lnSpc>
              <a:spcBef>
                <a:spcPts val="209"/>
              </a:spcBef>
              <a:tabLst>
                <a:tab pos="1697989" algn="l"/>
              </a:tabLst>
            </a:pPr>
            <a:r>
              <a:rPr dirty="0" sz="950" spc="10">
                <a:latin typeface="Arial MT"/>
                <a:cs typeface="Arial MT"/>
              </a:rPr>
              <a:t>Other: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u="sng" sz="9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950" spc="-15" b="1">
                <a:latin typeface="Arial"/>
                <a:cs typeface="Arial"/>
              </a:rPr>
              <a:t>Consensus</a:t>
            </a:r>
            <a:endParaRPr sz="950">
              <a:latin typeface="Arial"/>
              <a:cs typeface="Arial"/>
            </a:endParaRPr>
          </a:p>
          <a:p>
            <a:pPr marL="193675">
              <a:lnSpc>
                <a:spcPct val="100000"/>
              </a:lnSpc>
              <a:spcBef>
                <a:spcPts val="209"/>
              </a:spcBef>
            </a:pP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committee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mutually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agreed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 decisions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reflected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10">
                <a:latin typeface="Arial MT"/>
                <a:cs typeface="Arial MT"/>
              </a:rPr>
              <a:t> these proceedings</a:t>
            </a:r>
            <a:endParaRPr sz="950">
              <a:latin typeface="Arial MT"/>
              <a:cs typeface="Arial MT"/>
            </a:endParaRPr>
          </a:p>
          <a:p>
            <a:pPr marL="374650" marR="175260">
              <a:lnSpc>
                <a:spcPct val="105300"/>
              </a:lnSpc>
              <a:spcBef>
                <a:spcPts val="150"/>
              </a:spcBef>
            </a:pPr>
            <a:r>
              <a:rPr dirty="0" sz="950" spc="5">
                <a:latin typeface="Arial MT"/>
                <a:cs typeface="Arial MT"/>
              </a:rPr>
              <a:t>I (parent/guardian/adult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student)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waive the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required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five school</a:t>
            </a:r>
            <a:r>
              <a:rPr dirty="0" sz="950" spc="10">
                <a:latin typeface="Arial MT"/>
                <a:cs typeface="Arial MT"/>
              </a:rPr>
              <a:t> day </a:t>
            </a:r>
            <a:r>
              <a:rPr dirty="0" sz="950" spc="5">
                <a:latin typeface="Arial MT"/>
                <a:cs typeface="Arial MT"/>
              </a:rPr>
              <a:t>waiting period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prior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to the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district’s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implementation of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 </a:t>
            </a:r>
            <a:r>
              <a:rPr dirty="0" sz="950" spc="10">
                <a:latin typeface="Arial MT"/>
                <a:cs typeface="Arial MT"/>
              </a:rPr>
              <a:t> program</a:t>
            </a:r>
            <a:r>
              <a:rPr dirty="0" sz="9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described</a:t>
            </a:r>
            <a:r>
              <a:rPr dirty="0" sz="950" spc="5">
                <a:latin typeface="Arial MT"/>
                <a:cs typeface="Arial MT"/>
              </a:rPr>
              <a:t> in this </a:t>
            </a:r>
            <a:r>
              <a:rPr dirty="0" sz="950" spc="10">
                <a:latin typeface="Arial MT"/>
                <a:cs typeface="Arial MT"/>
              </a:rPr>
              <a:t>ARD/IEP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documentation</a:t>
            </a:r>
            <a:endParaRPr sz="950">
              <a:latin typeface="Arial MT"/>
              <a:cs typeface="Arial MT"/>
            </a:endParaRPr>
          </a:p>
          <a:p>
            <a:pPr marL="374650" marR="5080">
              <a:lnSpc>
                <a:spcPct val="105300"/>
              </a:lnSpc>
              <a:spcBef>
                <a:spcPts val="145"/>
              </a:spcBef>
            </a:pPr>
            <a:r>
              <a:rPr dirty="0" sz="950" spc="5">
                <a:latin typeface="Arial MT"/>
                <a:cs typeface="Arial MT"/>
              </a:rPr>
              <a:t>I (parent/guardian/adult student) waive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 required five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school </a:t>
            </a:r>
            <a:r>
              <a:rPr dirty="0" sz="950" spc="10">
                <a:latin typeface="Arial MT"/>
                <a:cs typeface="Arial MT"/>
              </a:rPr>
              <a:t>day</a:t>
            </a:r>
            <a:r>
              <a:rPr dirty="0" sz="950" spc="5">
                <a:latin typeface="Arial MT"/>
                <a:cs typeface="Arial MT"/>
              </a:rPr>
              <a:t> waiting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period prior to the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district’s</a:t>
            </a:r>
            <a:r>
              <a:rPr dirty="0" sz="950" spc="5">
                <a:latin typeface="Arial MT"/>
                <a:cs typeface="Arial MT"/>
              </a:rPr>
              <a:t> implementation of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 </a:t>
            </a:r>
            <a:r>
              <a:rPr dirty="0" sz="950" spc="10">
                <a:latin typeface="Arial MT"/>
                <a:cs typeface="Arial MT"/>
              </a:rPr>
              <a:t> program described </a:t>
            </a:r>
            <a:r>
              <a:rPr dirty="0" sz="950" spc="5">
                <a:latin typeface="Arial MT"/>
                <a:cs typeface="Arial MT"/>
              </a:rPr>
              <a:t>in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this</a:t>
            </a:r>
            <a:r>
              <a:rPr dirty="0" sz="950" spc="10">
                <a:latin typeface="Arial MT"/>
                <a:cs typeface="Arial MT"/>
              </a:rPr>
              <a:t> ARD/IEP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documentation</a:t>
            </a:r>
            <a:r>
              <a:rPr dirty="0" sz="950" spc="35">
                <a:latin typeface="Arial MT"/>
                <a:cs typeface="Arial MT"/>
              </a:rPr>
              <a:t> </a:t>
            </a:r>
            <a:r>
              <a:rPr dirty="0" sz="950" spc="-15" b="1">
                <a:latin typeface="Arial"/>
                <a:cs typeface="Arial"/>
              </a:rPr>
              <a:t>AND</a:t>
            </a:r>
            <a:r>
              <a:rPr dirty="0" sz="950" spc="15" b="1">
                <a:latin typeface="Arial"/>
                <a:cs typeface="Arial"/>
              </a:rPr>
              <a:t> </a:t>
            </a:r>
            <a:r>
              <a:rPr dirty="0" sz="950" spc="5">
                <a:latin typeface="Arial MT"/>
                <a:cs typeface="Arial MT"/>
              </a:rPr>
              <a:t>I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understand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that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this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document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will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serve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as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5">
                <a:latin typeface="Arial MT"/>
                <a:cs typeface="Arial MT"/>
              </a:rPr>
              <a:t>my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Prior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Written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Notice.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81225" y="5724525"/>
            <a:ext cx="58674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">
                <a:latin typeface="Arial MT"/>
                <a:cs typeface="Arial MT"/>
              </a:rPr>
              <a:t>Signature: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725" y="6384925"/>
            <a:ext cx="123825" cy="12382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7165975"/>
            <a:ext cx="123825" cy="12382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200025" y="6048375"/>
            <a:ext cx="7158355" cy="14884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 b="1" i="1">
                <a:latin typeface="Arial"/>
                <a:cs typeface="Arial"/>
              </a:rPr>
              <a:t>OR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Arial"/>
              <a:cs typeface="Arial"/>
            </a:endParaRPr>
          </a:p>
          <a:p>
            <a:pPr marL="193675" marR="5080">
              <a:lnSpc>
                <a:spcPct val="105300"/>
              </a:lnSpc>
            </a:pP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5">
                <a:latin typeface="Arial MT"/>
                <a:cs typeface="Arial MT"/>
              </a:rPr>
              <a:t> committee</a:t>
            </a:r>
            <a:r>
              <a:rPr dirty="0" sz="950" spc="10">
                <a:latin typeface="Arial MT"/>
                <a:cs typeface="Arial MT"/>
              </a:rPr>
              <a:t> has </a:t>
            </a:r>
            <a:r>
              <a:rPr dirty="0" sz="950" spc="5">
                <a:latin typeface="Arial MT"/>
                <a:cs typeface="Arial MT"/>
              </a:rPr>
              <a:t>not reached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mutual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agreement.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5">
                <a:latin typeface="Arial MT"/>
                <a:cs typeface="Arial MT"/>
              </a:rPr>
              <a:t> school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has</a:t>
            </a:r>
            <a:r>
              <a:rPr dirty="0" sz="950" spc="5">
                <a:latin typeface="Arial MT"/>
                <a:cs typeface="Arial MT"/>
              </a:rPr>
              <a:t> offered </a:t>
            </a:r>
            <a:r>
              <a:rPr dirty="0" sz="950" spc="10">
                <a:latin typeface="Arial MT"/>
                <a:cs typeface="Arial MT"/>
              </a:rPr>
              <a:t>and </a:t>
            </a:r>
            <a:r>
              <a:rPr dirty="0" sz="950" spc="5">
                <a:latin typeface="Arial MT"/>
                <a:cs typeface="Arial MT"/>
              </a:rPr>
              <a:t>the parent </a:t>
            </a:r>
            <a:r>
              <a:rPr dirty="0" sz="950" spc="10">
                <a:latin typeface="Arial MT"/>
                <a:cs typeface="Arial MT"/>
              </a:rPr>
              <a:t>has </a:t>
            </a:r>
            <a:r>
              <a:rPr dirty="0" sz="950" spc="5">
                <a:latin typeface="Arial MT"/>
                <a:cs typeface="Arial MT"/>
              </a:rPr>
              <a:t>agreed to </a:t>
            </a:r>
            <a:r>
              <a:rPr dirty="0" sz="950" spc="10">
                <a:latin typeface="Arial MT"/>
                <a:cs typeface="Arial MT"/>
              </a:rPr>
              <a:t>a </a:t>
            </a:r>
            <a:r>
              <a:rPr dirty="0" sz="950" spc="5">
                <a:latin typeface="Arial MT"/>
                <a:cs typeface="Arial MT"/>
              </a:rPr>
              <a:t>recess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of not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more 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than</a:t>
            </a:r>
            <a:r>
              <a:rPr dirty="0" sz="950" spc="10">
                <a:latin typeface="Arial MT"/>
                <a:cs typeface="Arial MT"/>
              </a:rPr>
              <a:t> 10 school days. During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 spc="10">
                <a:latin typeface="Arial MT"/>
                <a:cs typeface="Arial MT"/>
              </a:rPr>
              <a:t> recess </a:t>
            </a:r>
            <a:r>
              <a:rPr dirty="0" sz="950" spc="5">
                <a:latin typeface="Arial MT"/>
                <a:cs typeface="Arial MT"/>
              </a:rPr>
              <a:t>the</a:t>
            </a:r>
            <a:r>
              <a:rPr dirty="0" sz="950" spc="10">
                <a:latin typeface="Arial MT"/>
                <a:cs typeface="Arial MT"/>
              </a:rPr>
              <a:t> members shall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consider alternatives, gather additional data and/or obtain additional </a:t>
            </a:r>
            <a:r>
              <a:rPr dirty="0" sz="950" spc="-24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resource persons to enable them to reach mutual agreement. This recess does not apply </a:t>
            </a:r>
            <a:r>
              <a:rPr dirty="0" sz="950" spc="5">
                <a:latin typeface="Arial MT"/>
                <a:cs typeface="Arial MT"/>
              </a:rPr>
              <a:t>if</a:t>
            </a:r>
            <a:r>
              <a:rPr dirty="0" sz="950" spc="10">
                <a:latin typeface="Arial MT"/>
                <a:cs typeface="Arial MT"/>
              </a:rPr>
              <a:t> the student presents a danger of 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physical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harm </a:t>
            </a:r>
            <a:r>
              <a:rPr dirty="0" sz="950" spc="5">
                <a:latin typeface="Arial MT"/>
                <a:cs typeface="Arial MT"/>
              </a:rPr>
              <a:t>to</a:t>
            </a:r>
            <a:r>
              <a:rPr dirty="0" sz="950" spc="10">
                <a:latin typeface="Arial MT"/>
                <a:cs typeface="Arial MT"/>
              </a:rPr>
              <a:t> himself/herself or others, or </a:t>
            </a:r>
            <a:r>
              <a:rPr dirty="0" sz="950" spc="5">
                <a:latin typeface="Arial MT"/>
                <a:cs typeface="Arial MT"/>
              </a:rPr>
              <a:t>if the</a:t>
            </a:r>
            <a:r>
              <a:rPr dirty="0" sz="950" spc="10">
                <a:latin typeface="Arial MT"/>
                <a:cs typeface="Arial MT"/>
              </a:rPr>
              <a:t> student has committed an expellable offense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or </a:t>
            </a:r>
            <a:r>
              <a:rPr dirty="0" sz="950" spc="5">
                <a:latin typeface="Arial MT"/>
                <a:cs typeface="Arial MT"/>
              </a:rPr>
              <a:t>is</a:t>
            </a:r>
            <a:r>
              <a:rPr dirty="0" sz="950" spc="10">
                <a:latin typeface="Arial MT"/>
                <a:cs typeface="Arial MT"/>
              </a:rPr>
              <a:t> being considered </a:t>
            </a:r>
            <a:r>
              <a:rPr dirty="0" sz="950" spc="5">
                <a:latin typeface="Arial MT"/>
                <a:cs typeface="Arial MT"/>
              </a:rPr>
              <a:t>for</a:t>
            </a:r>
            <a:r>
              <a:rPr dirty="0" sz="950" spc="10">
                <a:latin typeface="Arial MT"/>
                <a:cs typeface="Arial MT"/>
              </a:rPr>
              <a:t> an 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40">
                <a:latin typeface="Arial MT"/>
                <a:cs typeface="Arial MT"/>
              </a:rPr>
              <a:t>AEP.</a:t>
            </a:r>
            <a:endParaRPr sz="950">
              <a:latin typeface="Arial MT"/>
              <a:cs typeface="Arial MT"/>
            </a:endParaRPr>
          </a:p>
          <a:p>
            <a:pPr marL="374650">
              <a:lnSpc>
                <a:spcPct val="100000"/>
              </a:lnSpc>
              <a:spcBef>
                <a:spcPts val="210"/>
              </a:spcBef>
              <a:tabLst>
                <a:tab pos="3298190" algn="l"/>
                <a:tab pos="4345940" algn="l"/>
              </a:tabLst>
            </a:pPr>
            <a:r>
              <a:rPr dirty="0" sz="950" spc="5">
                <a:latin typeface="Arial MT"/>
                <a:cs typeface="Arial MT"/>
              </a:rPr>
              <a:t>The committee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will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reconvene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on:</a:t>
            </a:r>
            <a:r>
              <a:rPr dirty="0" sz="950" spc="21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Date:	</a:t>
            </a:r>
            <a:r>
              <a:rPr dirty="0" sz="950">
                <a:latin typeface="Arial MT"/>
                <a:cs typeface="Arial MT"/>
              </a:rPr>
              <a:t>Time:	</a:t>
            </a:r>
            <a:r>
              <a:rPr dirty="0" sz="950" spc="20">
                <a:latin typeface="Arial MT"/>
                <a:cs typeface="Arial MT"/>
              </a:rPr>
              <a:t>Place:</a:t>
            </a:r>
            <a:endParaRPr sz="950">
              <a:latin typeface="Arial MT"/>
              <a:cs typeface="Arial MT"/>
            </a:endParaRPr>
          </a:p>
          <a:p>
            <a:pPr marL="155575">
              <a:lnSpc>
                <a:spcPct val="100000"/>
              </a:lnSpc>
              <a:spcBef>
                <a:spcPts val="509"/>
              </a:spcBef>
            </a:pPr>
            <a:r>
              <a:rPr dirty="0" sz="950" spc="10">
                <a:latin typeface="Arial MT"/>
                <a:cs typeface="Arial MT"/>
              </a:rPr>
              <a:t>Explain why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mutual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agreement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has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not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been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reached.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Members</a:t>
            </a:r>
            <a:r>
              <a:rPr dirty="0" sz="950" spc="15">
                <a:latin typeface="Arial MT"/>
                <a:cs typeface="Arial MT"/>
              </a:rPr>
              <a:t> who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disagree</a:t>
            </a:r>
            <a:r>
              <a:rPr dirty="0" sz="950" spc="15">
                <a:latin typeface="Arial MT"/>
                <a:cs typeface="Arial MT"/>
              </a:rPr>
              <a:t> may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write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their</a:t>
            </a:r>
            <a:r>
              <a:rPr dirty="0" sz="950" spc="15">
                <a:latin typeface="Arial MT"/>
                <a:cs typeface="Arial MT"/>
              </a:rPr>
              <a:t> own </a:t>
            </a:r>
            <a:r>
              <a:rPr dirty="0" sz="950" spc="10">
                <a:latin typeface="Arial MT"/>
                <a:cs typeface="Arial MT"/>
              </a:rPr>
              <a:t>statements,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5">
                <a:latin typeface="Arial MT"/>
                <a:cs typeface="Arial MT"/>
              </a:rPr>
              <a:t>if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they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choose.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Bruce</a:t>
            </a:r>
            <a:r>
              <a:rPr dirty="0" spc="-20"/>
              <a:t> </a:t>
            </a:r>
            <a:r>
              <a:rPr dirty="0" spc="-5"/>
              <a:t>Banner</a:t>
            </a:r>
            <a:r>
              <a:rPr dirty="0" spc="195"/>
              <a:t> </a:t>
            </a:r>
            <a:r>
              <a:rPr dirty="0"/>
              <a:t>-</a:t>
            </a:r>
            <a:r>
              <a:rPr dirty="0" spc="195"/>
              <a:t> </a:t>
            </a:r>
            <a:r>
              <a:rPr dirty="0"/>
              <a:t>(5/15/22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"/>
              <a:t>5/14/23)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ARD</a:t>
            </a:r>
            <a:r>
              <a:rPr dirty="0" spc="409"/>
              <a:t> </a:t>
            </a:r>
            <a:r>
              <a:rPr dirty="0"/>
              <a:t>-</a:t>
            </a:r>
            <a:r>
              <a:rPr dirty="0" spc="415"/>
              <a:t> </a:t>
            </a:r>
            <a:r>
              <a:rPr dirty="0" spc="-5"/>
              <a:t>Page</a:t>
            </a:r>
            <a:r>
              <a:rPr dirty="0" spc="-1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 spc="-5"/>
              <a:t>of</a:t>
            </a:r>
            <a:r>
              <a:rPr dirty="0" spc="-15"/>
              <a:t> </a:t>
            </a:r>
            <a:r>
              <a:rPr dirty="0" spc="-5"/>
              <a:t>15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33375" y="7839075"/>
            <a:ext cx="58674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">
                <a:latin typeface="Arial MT"/>
                <a:cs typeface="Arial MT"/>
              </a:rPr>
              <a:t>Signature: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34100" y="7839075"/>
            <a:ext cx="32131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5">
                <a:latin typeface="Arial MT"/>
                <a:cs typeface="Arial MT"/>
              </a:rPr>
              <a:t>Date: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2024-07-25T11:06:48Z</dcterms:created>
  <dcterms:modified xsi:type="dcterms:W3CDTF">2024-07-25T11:06:48Z</dcterms:modified>
</cp:coreProperties>
</file>